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67" r:id="rId4"/>
    <p:sldId id="268" r:id="rId5"/>
    <p:sldId id="269" r:id="rId6"/>
    <p:sldId id="270" r:id="rId7"/>
    <p:sldId id="272" r:id="rId8"/>
    <p:sldId id="271" r:id="rId9"/>
    <p:sldId id="276" r:id="rId10"/>
    <p:sldId id="277" r:id="rId11"/>
    <p:sldId id="273" r:id="rId12"/>
    <p:sldId id="274" r:id="rId13"/>
    <p:sldId id="27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E5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B5D07-00AA-494B-840D-E9809FF4C4FD}" v="82" dt="2025-08-28T14:17:01.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253CB-09B8-40CA-A423-1F16116BB963}"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016FF-DD62-4339-958E-2E587ABE146C}" type="slidenum">
              <a:rPr lang="en-US" smtClean="0"/>
              <a:t>‹#›</a:t>
            </a:fld>
            <a:endParaRPr lang="en-US"/>
          </a:p>
        </p:txBody>
      </p:sp>
    </p:spTree>
    <p:extLst>
      <p:ext uri="{BB962C8B-B14F-4D97-AF65-F5344CB8AC3E}">
        <p14:creationId xmlns:p14="http://schemas.microsoft.com/office/powerpoint/2010/main" val="121321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8016FF-DD62-4339-958E-2E587ABE146C}" type="slidenum">
              <a:rPr lang="en-US" smtClean="0"/>
              <a:t>1</a:t>
            </a:fld>
            <a:endParaRPr lang="en-US"/>
          </a:p>
        </p:txBody>
      </p:sp>
    </p:spTree>
    <p:extLst>
      <p:ext uri="{BB962C8B-B14F-4D97-AF65-F5344CB8AC3E}">
        <p14:creationId xmlns:p14="http://schemas.microsoft.com/office/powerpoint/2010/main" val="3376098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8016FF-DD62-4339-958E-2E587ABE146C}" type="slidenum">
              <a:rPr lang="en-US" smtClean="0"/>
              <a:t>14</a:t>
            </a:fld>
            <a:endParaRPr lang="en-US"/>
          </a:p>
        </p:txBody>
      </p:sp>
    </p:spTree>
    <p:extLst>
      <p:ext uri="{BB962C8B-B14F-4D97-AF65-F5344CB8AC3E}">
        <p14:creationId xmlns:p14="http://schemas.microsoft.com/office/powerpoint/2010/main" val="34643147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1EF2-8C8D-78BB-E138-627C0164E4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BE137A-826E-51EE-7F83-659F0C73F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DED2E3-0160-A14D-196B-48C7A410F695}"/>
              </a:ext>
            </a:extLst>
          </p:cNvPr>
          <p:cNvSpPr>
            <a:spLocks noGrp="1"/>
          </p:cNvSpPr>
          <p:nvPr>
            <p:ph type="dt" sz="half" idx="10"/>
          </p:nvPr>
        </p:nvSpPr>
        <p:spPr/>
        <p:txBody>
          <a:bodyPr/>
          <a:lstStyle/>
          <a:p>
            <a:fld id="{CDF9E985-7C8C-4DFC-8826-5E467D705D5E}" type="datetime9">
              <a:rPr lang="en-US" smtClean="0"/>
              <a:t>4/15/2026 9:21:24 AM</a:t>
            </a:fld>
            <a:endParaRPr lang="en-US"/>
          </a:p>
        </p:txBody>
      </p:sp>
      <p:sp>
        <p:nvSpPr>
          <p:cNvPr id="5" name="Footer Placeholder 4">
            <a:extLst>
              <a:ext uri="{FF2B5EF4-FFF2-40B4-BE49-F238E27FC236}">
                <a16:creationId xmlns:a16="http://schemas.microsoft.com/office/drawing/2014/main" id="{E075C468-6B81-59B7-E4AF-F243017A2F41}"/>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96BDFF70-4AC8-BC09-028E-52C4AC1C458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2453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0BF9-CE2F-27EE-45B3-83C15B55E5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0D8DE-D23A-2743-129B-0C9DABE7C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56D65-7E39-D890-1D6C-F13ED3CD7BDD}"/>
              </a:ext>
            </a:extLst>
          </p:cNvPr>
          <p:cNvSpPr>
            <a:spLocks noGrp="1"/>
          </p:cNvSpPr>
          <p:nvPr>
            <p:ph type="dt" sz="half" idx="10"/>
          </p:nvPr>
        </p:nvSpPr>
        <p:spPr/>
        <p:txBody>
          <a:bodyPr/>
          <a:lstStyle/>
          <a:p>
            <a:fld id="{CEDE9393-6D41-4BE7-A313-E9FD24C1E0A7}" type="datetime9">
              <a:rPr lang="en-US" smtClean="0"/>
              <a:t>4/15/2026 9:21:28 AM</a:t>
            </a:fld>
            <a:endParaRPr lang="en-US"/>
          </a:p>
        </p:txBody>
      </p:sp>
      <p:sp>
        <p:nvSpPr>
          <p:cNvPr id="5" name="Footer Placeholder 4">
            <a:extLst>
              <a:ext uri="{FF2B5EF4-FFF2-40B4-BE49-F238E27FC236}">
                <a16:creationId xmlns:a16="http://schemas.microsoft.com/office/drawing/2014/main" id="{D2D5724B-31D1-182E-FF79-40657751948F}"/>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46A9AEBC-ABF6-507B-44E1-699EC18AAAA6}"/>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372588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AD95-146C-05FE-4251-8831DF663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8B9F32-F259-7D8C-1BA9-F41BE9A1E8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2B79FE-1E00-659F-7ED8-34F19CCCF9BC}"/>
              </a:ext>
            </a:extLst>
          </p:cNvPr>
          <p:cNvSpPr>
            <a:spLocks noGrp="1"/>
          </p:cNvSpPr>
          <p:nvPr>
            <p:ph type="dt" sz="half" idx="10"/>
          </p:nvPr>
        </p:nvSpPr>
        <p:spPr/>
        <p:txBody>
          <a:bodyPr/>
          <a:lstStyle/>
          <a:p>
            <a:fld id="{7742EB7F-5132-4977-93E8-CC29341765FB}" type="datetime9">
              <a:rPr lang="en-US" smtClean="0"/>
              <a:t>4/15/2026 9:21:28 AM</a:t>
            </a:fld>
            <a:endParaRPr lang="en-US"/>
          </a:p>
        </p:txBody>
      </p:sp>
      <p:sp>
        <p:nvSpPr>
          <p:cNvPr id="5" name="Footer Placeholder 4">
            <a:extLst>
              <a:ext uri="{FF2B5EF4-FFF2-40B4-BE49-F238E27FC236}">
                <a16:creationId xmlns:a16="http://schemas.microsoft.com/office/drawing/2014/main" id="{9437C2B5-199C-8087-3D5F-338CFCCD924B}"/>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B9099207-F8A8-04CC-78FF-60A26E4CE36F}"/>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217979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E8C8-8D3D-ACEA-B867-A22C1589CC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5BCC7-AC46-A8E5-71EB-96E399C79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BAF31-C5AD-FCCF-4F55-1BBFF154F9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EF56F-E683-099E-D9FC-CFD47D737C3B}"/>
              </a:ext>
            </a:extLst>
          </p:cNvPr>
          <p:cNvSpPr>
            <a:spLocks noGrp="1"/>
          </p:cNvSpPr>
          <p:nvPr>
            <p:ph type="dt" sz="half" idx="10"/>
          </p:nvPr>
        </p:nvSpPr>
        <p:spPr/>
        <p:txBody>
          <a:bodyPr/>
          <a:lstStyle/>
          <a:p>
            <a:fld id="{BC6ECD55-EE91-4CFC-8833-DC31D0D8791E}" type="datetime9">
              <a:rPr lang="en-US" smtClean="0"/>
              <a:t>4/15/2026 9:21:28 AM</a:t>
            </a:fld>
            <a:endParaRPr lang="en-US"/>
          </a:p>
        </p:txBody>
      </p:sp>
      <p:sp>
        <p:nvSpPr>
          <p:cNvPr id="6" name="Footer Placeholder 5">
            <a:extLst>
              <a:ext uri="{FF2B5EF4-FFF2-40B4-BE49-F238E27FC236}">
                <a16:creationId xmlns:a16="http://schemas.microsoft.com/office/drawing/2014/main" id="{F54599AB-4809-E851-9B67-ECAB8ADDB714}"/>
              </a:ext>
            </a:extLst>
          </p:cNvPr>
          <p:cNvSpPr>
            <a:spLocks noGrp="1"/>
          </p:cNvSpPr>
          <p:nvPr>
            <p:ph type="ftr" sz="quarter" idx="11"/>
          </p:nvPr>
        </p:nvSpPr>
        <p:spPr/>
        <p:txBody>
          <a:bodyPr/>
          <a:lstStyle/>
          <a:p>
            <a:r>
              <a:rPr lang="en-US"/>
              <a:t>When Labels Are Scarce, Can Graph Structure Outperform Text in Rumor Detection?</a:t>
            </a:r>
          </a:p>
        </p:txBody>
      </p:sp>
      <p:sp>
        <p:nvSpPr>
          <p:cNvPr id="7" name="Slide Number Placeholder 6">
            <a:extLst>
              <a:ext uri="{FF2B5EF4-FFF2-40B4-BE49-F238E27FC236}">
                <a16:creationId xmlns:a16="http://schemas.microsoft.com/office/drawing/2014/main" id="{774630DA-BE55-BF31-40AD-DDCC865E5A5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8947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A9CE-784E-4180-E8BE-C03B81F95F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22279-09AA-9CF0-4BBC-729E43057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4927B1-1A23-EAE2-F82E-47B4B883B0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EAF30-42FB-1D79-65DB-57142CD17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CA3DB-772D-7ED2-C578-3EC3076F8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2514D-35C7-8244-9E9E-BDF6DE5362E5}"/>
              </a:ext>
            </a:extLst>
          </p:cNvPr>
          <p:cNvSpPr>
            <a:spLocks noGrp="1"/>
          </p:cNvSpPr>
          <p:nvPr>
            <p:ph type="dt" sz="half" idx="10"/>
          </p:nvPr>
        </p:nvSpPr>
        <p:spPr/>
        <p:txBody>
          <a:bodyPr/>
          <a:lstStyle/>
          <a:p>
            <a:fld id="{F31D5AB9-369A-432C-BFAB-09DD9605DEC9}" type="datetime9">
              <a:rPr lang="en-US" smtClean="0"/>
              <a:t>4/15/2026 9:21:28 AM</a:t>
            </a:fld>
            <a:endParaRPr lang="en-US"/>
          </a:p>
        </p:txBody>
      </p:sp>
      <p:sp>
        <p:nvSpPr>
          <p:cNvPr id="8" name="Footer Placeholder 7">
            <a:extLst>
              <a:ext uri="{FF2B5EF4-FFF2-40B4-BE49-F238E27FC236}">
                <a16:creationId xmlns:a16="http://schemas.microsoft.com/office/drawing/2014/main" id="{42D5056D-8D07-E614-FAF9-F4A89F3F00FC}"/>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83ED0DBF-0A43-EA09-7ADC-FBCAFD0F22CA}"/>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10341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0AAA-199F-8167-4839-0088D47C2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5076C3-01E7-BC98-2569-ABC12DF55A44}"/>
              </a:ext>
            </a:extLst>
          </p:cNvPr>
          <p:cNvSpPr>
            <a:spLocks noGrp="1"/>
          </p:cNvSpPr>
          <p:nvPr>
            <p:ph type="dt" sz="half" idx="10"/>
          </p:nvPr>
        </p:nvSpPr>
        <p:spPr/>
        <p:txBody>
          <a:bodyPr/>
          <a:lstStyle/>
          <a:p>
            <a:fld id="{A3CFC2D5-8480-44CB-B596-3D1D1275CA24}" type="datetime9">
              <a:rPr lang="en-US" smtClean="0"/>
              <a:t>4/15/2026 9:21:28 AM</a:t>
            </a:fld>
            <a:endParaRPr lang="en-US"/>
          </a:p>
        </p:txBody>
      </p:sp>
      <p:sp>
        <p:nvSpPr>
          <p:cNvPr id="4" name="Footer Placeholder 3">
            <a:extLst>
              <a:ext uri="{FF2B5EF4-FFF2-40B4-BE49-F238E27FC236}">
                <a16:creationId xmlns:a16="http://schemas.microsoft.com/office/drawing/2014/main" id="{2AA5C32E-A1BA-308B-2FE7-653161809CE4}"/>
              </a:ext>
            </a:extLst>
          </p:cNvPr>
          <p:cNvSpPr>
            <a:spLocks noGrp="1"/>
          </p:cNvSpPr>
          <p:nvPr>
            <p:ph type="ftr" sz="quarter" idx="11"/>
          </p:nvPr>
        </p:nvSpPr>
        <p:spPr/>
        <p:txBody>
          <a:bodyPr/>
          <a:lstStyle/>
          <a:p>
            <a:r>
              <a:rPr lang="en-US"/>
              <a:t>When Labels Are Scarce, Can Graph Structure Outperform Text in Rumor Detection?</a:t>
            </a:r>
          </a:p>
        </p:txBody>
      </p:sp>
      <p:sp>
        <p:nvSpPr>
          <p:cNvPr id="5" name="Slide Number Placeholder 4">
            <a:extLst>
              <a:ext uri="{FF2B5EF4-FFF2-40B4-BE49-F238E27FC236}">
                <a16:creationId xmlns:a16="http://schemas.microsoft.com/office/drawing/2014/main" id="{0F90D3CF-653C-5938-6CB7-9C3BA947B58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7593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63EB-5CFA-1A60-D6EA-5566841AC087}"/>
              </a:ext>
            </a:extLst>
          </p:cNvPr>
          <p:cNvSpPr>
            <a:spLocks noGrp="1"/>
          </p:cNvSpPr>
          <p:nvPr>
            <p:ph type="dt" sz="half" idx="10"/>
          </p:nvPr>
        </p:nvSpPr>
        <p:spPr/>
        <p:txBody>
          <a:bodyPr/>
          <a:lstStyle/>
          <a:p>
            <a:fld id="{DB2CE1CC-E4F2-4E0C-B500-BA5A3CB9C2F1}" type="datetime9">
              <a:rPr lang="en-US" smtClean="0"/>
              <a:t>4/15/2026 9:21:28 AM</a:t>
            </a:fld>
            <a:endParaRPr lang="en-US"/>
          </a:p>
        </p:txBody>
      </p:sp>
      <p:sp>
        <p:nvSpPr>
          <p:cNvPr id="3" name="Footer Placeholder 2">
            <a:extLst>
              <a:ext uri="{FF2B5EF4-FFF2-40B4-BE49-F238E27FC236}">
                <a16:creationId xmlns:a16="http://schemas.microsoft.com/office/drawing/2014/main" id="{A53BA782-74A4-9C42-4E46-F4044C4D9EC5}"/>
              </a:ext>
            </a:extLst>
          </p:cNvPr>
          <p:cNvSpPr>
            <a:spLocks noGrp="1"/>
          </p:cNvSpPr>
          <p:nvPr>
            <p:ph type="ftr" sz="quarter" idx="11"/>
          </p:nvPr>
        </p:nvSpPr>
        <p:spPr/>
        <p:txBody>
          <a:bodyPr/>
          <a:lstStyle/>
          <a:p>
            <a:r>
              <a:rPr lang="en-US"/>
              <a:t>When Labels Are Scarce, Can Graph Structure Outperform Text in Rumor Detection?</a:t>
            </a:r>
          </a:p>
        </p:txBody>
      </p:sp>
      <p:sp>
        <p:nvSpPr>
          <p:cNvPr id="4" name="Slide Number Placeholder 3">
            <a:extLst>
              <a:ext uri="{FF2B5EF4-FFF2-40B4-BE49-F238E27FC236}">
                <a16:creationId xmlns:a16="http://schemas.microsoft.com/office/drawing/2014/main" id="{74CA02C9-315F-43FF-625B-413CDCBF0497}"/>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0950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A04A-6997-6DFB-904B-48CAD2EAE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2B9D-EC7D-AEC3-ED06-6CE8D8B0F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39FE14-FF67-27E4-8334-72C7E3E48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E88D0-198F-8842-87A0-2F3E984ADCB7}"/>
              </a:ext>
            </a:extLst>
          </p:cNvPr>
          <p:cNvSpPr>
            <a:spLocks noGrp="1"/>
          </p:cNvSpPr>
          <p:nvPr>
            <p:ph type="dt" sz="half" idx="10"/>
          </p:nvPr>
        </p:nvSpPr>
        <p:spPr/>
        <p:txBody>
          <a:bodyPr/>
          <a:lstStyle/>
          <a:p>
            <a:fld id="{6A5929C4-6650-431A-834C-AB74794948FD}" type="datetime9">
              <a:rPr lang="en-US" smtClean="0"/>
              <a:t>4/15/2026 9:21:28 AM</a:t>
            </a:fld>
            <a:endParaRPr lang="en-US"/>
          </a:p>
        </p:txBody>
      </p:sp>
      <p:sp>
        <p:nvSpPr>
          <p:cNvPr id="6" name="Footer Placeholder 5">
            <a:extLst>
              <a:ext uri="{FF2B5EF4-FFF2-40B4-BE49-F238E27FC236}">
                <a16:creationId xmlns:a16="http://schemas.microsoft.com/office/drawing/2014/main" id="{1DC36969-267D-2D25-5024-FA399125903F}"/>
              </a:ext>
            </a:extLst>
          </p:cNvPr>
          <p:cNvSpPr>
            <a:spLocks noGrp="1"/>
          </p:cNvSpPr>
          <p:nvPr>
            <p:ph type="ftr" sz="quarter" idx="11"/>
          </p:nvPr>
        </p:nvSpPr>
        <p:spPr/>
        <p:txBody>
          <a:bodyPr/>
          <a:lstStyle/>
          <a:p>
            <a:r>
              <a:rPr lang="en-US"/>
              <a:t>When Labels Are Scarce, Can Graph Structure Outperform Text in Rumor Detection?</a:t>
            </a:r>
          </a:p>
        </p:txBody>
      </p:sp>
      <p:sp>
        <p:nvSpPr>
          <p:cNvPr id="7" name="Slide Number Placeholder 6">
            <a:extLst>
              <a:ext uri="{FF2B5EF4-FFF2-40B4-BE49-F238E27FC236}">
                <a16:creationId xmlns:a16="http://schemas.microsoft.com/office/drawing/2014/main" id="{504EFF8C-2D2B-3405-1F3D-03510F5B4B3B}"/>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9662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ABFC-C342-0246-29C0-95E0094907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B2EA03-F82B-CD2C-BA2E-66CEA2396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5001FB-D076-993F-2DB0-0EF35DAFE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7C6E3D-66F3-15E8-D7E7-C2106333961C}"/>
              </a:ext>
            </a:extLst>
          </p:cNvPr>
          <p:cNvSpPr>
            <a:spLocks noGrp="1"/>
          </p:cNvSpPr>
          <p:nvPr>
            <p:ph type="dt" sz="half" idx="10"/>
          </p:nvPr>
        </p:nvSpPr>
        <p:spPr/>
        <p:txBody>
          <a:bodyPr/>
          <a:lstStyle/>
          <a:p>
            <a:fld id="{E5028C18-41BE-4709-94FC-925618607025}" type="datetime9">
              <a:rPr lang="en-US" smtClean="0"/>
              <a:t>4/15/2026 9:21:28 AM</a:t>
            </a:fld>
            <a:endParaRPr lang="en-US"/>
          </a:p>
        </p:txBody>
      </p:sp>
      <p:sp>
        <p:nvSpPr>
          <p:cNvPr id="6" name="Footer Placeholder 5">
            <a:extLst>
              <a:ext uri="{FF2B5EF4-FFF2-40B4-BE49-F238E27FC236}">
                <a16:creationId xmlns:a16="http://schemas.microsoft.com/office/drawing/2014/main" id="{343C4EAE-B09F-40FD-2EFA-EC602729EBA4}"/>
              </a:ext>
            </a:extLst>
          </p:cNvPr>
          <p:cNvSpPr>
            <a:spLocks noGrp="1"/>
          </p:cNvSpPr>
          <p:nvPr>
            <p:ph type="ftr" sz="quarter" idx="11"/>
          </p:nvPr>
        </p:nvSpPr>
        <p:spPr/>
        <p:txBody>
          <a:bodyPr/>
          <a:lstStyle/>
          <a:p>
            <a:r>
              <a:rPr lang="en-US"/>
              <a:t>When Labels Are Scarce, Can Graph Structure Outperform Text in Rumor Detection?</a:t>
            </a:r>
          </a:p>
        </p:txBody>
      </p:sp>
      <p:sp>
        <p:nvSpPr>
          <p:cNvPr id="7" name="Slide Number Placeholder 6">
            <a:extLst>
              <a:ext uri="{FF2B5EF4-FFF2-40B4-BE49-F238E27FC236}">
                <a16:creationId xmlns:a16="http://schemas.microsoft.com/office/drawing/2014/main" id="{6B24E427-69C5-8DF6-11B2-3519C929F20E}"/>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70706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5F6C-08DC-BC9D-CE1B-6DD8BEBCC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F4BB64-1FC3-8EF6-616F-F35866956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B80E2-1BD2-CADA-8263-CC366600213C}"/>
              </a:ext>
            </a:extLst>
          </p:cNvPr>
          <p:cNvSpPr>
            <a:spLocks noGrp="1"/>
          </p:cNvSpPr>
          <p:nvPr>
            <p:ph type="dt" sz="half" idx="10"/>
          </p:nvPr>
        </p:nvSpPr>
        <p:spPr/>
        <p:txBody>
          <a:bodyPr/>
          <a:lstStyle/>
          <a:p>
            <a:fld id="{256E988D-F69E-4381-B44B-1DC541A9E28F}" type="datetime9">
              <a:rPr lang="en-US" smtClean="0"/>
              <a:t>4/15/2026 9:21:28 AM</a:t>
            </a:fld>
            <a:endParaRPr lang="en-US"/>
          </a:p>
        </p:txBody>
      </p:sp>
      <p:sp>
        <p:nvSpPr>
          <p:cNvPr id="5" name="Footer Placeholder 4">
            <a:extLst>
              <a:ext uri="{FF2B5EF4-FFF2-40B4-BE49-F238E27FC236}">
                <a16:creationId xmlns:a16="http://schemas.microsoft.com/office/drawing/2014/main" id="{20087975-1ACD-C498-EC32-E287092B8BCE}"/>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F4409F23-807D-F7B1-59E5-C55EFEA84CD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193374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4B9D6-E5F4-B75C-6EC1-156525320F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0D9455-0092-A366-F786-A3D11288D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AD1A1-DE8E-CC0A-342E-D84C71CFB294}"/>
              </a:ext>
            </a:extLst>
          </p:cNvPr>
          <p:cNvSpPr>
            <a:spLocks noGrp="1"/>
          </p:cNvSpPr>
          <p:nvPr>
            <p:ph type="dt" sz="half" idx="10"/>
          </p:nvPr>
        </p:nvSpPr>
        <p:spPr/>
        <p:txBody>
          <a:bodyPr/>
          <a:lstStyle/>
          <a:p>
            <a:fld id="{2AFC4C68-BB93-4940-9586-372D90C1A576}" type="datetime9">
              <a:rPr lang="en-US" smtClean="0"/>
              <a:t>4/15/2026 9:21:28 AM</a:t>
            </a:fld>
            <a:endParaRPr lang="en-US"/>
          </a:p>
        </p:txBody>
      </p:sp>
      <p:sp>
        <p:nvSpPr>
          <p:cNvPr id="5" name="Footer Placeholder 4">
            <a:extLst>
              <a:ext uri="{FF2B5EF4-FFF2-40B4-BE49-F238E27FC236}">
                <a16:creationId xmlns:a16="http://schemas.microsoft.com/office/drawing/2014/main" id="{EAF51EEB-1A97-0FA2-1CB9-7878BFDF1CEE}"/>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5B3B792E-4B68-C5DE-A2ED-F0555EE1F74D}"/>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540036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16B8-54CB-8C0F-3FC6-23BA30944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B8969F-4EBB-4D0A-8086-6ECC31318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F1603-12F9-FE6F-0DDD-E9F00CA20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0A851-FCAD-46B2-947C-3F40737D3264}" type="datetime9">
              <a:rPr lang="en-US" smtClean="0"/>
              <a:t>4/15/2026 9:21:24 AM</a:t>
            </a:fld>
            <a:endParaRPr lang="en-US"/>
          </a:p>
        </p:txBody>
      </p:sp>
      <p:sp>
        <p:nvSpPr>
          <p:cNvPr id="5" name="Footer Placeholder 4">
            <a:extLst>
              <a:ext uri="{FF2B5EF4-FFF2-40B4-BE49-F238E27FC236}">
                <a16:creationId xmlns:a16="http://schemas.microsoft.com/office/drawing/2014/main" id="{5E6B006A-4311-7855-7A42-6BC26A436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3143DAD4-E3C6-D3E9-0894-F3ED84F03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DDE7-DF24-421B-8B5A-9F7A222497E2}" type="slidenum">
              <a:rPr lang="en-US" smtClean="0"/>
              <a:t>‹#›</a:t>
            </a:fld>
            <a:endParaRPr lang="en-US"/>
          </a:p>
        </p:txBody>
      </p:sp>
    </p:spTree>
    <p:extLst>
      <p:ext uri="{BB962C8B-B14F-4D97-AF65-F5344CB8AC3E}">
        <p14:creationId xmlns:p14="http://schemas.microsoft.com/office/powerpoint/2010/main" val="280526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45F56C-56B1-1AD9-8EEB-7A618ACA361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4A4B94-0AEC-CAF8-2CA8-FA5281832D7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862EBEFD-ED99-4DFE-B330-6285DCFBFE1F}"/>
              </a:ext>
            </a:extLst>
          </p:cNvPr>
          <p:cNvSpPr>
            <a:spLocks noGrp="1"/>
          </p:cNvSpPr>
          <p:nvPr>
            <p:ph type="dt" sz="half" idx="10"/>
          </p:nvPr>
        </p:nvSpPr>
        <p:spPr/>
        <p:txBody>
          <a:bodyPr/>
          <a:lstStyle/>
          <a:p>
            <a:fld id="{AE57EDCF-E863-4F4F-BBD2-89D33D7B7848}" type="datetime9">
              <a:rPr lang="en-US" smtClean="0"/>
              <a:t>4/15/2026 9:21:24 AM</a:t>
            </a:fld>
            <a:endParaRPr lang="en-US" dirty="0"/>
          </a:p>
        </p:txBody>
      </p:sp>
      <p:sp>
        <p:nvSpPr>
          <p:cNvPr id="11" name="Slide Number Placeholder 10">
            <a:extLst>
              <a:ext uri="{FF2B5EF4-FFF2-40B4-BE49-F238E27FC236}">
                <a16:creationId xmlns:a16="http://schemas.microsoft.com/office/drawing/2014/main" id="{EE29AA9A-557E-7029-A209-46018DEB944A}"/>
              </a:ext>
            </a:extLst>
          </p:cNvPr>
          <p:cNvSpPr>
            <a:spLocks noGrp="1"/>
          </p:cNvSpPr>
          <p:nvPr>
            <p:ph type="sldNum" sz="quarter" idx="12"/>
          </p:nvPr>
        </p:nvSpPr>
        <p:spPr/>
        <p:txBody>
          <a:bodyPr/>
          <a:lstStyle/>
          <a:p>
            <a:fld id="{5DA9DDE7-DF24-421B-8B5A-9F7A222497E2}" type="slidenum">
              <a:rPr lang="en-US" smtClean="0"/>
              <a:t>1</a:t>
            </a:fld>
            <a:endParaRPr lang="en-US"/>
          </a:p>
        </p:txBody>
      </p:sp>
      <p:sp>
        <p:nvSpPr>
          <p:cNvPr id="19" name="Rectangle 18">
            <a:extLst>
              <a:ext uri="{FF2B5EF4-FFF2-40B4-BE49-F238E27FC236}">
                <a16:creationId xmlns:a16="http://schemas.microsoft.com/office/drawing/2014/main" id="{55F72F51-A5C3-AC4D-F693-8BE7FCE00E9E}"/>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6093787-5880-0561-A9D4-CA0246C7D18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Anurag University Admission 2024 - 2025, Fees, Courses, Placements, Cutoff,  Ranking">
            <a:extLst>
              <a:ext uri="{FF2B5EF4-FFF2-40B4-BE49-F238E27FC236}">
                <a16:creationId xmlns:a16="http://schemas.microsoft.com/office/drawing/2014/main" id="{70760F7F-6B93-4174-4611-D0450EB1BF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3AFA7607-54C0-0CD3-2170-4856032B2272}"/>
              </a:ext>
            </a:extLst>
          </p:cNvPr>
          <p:cNvSpPr txBox="1"/>
          <p:nvPr/>
        </p:nvSpPr>
        <p:spPr>
          <a:xfrm>
            <a:off x="1003829" y="1484855"/>
            <a:ext cx="10684891" cy="1414441"/>
          </a:xfrm>
          <a:prstGeom prst="rect">
            <a:avLst/>
          </a:prstGeom>
          <a:noFill/>
        </p:spPr>
        <p:txBody>
          <a:bodyPr wrap="square" rtlCol="0">
            <a:noAutofit/>
          </a:bodyPr>
          <a:lstStyle/>
          <a:p>
            <a:pPr algn="ctr"/>
            <a:r>
              <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Major</a:t>
            </a:r>
            <a:r>
              <a:rPr lang="en-IN"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Project Review Presentation-2</a:t>
            </a:r>
          </a:p>
          <a:p>
            <a:pPr algn="ctr"/>
            <a:endParaRPr 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en-US" sz="2800" b="1" dirty="0">
                <a:latin typeface="Times New Roman" panose="02020603050405020304" pitchFamily="18" charset="0"/>
                <a:ea typeface="Cambria" panose="02040503050406030204" pitchFamily="18" charset="0"/>
                <a:cs typeface="Times New Roman" panose="02020603050405020304" pitchFamily="18" charset="0"/>
              </a:rPr>
              <a:t> </a:t>
            </a:r>
            <a:r>
              <a:rPr lang="en-US" sz="2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rPr>
              <a:t>Deep learning-Based Sleep Disorder Detection Using EEG Signal Analysis</a:t>
            </a:r>
            <a:endParaRPr lang="en-IN" sz="28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endParaRPr>
          </a:p>
          <a:p>
            <a:pPr algn="ctr"/>
            <a:endPar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rPr>
              <a:t>	</a:t>
            </a:r>
            <a:endPar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23" name="Date Placeholder 8">
            <a:extLst>
              <a:ext uri="{FF2B5EF4-FFF2-40B4-BE49-F238E27FC236}">
                <a16:creationId xmlns:a16="http://schemas.microsoft.com/office/drawing/2014/main" id="{66CC4010-095A-29DC-BCCA-A958418852DE}"/>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E45EE50-D34D-421D-BC96-0CED4273FFFB}" type="datetime9">
              <a:rPr lang="en-US" smtClean="0"/>
              <a:pPr/>
              <a:t>4/15/2026 9:21:24 AM</a:t>
            </a:fld>
            <a:endParaRPr lang="en-US" dirty="0"/>
          </a:p>
        </p:txBody>
      </p:sp>
      <p:sp>
        <p:nvSpPr>
          <p:cNvPr id="25" name="Slide Number Placeholder 10">
            <a:extLst>
              <a:ext uri="{FF2B5EF4-FFF2-40B4-BE49-F238E27FC236}">
                <a16:creationId xmlns:a16="http://schemas.microsoft.com/office/drawing/2014/main" id="{83D3300A-8D68-D6AC-B4DA-D726450CB31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A9DDE7-DF24-421B-8B5A-9F7A222497E2}" type="slidenum">
              <a:rPr lang="en-US" smtClean="0"/>
              <a:pPr/>
              <a:t>1</a:t>
            </a:fld>
            <a:endParaRPr lang="en-US" dirty="0"/>
          </a:p>
        </p:txBody>
      </p:sp>
      <p:pic>
        <p:nvPicPr>
          <p:cNvPr id="26" name="Picture 2">
            <a:extLst>
              <a:ext uri="{FF2B5EF4-FFF2-40B4-BE49-F238E27FC236}">
                <a16:creationId xmlns:a16="http://schemas.microsoft.com/office/drawing/2014/main" id="{6C9F0222-8FCB-E867-6902-8F16F853BD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2344" y="378389"/>
            <a:ext cx="5140043" cy="11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a:extLst>
              <a:ext uri="{FF2B5EF4-FFF2-40B4-BE49-F238E27FC236}">
                <a16:creationId xmlns:a16="http://schemas.microsoft.com/office/drawing/2014/main" id="{E9D467F7-79AC-F3C4-E921-3C4D394F5AC2}"/>
              </a:ext>
            </a:extLst>
          </p:cNvPr>
          <p:cNvSpPr txBox="1"/>
          <p:nvPr/>
        </p:nvSpPr>
        <p:spPr>
          <a:xfrm>
            <a:off x="838200" y="3234247"/>
            <a:ext cx="3862137" cy="3416320"/>
          </a:xfrm>
          <a:prstGeom prst="rect">
            <a:avLst/>
          </a:prstGeom>
          <a:noFill/>
        </p:spPr>
        <p:txBody>
          <a:bodyPr wrap="square" rtlCol="0">
            <a:spAutoFit/>
          </a:bodyPr>
          <a:lstStyle/>
          <a:p>
            <a:r>
              <a:rPr lang="en-IN" b="1" dirty="0">
                <a:latin typeface="Times New Roman" panose="02020603050405020304" pitchFamily="18" charset="0"/>
                <a:ea typeface="Cambria" panose="02040503050406030204" pitchFamily="18" charset="0"/>
                <a:cs typeface="Times New Roman" panose="02020603050405020304" pitchFamily="18" charset="0"/>
                <a:sym typeface="+mn-ea"/>
              </a:rPr>
              <a:t>TEAM NO               :  14</a:t>
            </a:r>
          </a:p>
          <a:p>
            <a:endParaRPr lang="en-IN" dirty="0">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STUDENT NAME  :  G. SAI TEJA </a:t>
            </a: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ROLL NO                :  22EG107C15</a:t>
            </a:r>
          </a:p>
          <a:p>
            <a:endParaRPr lang="en-IN" dirty="0">
              <a:latin typeface="Times New Roman" panose="02020603050405020304" pitchFamily="18" charset="0"/>
              <a:ea typeface="Cambria" panose="02040503050406030204" pitchFamily="18" charset="0"/>
              <a:cs typeface="Times New Roman" panose="02020603050405020304" pitchFamily="18" charset="0"/>
              <a:sym typeface="+mn-ea"/>
            </a:endParaRP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STUDENT NAME  :  ARJUN</a:t>
            </a: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ROLL NO                :  22EG107C26</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STUDENT NAME  :  P. RAJESWARI</a:t>
            </a:r>
          </a:p>
          <a:p>
            <a:r>
              <a:rPr lang="en-IN" dirty="0">
                <a:latin typeface="Times New Roman" panose="02020603050405020304" pitchFamily="18" charset="0"/>
                <a:ea typeface="Cambria" panose="02040503050406030204" pitchFamily="18" charset="0"/>
                <a:cs typeface="Times New Roman" panose="02020603050405020304" pitchFamily="18" charset="0"/>
                <a:sym typeface="+mn-ea"/>
              </a:rPr>
              <a:t>ROLL NO                :  23EG507C07</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28" name="TextBox 27">
            <a:extLst>
              <a:ext uri="{FF2B5EF4-FFF2-40B4-BE49-F238E27FC236}">
                <a16:creationId xmlns:a16="http://schemas.microsoft.com/office/drawing/2014/main" id="{FDD97ED3-7D60-FD4A-8B2C-FE58ACE46FAB}"/>
              </a:ext>
            </a:extLst>
          </p:cNvPr>
          <p:cNvSpPr txBox="1"/>
          <p:nvPr/>
        </p:nvSpPr>
        <p:spPr>
          <a:xfrm>
            <a:off x="6577262" y="3704877"/>
            <a:ext cx="4594765"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GUIDE NAME   :  G. SRIDHAR REDDY</a:t>
            </a:r>
          </a:p>
          <a:p>
            <a:r>
              <a:rPr lang="en-US" dirty="0">
                <a:latin typeface="Times New Roman" panose="02020603050405020304" pitchFamily="18" charset="0"/>
                <a:cs typeface="Times New Roman" panose="02020603050405020304" pitchFamily="18" charset="0"/>
              </a:rPr>
              <a:t>DESIGNATION  :  ASSISTANT  PROFESSOR</a:t>
            </a:r>
            <a:endParaRPr lang="en-IN" dirty="0">
              <a:latin typeface="Times New Roman" panose="02020603050405020304" pitchFamily="18" charset="0"/>
              <a:cs typeface="Times New Roman" panose="02020603050405020304" pitchFamily="18" charset="0"/>
            </a:endParaRPr>
          </a:p>
          <a:p>
            <a:endParaRPr lang="en-IN" dirty="0"/>
          </a:p>
        </p:txBody>
      </p:sp>
      <p:sp>
        <p:nvSpPr>
          <p:cNvPr id="29" name="Footer Placeholder 28">
            <a:extLst>
              <a:ext uri="{FF2B5EF4-FFF2-40B4-BE49-F238E27FC236}">
                <a16:creationId xmlns:a16="http://schemas.microsoft.com/office/drawing/2014/main" id="{D77061F2-D171-967B-7967-DEDD05749451}"/>
              </a:ext>
            </a:extLst>
          </p:cNvPr>
          <p:cNvSpPr>
            <a:spLocks noGrp="1"/>
          </p:cNvSpPr>
          <p:nvPr>
            <p:ph type="ftr" sz="quarter" idx="11"/>
          </p:nvPr>
        </p:nvSpPr>
        <p:spPr>
          <a:xfrm>
            <a:off x="4288874" y="6320896"/>
            <a:ext cx="4114800" cy="365125"/>
          </a:xfrm>
        </p:spPr>
        <p:txBody>
          <a:bodyPr/>
          <a:lstStyle/>
          <a:p>
            <a:r>
              <a:rPr lang="en-US" dirty="0"/>
              <a:t>When Labels Are Scarce, Can Graph Structure Outperform Text in Rumor Detection?</a:t>
            </a:r>
          </a:p>
        </p:txBody>
      </p:sp>
    </p:spTree>
    <p:extLst>
      <p:ext uri="{BB962C8B-B14F-4D97-AF65-F5344CB8AC3E}">
        <p14:creationId xmlns:p14="http://schemas.microsoft.com/office/powerpoint/2010/main" val="2933901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A57-4ABC-4F8C-F2E9-3985A1BDE8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5024DE-566A-E135-C99C-708A264C594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681996E-7476-463E-C7E7-EA5EF08F7D6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5B72E0C-ECB5-C8D2-E9EA-697A8A09AC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12B7D984-F481-8A82-3731-664409E71878}"/>
              </a:ext>
            </a:extLst>
          </p:cNvPr>
          <p:cNvGraphicFramePr>
            <a:graphicFrameLocks noGrp="1"/>
          </p:cNvGraphicFramePr>
          <p:nvPr>
            <p:extLst>
              <p:ext uri="{D42A27DB-BD31-4B8C-83A1-F6EECF244321}">
                <p14:modId xmlns:p14="http://schemas.microsoft.com/office/powerpoint/2010/main" val="422296979"/>
              </p:ext>
            </p:extLst>
          </p:nvPr>
        </p:nvGraphicFramePr>
        <p:xfrm>
          <a:off x="1429653" y="1211532"/>
          <a:ext cx="9332694" cy="5109648"/>
        </p:xfrm>
        <a:graphic>
          <a:graphicData uri="http://schemas.openxmlformats.org/drawingml/2006/table">
            <a:tbl>
              <a:tblPr firstRow="1" bandRow="1">
                <a:tableStyleId>{5C22544A-7EE6-4342-B048-85BDC9FD1C3A}</a:tableStyleId>
              </a:tblPr>
              <a:tblGrid>
                <a:gridCol w="930089">
                  <a:extLst>
                    <a:ext uri="{9D8B030D-6E8A-4147-A177-3AD203B41FA5}">
                      <a16:colId xmlns:a16="http://schemas.microsoft.com/office/drawing/2014/main" val="3368147984"/>
                    </a:ext>
                  </a:extLst>
                </a:gridCol>
                <a:gridCol w="5008467">
                  <a:extLst>
                    <a:ext uri="{9D8B030D-6E8A-4147-A177-3AD203B41FA5}">
                      <a16:colId xmlns:a16="http://schemas.microsoft.com/office/drawing/2014/main" val="3995356100"/>
                    </a:ext>
                  </a:extLst>
                </a:gridCol>
                <a:gridCol w="3394138">
                  <a:extLst>
                    <a:ext uri="{9D8B030D-6E8A-4147-A177-3AD203B41FA5}">
                      <a16:colId xmlns:a16="http://schemas.microsoft.com/office/drawing/2014/main" val="2741894368"/>
                    </a:ext>
                  </a:extLst>
                </a:gridCol>
              </a:tblGrid>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Title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Slide 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12467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Response to the Review-1 Comments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1789016"/>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Abstract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Objectives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614818"/>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Problem Statement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728304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Methodology </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1214994"/>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Dataset explanation &amp; Analysis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8-9</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8348283"/>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Implementation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Results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9</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Discussion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1493505"/>
                  </a:ext>
                </a:extLst>
              </a:tr>
              <a:tr h="425804">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Conclusion and Future Work</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965170"/>
                  </a:ext>
                </a:extLst>
              </a:tr>
              <a:tr h="425804">
                <a:tc>
                  <a:txBody>
                    <a:bodyPr/>
                    <a:lstStyle/>
                    <a:p>
                      <a:pPr algn="ctr"/>
                      <a:r>
                        <a:rPr lang="en-US" dirty="0"/>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Reference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
        <p:nvSpPr>
          <p:cNvPr id="6" name="TextBox 5">
            <a:extLst>
              <a:ext uri="{FF2B5EF4-FFF2-40B4-BE49-F238E27FC236}">
                <a16:creationId xmlns:a16="http://schemas.microsoft.com/office/drawing/2014/main" id="{1F5BA4BE-F01B-5261-3DCF-E84C3FF0A644}"/>
              </a:ext>
            </a:extLst>
          </p:cNvPr>
          <p:cNvSpPr txBox="1"/>
          <p:nvPr/>
        </p:nvSpPr>
        <p:spPr>
          <a:xfrm>
            <a:off x="5314376" y="653143"/>
            <a:ext cx="1563248"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Contents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4422279D-1424-F0EB-1EBD-9D95FFDC0665}"/>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BA93B351-9225-84CF-4A0E-E3552FFF6D36}"/>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07A30832-1168-4CB5-DD92-76F14C901759}"/>
              </a:ext>
            </a:extLst>
          </p:cNvPr>
          <p:cNvSpPr>
            <a:spLocks noGrp="1"/>
          </p:cNvSpPr>
          <p:nvPr>
            <p:ph type="sldNum" sz="quarter" idx="12"/>
          </p:nvPr>
        </p:nvSpPr>
        <p:spPr/>
        <p:txBody>
          <a:bodyPr/>
          <a:lstStyle/>
          <a:p>
            <a:fld id="{5DA9DDE7-DF24-421B-8B5A-9F7A222497E2}" type="slidenum">
              <a:rPr lang="en-US" smtClean="0"/>
              <a:t>2</a:t>
            </a:fld>
            <a:endParaRPr lang="en-US"/>
          </a:p>
        </p:txBody>
      </p:sp>
    </p:spTree>
    <p:extLst>
      <p:ext uri="{BB962C8B-B14F-4D97-AF65-F5344CB8AC3E}">
        <p14:creationId xmlns:p14="http://schemas.microsoft.com/office/powerpoint/2010/main" val="2341489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C0BB-59F0-B886-3A11-468E4CDF7A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9405CBD-403B-437B-87E8-582162B3C180}"/>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D85C518-5E98-EE1F-9B56-44B045D7D141}"/>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7A13A5AC-D9D1-D751-5A70-13D8B55DC1A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C8BACC1-19AE-010F-F12A-12016BAEEEDA}"/>
              </a:ext>
            </a:extLst>
          </p:cNvPr>
          <p:cNvSpPr txBox="1"/>
          <p:nvPr/>
        </p:nvSpPr>
        <p:spPr>
          <a:xfrm>
            <a:off x="3618528" y="434379"/>
            <a:ext cx="4992072"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Response to Review 1 comment</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373CFC01-4056-363A-5750-57051F843E7A}"/>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2C9DB1F8-E8A5-DFBE-AEE2-A70DE7CFA2B9}"/>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34E75ED1-BD69-3AF6-B123-5221F434986C}"/>
              </a:ext>
            </a:extLst>
          </p:cNvPr>
          <p:cNvSpPr>
            <a:spLocks noGrp="1"/>
          </p:cNvSpPr>
          <p:nvPr>
            <p:ph type="sldNum" sz="quarter" idx="12"/>
          </p:nvPr>
        </p:nvSpPr>
        <p:spPr/>
        <p:txBody>
          <a:bodyPr/>
          <a:lstStyle/>
          <a:p>
            <a:fld id="{5DA9DDE7-DF24-421B-8B5A-9F7A222497E2}" type="slidenum">
              <a:rPr lang="en-US" smtClean="0"/>
              <a:t>3</a:t>
            </a:fld>
            <a:endParaRPr lang="en-US"/>
          </a:p>
        </p:txBody>
      </p:sp>
      <p:sp>
        <p:nvSpPr>
          <p:cNvPr id="2" name="TextBox 1">
            <a:extLst>
              <a:ext uri="{FF2B5EF4-FFF2-40B4-BE49-F238E27FC236}">
                <a16:creationId xmlns:a16="http://schemas.microsoft.com/office/drawing/2014/main" id="{03CCE2F0-A511-44F8-4F51-3161C2DFB689}"/>
              </a:ext>
            </a:extLst>
          </p:cNvPr>
          <p:cNvSpPr txBox="1"/>
          <p:nvPr/>
        </p:nvSpPr>
        <p:spPr>
          <a:xfrm>
            <a:off x="838200" y="1133700"/>
            <a:ext cx="10061112" cy="480131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About the datasets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Justified PHEME dataset as a standard benchmark dataset used in rumor detection research</a:t>
            </a:r>
          </a:p>
          <a:p>
            <a:r>
              <a:rPr lang="en-US" dirty="0">
                <a:latin typeface="Times New Roman" panose="02020603050405020304" pitchFamily="18" charset="0"/>
                <a:cs typeface="Times New Roman" panose="02020603050405020304" pitchFamily="18" charset="0"/>
              </a:rPr>
              <a:t>• Explained data collection: real Twitter conversations during breaking news events</a:t>
            </a:r>
          </a:p>
          <a:p>
            <a:r>
              <a:rPr lang="en-US" dirty="0">
                <a:latin typeface="Times New Roman" panose="02020603050405020304" pitchFamily="18" charset="0"/>
                <a:cs typeface="Times New Roman" panose="02020603050405020304" pitchFamily="18" charset="0"/>
              </a:rPr>
              <a:t>• Dataset created by Zubiaga et al. (2016) with manual annotation of </a:t>
            </a:r>
            <a:r>
              <a:rPr lang="en-US" dirty="0" err="1">
                <a:latin typeface="Times New Roman" panose="02020603050405020304" pitchFamily="18" charset="0"/>
                <a:cs typeface="Times New Roman" panose="02020603050405020304" pitchFamily="18" charset="0"/>
              </a:rPr>
              <a:t>rumours</a:t>
            </a:r>
            <a:r>
              <a:rPr lang="en-US" dirty="0">
                <a:latin typeface="Times New Roman" panose="02020603050405020304" pitchFamily="18" charset="0"/>
                <a:cs typeface="Times New Roman" panose="02020603050405020304" pitchFamily="18" charset="0"/>
              </a:rPr>
              <a:t> and non-</a:t>
            </a:r>
            <a:r>
              <a:rPr lang="en-US" dirty="0" err="1">
                <a:latin typeface="Times New Roman" panose="02020603050405020304" pitchFamily="18" charset="0"/>
                <a:cs typeface="Times New Roman" panose="02020603050405020304" pitchFamily="18" charset="0"/>
              </a:rPr>
              <a:t>rumours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Dataset: PHEME Rumour Dataset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Source:</a:t>
            </a:r>
          </a:p>
          <a:p>
            <a:r>
              <a:rPr lang="en-IN" dirty="0">
                <a:latin typeface="Times New Roman" panose="02020603050405020304" pitchFamily="18" charset="0"/>
                <a:cs typeface="Times New Roman" panose="02020603050405020304" pitchFamily="18" charset="0"/>
              </a:rPr>
              <a:t>Zubiaga et al., 2016</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Data Collection:</a:t>
            </a:r>
          </a:p>
          <a:p>
            <a:r>
              <a:rPr lang="en-IN" dirty="0">
                <a:latin typeface="Times New Roman" panose="02020603050405020304" pitchFamily="18" charset="0"/>
                <a:cs typeface="Times New Roman" panose="02020603050405020304" pitchFamily="18" charset="0"/>
              </a:rPr>
              <a:t>• Collected from Twitter</a:t>
            </a:r>
          </a:p>
          <a:p>
            <a:r>
              <a:rPr lang="en-IN" dirty="0">
                <a:latin typeface="Times New Roman" panose="02020603050405020304" pitchFamily="18" charset="0"/>
                <a:cs typeface="Times New Roman" panose="02020603050405020304" pitchFamily="18" charset="0"/>
              </a:rPr>
              <a:t>• Based on real-world breaking news events:</a:t>
            </a:r>
          </a:p>
          <a:p>
            <a:r>
              <a:rPr lang="en-IN" dirty="0">
                <a:latin typeface="Times New Roman" panose="02020603050405020304" pitchFamily="18" charset="0"/>
                <a:cs typeface="Times New Roman" panose="02020603050405020304" pitchFamily="18" charset="0"/>
              </a:rPr>
              <a:t>   - Charlie Hebdo</a:t>
            </a:r>
          </a:p>
          <a:p>
            <a:r>
              <a:rPr lang="en-IN" dirty="0">
                <a:latin typeface="Times New Roman" panose="02020603050405020304" pitchFamily="18" charset="0"/>
                <a:cs typeface="Times New Roman" panose="02020603050405020304" pitchFamily="18" charset="0"/>
              </a:rPr>
              <a:t>   - Ferguson unrest</a:t>
            </a:r>
          </a:p>
          <a:p>
            <a:r>
              <a:rPr lang="en-IN" dirty="0">
                <a:latin typeface="Times New Roman" panose="02020603050405020304" pitchFamily="18" charset="0"/>
                <a:cs typeface="Times New Roman" panose="02020603050405020304" pitchFamily="18" charset="0"/>
              </a:rPr>
              <a:t>   - Germanwings crash</a:t>
            </a:r>
          </a:p>
          <a:p>
            <a:r>
              <a:rPr lang="en-IN" dirty="0">
                <a:latin typeface="Times New Roman" panose="02020603050405020304" pitchFamily="18" charset="0"/>
                <a:cs typeface="Times New Roman" panose="02020603050405020304" pitchFamily="18" charset="0"/>
              </a:rPr>
              <a:t>   - Ottawa shooting etc</a:t>
            </a:r>
          </a:p>
        </p:txBody>
      </p:sp>
      <p:sp>
        <p:nvSpPr>
          <p:cNvPr id="10" name="TextBox 9">
            <a:extLst>
              <a:ext uri="{FF2B5EF4-FFF2-40B4-BE49-F238E27FC236}">
                <a16:creationId xmlns:a16="http://schemas.microsoft.com/office/drawing/2014/main" id="{76394D34-9C69-5A16-0E2D-854917C57AB9}"/>
              </a:ext>
            </a:extLst>
          </p:cNvPr>
          <p:cNvSpPr txBox="1"/>
          <p:nvPr/>
        </p:nvSpPr>
        <p:spPr>
          <a:xfrm>
            <a:off x="6096000" y="2807368"/>
            <a:ext cx="4379495" cy="2308324"/>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Structure:</a:t>
            </a:r>
          </a:p>
          <a:p>
            <a:r>
              <a:rPr lang="en-IN" dirty="0">
                <a:latin typeface="Times New Roman" panose="02020603050405020304" pitchFamily="18" charset="0"/>
                <a:cs typeface="Times New Roman" panose="02020603050405020304" pitchFamily="18" charset="0"/>
              </a:rPr>
              <a:t>• Conversation threads (reply trees)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Annotation:</a:t>
            </a:r>
          </a:p>
          <a:p>
            <a:r>
              <a:rPr lang="en-IN" dirty="0">
                <a:latin typeface="Times New Roman" panose="02020603050405020304" pitchFamily="18" charset="0"/>
                <a:cs typeface="Times New Roman" panose="02020603050405020304" pitchFamily="18" charset="0"/>
              </a:rPr>
              <a:t>• Manually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 by journalists</a:t>
            </a:r>
          </a:p>
          <a:p>
            <a:r>
              <a:rPr lang="en-IN" dirty="0">
                <a:latin typeface="Times New Roman" panose="02020603050405020304" pitchFamily="18" charset="0"/>
                <a:cs typeface="Times New Roman" panose="02020603050405020304" pitchFamily="18" charset="0"/>
              </a:rPr>
              <a:t>• Labels: Rumour / Non-rumour</a:t>
            </a:r>
          </a:p>
          <a:p>
            <a:endParaRPr lang="en-IN" dirty="0"/>
          </a:p>
        </p:txBody>
      </p:sp>
    </p:spTree>
    <p:extLst>
      <p:ext uri="{BB962C8B-B14F-4D97-AF65-F5344CB8AC3E}">
        <p14:creationId xmlns:p14="http://schemas.microsoft.com/office/powerpoint/2010/main" val="3581466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193FB-B644-AB6A-5A94-52D63BD131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A069E9-A5BF-8D7D-F3E1-CE0856503DFC}"/>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59C5BEB-F521-5DA7-55D9-E3A70B4FB613}"/>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61C28FDB-FEF2-4EC2-6877-4EAD72EE22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90627FB-ECF4-B1A1-01EC-D31B889FB2CD}"/>
              </a:ext>
            </a:extLst>
          </p:cNvPr>
          <p:cNvSpPr txBox="1"/>
          <p:nvPr/>
        </p:nvSpPr>
        <p:spPr>
          <a:xfrm>
            <a:off x="5314376" y="653143"/>
            <a:ext cx="1585690"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ABSTRACT</a:t>
            </a:r>
          </a:p>
        </p:txBody>
      </p:sp>
      <p:sp>
        <p:nvSpPr>
          <p:cNvPr id="7" name="Date Placeholder 6">
            <a:extLst>
              <a:ext uri="{FF2B5EF4-FFF2-40B4-BE49-F238E27FC236}">
                <a16:creationId xmlns:a16="http://schemas.microsoft.com/office/drawing/2014/main" id="{3AD76632-C0BC-8267-FC0D-839923B61D9F}"/>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8FEA0404-76F8-EE60-AD0E-F6B299C66954}"/>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13AF9E67-D718-48C5-0547-2A22972D20A9}"/>
              </a:ext>
            </a:extLst>
          </p:cNvPr>
          <p:cNvSpPr>
            <a:spLocks noGrp="1"/>
          </p:cNvSpPr>
          <p:nvPr>
            <p:ph type="sldNum" sz="quarter" idx="12"/>
          </p:nvPr>
        </p:nvSpPr>
        <p:spPr/>
        <p:txBody>
          <a:bodyPr/>
          <a:lstStyle/>
          <a:p>
            <a:fld id="{5DA9DDE7-DF24-421B-8B5A-9F7A222497E2}" type="slidenum">
              <a:rPr lang="en-US" smtClean="0"/>
              <a:t>4</a:t>
            </a:fld>
            <a:endParaRPr lang="en-US"/>
          </a:p>
        </p:txBody>
      </p:sp>
      <p:sp>
        <p:nvSpPr>
          <p:cNvPr id="2" name="TextBox 1">
            <a:extLst>
              <a:ext uri="{FF2B5EF4-FFF2-40B4-BE49-F238E27FC236}">
                <a16:creationId xmlns:a16="http://schemas.microsoft.com/office/drawing/2014/main" id="{8D8FE784-DECB-FC89-8645-4980DF13BC26}"/>
              </a:ext>
            </a:extLst>
          </p:cNvPr>
          <p:cNvSpPr txBox="1"/>
          <p:nvPr/>
        </p:nvSpPr>
        <p:spPr>
          <a:xfrm>
            <a:off x="759184" y="1215684"/>
            <a:ext cx="10696074" cy="4849404"/>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Sleep disorders such as insomnia, sleep disordered breathing, and narcolepsy are increasingly affecting people’s health, daily activities, and overall quality of life. Conventional diagnosis of sleep disorders relies on overnight sleep studies and manual analysis of EEG signals by trained experts, which is time-consuming, expensive, and not always easily accessible. To address this issue, this project presents a deep learning based approach for the automatic detection of sleep disorders using EEG signals recorded during sleep. The EEG data is first preprocessed to remove noise and segmented into fixed length intervals for effective analysis. Instead of using manually extracted features, the proposed system enables the deep learning model to automatically learn meaningful patterns from raw EEG signals. A hybrid architecture combining Convolutional Neural Networks (CNN) and Bidirectional Long Short-Term Memory (Bi-LSTM) networks is used to capture both signal characteristics and temporal variations present in sleep data. The trained model performs multi class classification to identify normal sleep, insomnia, sleep disordered breathing, and narcolepsy based on learned EEG features. Experimental evaluation demonstrates that the proposed approach provides reliable and accurate results in detecting sleep disorders. This system can assist healthcare professionals by reducing the workload involved in manual EEG analysis and can serve as a supportive tool in sleep diagnosis and future sleep monitoring applications.</a:t>
            </a:r>
          </a:p>
        </p:txBody>
      </p:sp>
    </p:spTree>
    <p:extLst>
      <p:ext uri="{BB962C8B-B14F-4D97-AF65-F5344CB8AC3E}">
        <p14:creationId xmlns:p14="http://schemas.microsoft.com/office/powerpoint/2010/main" val="4148323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C8934-C263-80BD-D244-47AA5389D1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7F8448-9115-40F9-142A-C6725FE00546}"/>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53C23BB-17B0-AA8A-23E7-7DCC5C1BB454}"/>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60CDFF9-A0F1-DC13-0D45-878CF483A1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C2106D1-E9DE-91A9-BE39-225990FFCFCB}"/>
              </a:ext>
            </a:extLst>
          </p:cNvPr>
          <p:cNvSpPr txBox="1"/>
          <p:nvPr/>
        </p:nvSpPr>
        <p:spPr>
          <a:xfrm>
            <a:off x="5314376" y="653143"/>
            <a:ext cx="1811714"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OBJECTIVES</a:t>
            </a:r>
          </a:p>
        </p:txBody>
      </p:sp>
      <p:sp>
        <p:nvSpPr>
          <p:cNvPr id="7" name="Date Placeholder 6">
            <a:extLst>
              <a:ext uri="{FF2B5EF4-FFF2-40B4-BE49-F238E27FC236}">
                <a16:creationId xmlns:a16="http://schemas.microsoft.com/office/drawing/2014/main" id="{DC246663-83EE-4A0E-1F91-54A31DA6FEA9}"/>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7E48465B-6395-7562-B0C4-A7A4DFD054EC}"/>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93002279-7E04-BC9B-80DF-7A20376099A7}"/>
              </a:ext>
            </a:extLst>
          </p:cNvPr>
          <p:cNvSpPr>
            <a:spLocks noGrp="1"/>
          </p:cNvSpPr>
          <p:nvPr>
            <p:ph type="sldNum" sz="quarter" idx="12"/>
          </p:nvPr>
        </p:nvSpPr>
        <p:spPr/>
        <p:txBody>
          <a:bodyPr/>
          <a:lstStyle/>
          <a:p>
            <a:fld id="{5DA9DDE7-DF24-421B-8B5A-9F7A222497E2}" type="slidenum">
              <a:rPr lang="en-US" smtClean="0"/>
              <a:t>5</a:t>
            </a:fld>
            <a:endParaRPr lang="en-US"/>
          </a:p>
        </p:txBody>
      </p:sp>
      <p:sp>
        <p:nvSpPr>
          <p:cNvPr id="2" name="TextBox 1">
            <a:extLst>
              <a:ext uri="{FF2B5EF4-FFF2-40B4-BE49-F238E27FC236}">
                <a16:creationId xmlns:a16="http://schemas.microsoft.com/office/drawing/2014/main" id="{487E78DC-56DC-2611-F9D8-9A22124E3A92}"/>
              </a:ext>
            </a:extLst>
          </p:cNvPr>
          <p:cNvSpPr txBox="1"/>
          <p:nvPr/>
        </p:nvSpPr>
        <p:spPr>
          <a:xfrm>
            <a:off x="759184" y="1215684"/>
            <a:ext cx="10696074" cy="3412729"/>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The Objectives for the proposed system are – </a:t>
            </a:r>
          </a:p>
          <a:p>
            <a:pPr>
              <a:lnSpc>
                <a:spcPct val="150000"/>
              </a:lnSpc>
            </a:pPr>
            <a:endParaRPr lang="en-US"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design and develop a deep learning-based system for automatic detection of sleep disorders using EEG signals recorded during sleep.</a:t>
            </a:r>
          </a:p>
          <a:p>
            <a:pPr marL="457200" indent="-4572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extract and model both spatial and temporal characteristics of EEG signals using a hybrid CNN–LSTM architecture.</a:t>
            </a:r>
          </a:p>
          <a:p>
            <a:pPr marL="457200" indent="-4572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evaluate the performance of the proposed system using publicly available EEG sleep datasets and standard evaluation metrics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646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160CD-C1D3-0780-011E-91D1F973952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403B99F-B74D-BF15-C88B-A106BE5F1657}"/>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D429E3B-0211-290A-1E92-666686BF80CD}"/>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0FDE2373-B11A-1871-499C-C133BC5A4B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A0776A9-6131-8CD8-5632-F7575DE7B4F3}"/>
              </a:ext>
            </a:extLst>
          </p:cNvPr>
          <p:cNvSpPr txBox="1"/>
          <p:nvPr/>
        </p:nvSpPr>
        <p:spPr>
          <a:xfrm>
            <a:off x="4545543" y="544076"/>
            <a:ext cx="3123356"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PROBLEM STATEMENT</a:t>
            </a:r>
          </a:p>
        </p:txBody>
      </p:sp>
      <p:sp>
        <p:nvSpPr>
          <p:cNvPr id="7" name="Date Placeholder 6">
            <a:extLst>
              <a:ext uri="{FF2B5EF4-FFF2-40B4-BE49-F238E27FC236}">
                <a16:creationId xmlns:a16="http://schemas.microsoft.com/office/drawing/2014/main" id="{E1CE58EC-C274-961A-757E-E6C5FAF869A4}"/>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D00B40E5-C500-F24C-ABD7-461574D6CB1D}"/>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22D96F99-A002-4539-6579-7819A2C4BAC1}"/>
              </a:ext>
            </a:extLst>
          </p:cNvPr>
          <p:cNvSpPr>
            <a:spLocks noGrp="1"/>
          </p:cNvSpPr>
          <p:nvPr>
            <p:ph type="sldNum" sz="quarter" idx="12"/>
          </p:nvPr>
        </p:nvSpPr>
        <p:spPr/>
        <p:txBody>
          <a:bodyPr/>
          <a:lstStyle/>
          <a:p>
            <a:fld id="{5DA9DDE7-DF24-421B-8B5A-9F7A222497E2}" type="slidenum">
              <a:rPr lang="en-US" smtClean="0"/>
              <a:t>6</a:t>
            </a:fld>
            <a:endParaRPr lang="en-US"/>
          </a:p>
        </p:txBody>
      </p:sp>
      <p:sp>
        <p:nvSpPr>
          <p:cNvPr id="2" name="TextBox 1">
            <a:extLst>
              <a:ext uri="{FF2B5EF4-FFF2-40B4-BE49-F238E27FC236}">
                <a16:creationId xmlns:a16="http://schemas.microsoft.com/office/drawing/2014/main" id="{F65548D4-7B8A-DB33-847E-B274BF2097EB}"/>
              </a:ext>
            </a:extLst>
          </p:cNvPr>
          <p:cNvSpPr txBox="1"/>
          <p:nvPr/>
        </p:nvSpPr>
        <p:spPr>
          <a:xfrm>
            <a:off x="759184" y="1215684"/>
            <a:ext cx="10696074" cy="2951064"/>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Sleep disorders such as insomnia, sleep disordered breathing, and narcolepsy often go undiagnosed because their diagnosis relies on overnight sleep studies and manual analysis of EEG signals by medical experts. This process is time consuming, expensive, and not easily accessible, making early and large scale detection difficult.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To overcome this, an automated system is needed that can analyze EEG signals and accurately detect sleep disorders without manual feature extraction. A deep learning based approach can learn meaningful patterns from EEG data and provide a faster, more reliable, and accessible solution to support sleep disorder diagnosis.</a:t>
            </a:r>
          </a:p>
        </p:txBody>
      </p:sp>
    </p:spTree>
    <p:extLst>
      <p:ext uri="{BB962C8B-B14F-4D97-AF65-F5344CB8AC3E}">
        <p14:creationId xmlns:p14="http://schemas.microsoft.com/office/powerpoint/2010/main" val="1605269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23BE8-06E6-B0E7-5C61-BAD06D1E6F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0E7928-48EE-66AB-18BC-DEED40C64660}"/>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126067E-1E28-41BF-CC56-4B630BFD5DD5}"/>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E2E1592A-99FE-F647-8DC9-ABA5607D00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D1053AB-34CD-1A48-48B6-8FC3A41A1E54}"/>
              </a:ext>
            </a:extLst>
          </p:cNvPr>
          <p:cNvSpPr txBox="1"/>
          <p:nvPr/>
        </p:nvSpPr>
        <p:spPr>
          <a:xfrm>
            <a:off x="4942479" y="522863"/>
            <a:ext cx="2307042"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METHODOLOGY</a:t>
            </a:r>
          </a:p>
        </p:txBody>
      </p:sp>
      <p:sp>
        <p:nvSpPr>
          <p:cNvPr id="7" name="Date Placeholder 6">
            <a:extLst>
              <a:ext uri="{FF2B5EF4-FFF2-40B4-BE49-F238E27FC236}">
                <a16:creationId xmlns:a16="http://schemas.microsoft.com/office/drawing/2014/main" id="{B182C635-F863-E297-5E4D-CB621EEDC3DC}"/>
              </a:ext>
            </a:extLst>
          </p:cNvPr>
          <p:cNvSpPr>
            <a:spLocks noGrp="1"/>
          </p:cNvSpPr>
          <p:nvPr>
            <p:ph type="dt" sz="half" idx="10"/>
          </p:nvPr>
        </p:nvSpPr>
        <p:spPr/>
        <p:txBody>
          <a:bodyPr/>
          <a:lstStyle/>
          <a:p>
            <a:fld id="{6A0D0D0C-6ED7-4DCE-A036-1D21D0B6637E}" type="datetime9">
              <a:rPr lang="en-US" smtClean="0"/>
              <a:t>4/15/2026 9:28:17 AM</a:t>
            </a:fld>
            <a:endParaRPr lang="en-US"/>
          </a:p>
        </p:txBody>
      </p:sp>
      <p:sp>
        <p:nvSpPr>
          <p:cNvPr id="8" name="Footer Placeholder 7">
            <a:extLst>
              <a:ext uri="{FF2B5EF4-FFF2-40B4-BE49-F238E27FC236}">
                <a16:creationId xmlns:a16="http://schemas.microsoft.com/office/drawing/2014/main" id="{3276F97C-766A-D127-6CF7-B1AFE62E4A1A}"/>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EEFE7473-216A-F33C-D5CA-CD5AD2FFC035}"/>
              </a:ext>
            </a:extLst>
          </p:cNvPr>
          <p:cNvSpPr>
            <a:spLocks noGrp="1"/>
          </p:cNvSpPr>
          <p:nvPr>
            <p:ph type="sldNum" sz="quarter" idx="12"/>
          </p:nvPr>
        </p:nvSpPr>
        <p:spPr/>
        <p:txBody>
          <a:bodyPr/>
          <a:lstStyle/>
          <a:p>
            <a:fld id="{5DA9DDE7-DF24-421B-8B5A-9F7A222497E2}" type="slidenum">
              <a:rPr lang="en-US" smtClean="0"/>
              <a:t>7</a:t>
            </a:fld>
            <a:endParaRPr lang="en-US"/>
          </a:p>
        </p:txBody>
      </p:sp>
      <p:sp>
        <p:nvSpPr>
          <p:cNvPr id="2" name="TextBox 1">
            <a:extLst>
              <a:ext uri="{FF2B5EF4-FFF2-40B4-BE49-F238E27FC236}">
                <a16:creationId xmlns:a16="http://schemas.microsoft.com/office/drawing/2014/main" id="{DCF553E0-0BCF-C917-9EFB-0BA707A83FCC}"/>
              </a:ext>
            </a:extLst>
          </p:cNvPr>
          <p:cNvSpPr txBox="1"/>
          <p:nvPr/>
        </p:nvSpPr>
        <p:spPr>
          <a:xfrm>
            <a:off x="3496786" y="4574410"/>
            <a:ext cx="5691047" cy="646331"/>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[1] Proposed CNN-</a:t>
            </a:r>
            <a:r>
              <a:rPr lang="en-IN" dirty="0" err="1">
                <a:latin typeface="Times New Roman" panose="02020603050405020304" pitchFamily="18" charset="0"/>
                <a:cs typeface="Times New Roman" panose="02020603050405020304" pitchFamily="18" charset="0"/>
              </a:rPr>
              <a:t>BiLSTM</a:t>
            </a:r>
            <a:r>
              <a:rPr lang="en-IN" dirty="0">
                <a:latin typeface="Times New Roman" panose="02020603050405020304" pitchFamily="18" charset="0"/>
                <a:cs typeface="Times New Roman" panose="02020603050405020304" pitchFamily="18" charset="0"/>
              </a:rPr>
              <a:t> Attention  Framework</a:t>
            </a:r>
          </a:p>
          <a:p>
            <a:pPr algn="ct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AF094748-AE9C-7D1F-D1EB-5CFDD3BF417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28" t="27921" r="1617" b="27456"/>
          <a:stretch>
            <a:fillRect/>
          </a:stretch>
        </p:blipFill>
        <p:spPr bwMode="auto">
          <a:xfrm>
            <a:off x="1187116" y="1629329"/>
            <a:ext cx="10331116" cy="275016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3312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827C9-47A8-4494-EABF-01AE27E4C1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B6C520-32F9-914D-7130-8B33B19813F9}"/>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F16DFC-76E3-531E-A475-05999BF36483}"/>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A2738A39-C71C-5C79-0C17-5221E7652C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458862A-49D1-E974-D1C8-45738FB03B6D}"/>
              </a:ext>
            </a:extLst>
          </p:cNvPr>
          <p:cNvSpPr txBox="1"/>
          <p:nvPr/>
        </p:nvSpPr>
        <p:spPr>
          <a:xfrm>
            <a:off x="4406691" y="536926"/>
            <a:ext cx="3401059"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DATASET EXPLAINATION</a:t>
            </a:r>
          </a:p>
        </p:txBody>
      </p:sp>
      <p:sp>
        <p:nvSpPr>
          <p:cNvPr id="7" name="Date Placeholder 6">
            <a:extLst>
              <a:ext uri="{FF2B5EF4-FFF2-40B4-BE49-F238E27FC236}">
                <a16:creationId xmlns:a16="http://schemas.microsoft.com/office/drawing/2014/main" id="{AC58155A-9E58-D104-A158-09B536FD81F6}"/>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24D5EAB6-36A4-7719-17C1-1A3B432F95E9}"/>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E292A321-63B6-ADCF-B9FE-CF142BEE83C5}"/>
              </a:ext>
            </a:extLst>
          </p:cNvPr>
          <p:cNvSpPr>
            <a:spLocks noGrp="1"/>
          </p:cNvSpPr>
          <p:nvPr>
            <p:ph type="sldNum" sz="quarter" idx="12"/>
          </p:nvPr>
        </p:nvSpPr>
        <p:spPr/>
        <p:txBody>
          <a:bodyPr/>
          <a:lstStyle/>
          <a:p>
            <a:fld id="{5DA9DDE7-DF24-421B-8B5A-9F7A222497E2}" type="slidenum">
              <a:rPr lang="en-US" smtClean="0"/>
              <a:t>8</a:t>
            </a:fld>
            <a:endParaRPr lang="en-US"/>
          </a:p>
        </p:txBody>
      </p:sp>
      <p:sp>
        <p:nvSpPr>
          <p:cNvPr id="2" name="TextBox 1">
            <a:extLst>
              <a:ext uri="{FF2B5EF4-FFF2-40B4-BE49-F238E27FC236}">
                <a16:creationId xmlns:a16="http://schemas.microsoft.com/office/drawing/2014/main" id="{9B399852-F7F3-983A-3E3A-4CFB96EC3D0B}"/>
              </a:ext>
            </a:extLst>
          </p:cNvPr>
          <p:cNvSpPr txBox="1"/>
          <p:nvPr/>
        </p:nvSpPr>
        <p:spPr>
          <a:xfrm>
            <a:off x="759184" y="1215684"/>
            <a:ext cx="10696074" cy="458074"/>
          </a:xfrm>
          <a:prstGeom prst="rect">
            <a:avLst/>
          </a:prstGeom>
          <a:noFill/>
        </p:spPr>
        <p:txBody>
          <a:bodyPr wrap="square" rtlCol="0">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E5A52B7-FB9A-8569-35EF-93706287414F}"/>
              </a:ext>
            </a:extLst>
          </p:cNvPr>
          <p:cNvSpPr txBox="1"/>
          <p:nvPr/>
        </p:nvSpPr>
        <p:spPr>
          <a:xfrm>
            <a:off x="960120" y="1364744"/>
            <a:ext cx="8046720" cy="4524315"/>
          </a:xfrm>
          <a:prstGeom prst="rect">
            <a:avLst/>
          </a:prstGeom>
          <a:noFill/>
        </p:spPr>
        <p:txBody>
          <a:bodyPr wrap="square" rtlCol="0">
            <a:spAutoFit/>
          </a:bodyPr>
          <a:lstStyle/>
          <a:p>
            <a:r>
              <a:rPr lang="en-IN" dirty="0"/>
              <a:t>• Dataset: EEG Sleep Disorder Dataset (EDF Format) </a:t>
            </a:r>
            <a:br>
              <a:rPr lang="en-IN" dirty="0"/>
            </a:br>
            <a:r>
              <a:rPr lang="en-IN" dirty="0"/>
              <a:t>• Nodes: EEG signal epochs (30-second segments) </a:t>
            </a:r>
          </a:p>
          <a:p>
            <a:r>
              <a:rPr lang="en-IN" dirty="0"/>
              <a:t>• Classes: Normal / Insomnia / SDB (</a:t>
            </a:r>
            <a:r>
              <a:rPr lang="en-IN" dirty="0" err="1"/>
              <a:t>Apnea</a:t>
            </a:r>
            <a:r>
              <a:rPr lang="en-IN" dirty="0"/>
              <a:t>) / Narcolepsy</a:t>
            </a:r>
          </a:p>
          <a:p>
            <a:r>
              <a:rPr lang="nn-NO" dirty="0"/>
              <a:t>• Data Format: EDF (European Data Format) </a:t>
            </a:r>
          </a:p>
          <a:p>
            <a:r>
              <a:rPr lang="en-IN" dirty="0"/>
              <a:t>• Structure: Multi-channel time-series signals</a:t>
            </a:r>
          </a:p>
          <a:p>
            <a:endParaRPr lang="en-IN" dirty="0"/>
          </a:p>
          <a:p>
            <a:r>
              <a:rPr lang="en-US" dirty="0"/>
              <a:t>• Dataset Size:</a:t>
            </a:r>
            <a:br>
              <a:rPr lang="en-US" dirty="0"/>
            </a:br>
            <a:r>
              <a:rPr lang="en-US" dirty="0"/>
              <a:t>- 16 EDF files (4 per class) </a:t>
            </a:r>
            <a:br>
              <a:rPr lang="en-US" dirty="0"/>
            </a:br>
            <a:r>
              <a:rPr lang="en-US" dirty="0"/>
              <a:t>- 16,000+ epochs generated </a:t>
            </a:r>
            <a:br>
              <a:rPr lang="en-US" dirty="0"/>
            </a:br>
            <a:r>
              <a:rPr lang="en-US" dirty="0"/>
              <a:t>- Balanced to 12,000 samples </a:t>
            </a:r>
          </a:p>
          <a:p>
            <a:endParaRPr lang="en-US" dirty="0"/>
          </a:p>
          <a:p>
            <a:r>
              <a:rPr lang="en-US" dirty="0"/>
              <a:t>• Learning Setting:</a:t>
            </a:r>
            <a:br>
              <a:rPr lang="en-US" dirty="0"/>
            </a:br>
            <a:r>
              <a:rPr lang="en-US" dirty="0"/>
              <a:t>- Supervised classification </a:t>
            </a:r>
            <a:br>
              <a:rPr lang="en-US" dirty="0"/>
            </a:br>
            <a:r>
              <a:rPr lang="en-US" dirty="0"/>
              <a:t>- Stratified train-test split </a:t>
            </a:r>
            <a:br>
              <a:rPr lang="en-US" dirty="0"/>
            </a:br>
            <a:r>
              <a:rPr lang="en-US" dirty="0"/>
              <a:t>- Input: EEG epoch + extracted features </a:t>
            </a:r>
            <a:br>
              <a:rPr lang="en-US" dirty="0"/>
            </a:br>
            <a:r>
              <a:rPr lang="en-US" dirty="0"/>
              <a:t>- Output: Sleep disorder class label </a:t>
            </a:r>
            <a:endParaRPr lang="en-IN" dirty="0"/>
          </a:p>
        </p:txBody>
      </p:sp>
    </p:spTree>
    <p:extLst>
      <p:ext uri="{BB962C8B-B14F-4D97-AF65-F5344CB8AC3E}">
        <p14:creationId xmlns:p14="http://schemas.microsoft.com/office/powerpoint/2010/main" val="2857431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FB243-2053-7FE7-5C65-8663B7D3E76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0B41A91-107B-CE51-7DDE-A800EE92ABB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87D174-57C8-370A-32FB-FD096092CFEC}"/>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3BE544A5-45DA-A8D3-EFE2-8A91A10DD6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A66372A-45F0-1CB2-B4D7-8891DA62FE69}"/>
              </a:ext>
            </a:extLst>
          </p:cNvPr>
          <p:cNvSpPr txBox="1"/>
          <p:nvPr/>
        </p:nvSpPr>
        <p:spPr>
          <a:xfrm>
            <a:off x="3478905" y="495934"/>
            <a:ext cx="5256632"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COMPARATIVE ANALYSIS OF  MODELS</a:t>
            </a:r>
          </a:p>
        </p:txBody>
      </p:sp>
      <p:sp>
        <p:nvSpPr>
          <p:cNvPr id="7" name="Date Placeholder 6">
            <a:extLst>
              <a:ext uri="{FF2B5EF4-FFF2-40B4-BE49-F238E27FC236}">
                <a16:creationId xmlns:a16="http://schemas.microsoft.com/office/drawing/2014/main" id="{4567D809-54D8-3A65-DAF4-CC14ACE7A828}"/>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E9333000-DD23-D974-5F44-D7EB2E4E28AA}"/>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F90D3A74-B271-D0F0-FBBF-133CE7EB6B27}"/>
              </a:ext>
            </a:extLst>
          </p:cNvPr>
          <p:cNvSpPr>
            <a:spLocks noGrp="1"/>
          </p:cNvSpPr>
          <p:nvPr>
            <p:ph type="sldNum" sz="quarter" idx="12"/>
          </p:nvPr>
        </p:nvSpPr>
        <p:spPr/>
        <p:txBody>
          <a:bodyPr/>
          <a:lstStyle/>
          <a:p>
            <a:fld id="{5DA9DDE7-DF24-421B-8B5A-9F7A222497E2}" type="slidenum">
              <a:rPr lang="en-US" smtClean="0"/>
              <a:t>9</a:t>
            </a:fld>
            <a:endParaRPr lang="en-US"/>
          </a:p>
        </p:txBody>
      </p:sp>
      <p:sp>
        <p:nvSpPr>
          <p:cNvPr id="2" name="TextBox 1">
            <a:extLst>
              <a:ext uri="{FF2B5EF4-FFF2-40B4-BE49-F238E27FC236}">
                <a16:creationId xmlns:a16="http://schemas.microsoft.com/office/drawing/2014/main" id="{B0402FAE-F5E6-CCB6-30AA-16D1BB0F9ECF}"/>
              </a:ext>
            </a:extLst>
          </p:cNvPr>
          <p:cNvSpPr txBox="1"/>
          <p:nvPr/>
        </p:nvSpPr>
        <p:spPr>
          <a:xfrm>
            <a:off x="759184" y="1215684"/>
            <a:ext cx="10696074" cy="3366563"/>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Text Models (LR, MLP):</a:t>
            </a:r>
          </a:p>
          <a:p>
            <a:pPr algn="just">
              <a:lnSpc>
                <a:spcPct val="150000"/>
              </a:lnSpc>
            </a:pPr>
            <a:r>
              <a:rPr lang="en-US" dirty="0">
                <a:latin typeface="Times New Roman" panose="02020603050405020304" pitchFamily="18" charset="0"/>
                <a:cs typeface="Times New Roman" panose="02020603050405020304" pitchFamily="18" charset="0"/>
              </a:rPr>
              <a:t>   - No structural awareness  </a:t>
            </a:r>
          </a:p>
          <a:p>
            <a:pPr algn="just">
              <a:lnSpc>
                <a:spcPct val="150000"/>
              </a:lnSpc>
            </a:pPr>
            <a:r>
              <a:rPr lang="en-US" dirty="0">
                <a:latin typeface="Times New Roman" panose="02020603050405020304" pitchFamily="18" charset="0"/>
                <a:cs typeface="Times New Roman" panose="02020603050405020304" pitchFamily="18" charset="0"/>
              </a:rPr>
              <a:t>   - Poor performance with pseudo-labeling  </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 Graph Models (GNN):</a:t>
            </a:r>
          </a:p>
          <a:p>
            <a:pPr algn="just">
              <a:lnSpc>
                <a:spcPct val="150000"/>
              </a:lnSpc>
            </a:pPr>
            <a:r>
              <a:rPr lang="en-US" dirty="0">
                <a:latin typeface="Times New Roman" panose="02020603050405020304" pitchFamily="18" charset="0"/>
                <a:cs typeface="Times New Roman" panose="02020603050405020304" pitchFamily="18" charset="0"/>
              </a:rPr>
              <a:t>   - Uses neighborhood information  </a:t>
            </a:r>
          </a:p>
          <a:p>
            <a:pPr algn="just">
              <a:lnSpc>
                <a:spcPct val="150000"/>
              </a:lnSpc>
            </a:pPr>
            <a:r>
              <a:rPr lang="en-US" dirty="0">
                <a:latin typeface="Times New Roman" panose="02020603050405020304" pitchFamily="18" charset="0"/>
                <a:cs typeface="Times New Roman" panose="02020603050405020304" pitchFamily="18" charset="0"/>
              </a:rPr>
              <a:t>   - Stabilizes predictions  </a:t>
            </a:r>
          </a:p>
          <a:p>
            <a:pPr algn="just">
              <a:lnSpc>
                <a:spcPct val="150000"/>
              </a:lnSpc>
            </a:pPr>
            <a:r>
              <a:rPr lang="en-US" dirty="0">
                <a:latin typeface="Times New Roman" panose="02020603050405020304" pitchFamily="18" charset="0"/>
                <a:cs typeface="Times New Roman" panose="02020603050405020304" pitchFamily="18" charset="0"/>
              </a:rPr>
              <a:t>   - Better under label scarcity </a:t>
            </a:r>
          </a:p>
        </p:txBody>
      </p:sp>
    </p:spTree>
    <p:extLst>
      <p:ext uri="{BB962C8B-B14F-4D97-AF65-F5344CB8AC3E}">
        <p14:creationId xmlns:p14="http://schemas.microsoft.com/office/powerpoint/2010/main" val="2928777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D8EF-C0A7-5392-23E8-8BB8F4FB47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12CAC1-B8E2-BC9B-E5C9-FAABCB6DA02D}"/>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395BAF0-4434-F79E-2A22-38D2B336D76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54AF8C9F-F614-AC0C-B29E-7627035581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9A96A4B-B3E1-487D-AE6F-50C55C349048}"/>
              </a:ext>
            </a:extLst>
          </p:cNvPr>
          <p:cNvSpPr txBox="1"/>
          <p:nvPr/>
        </p:nvSpPr>
        <p:spPr>
          <a:xfrm>
            <a:off x="4545543" y="544076"/>
            <a:ext cx="2600777"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IMPLEMENTATION</a:t>
            </a:r>
          </a:p>
        </p:txBody>
      </p:sp>
      <p:sp>
        <p:nvSpPr>
          <p:cNvPr id="7" name="Date Placeholder 6">
            <a:extLst>
              <a:ext uri="{FF2B5EF4-FFF2-40B4-BE49-F238E27FC236}">
                <a16:creationId xmlns:a16="http://schemas.microsoft.com/office/drawing/2014/main" id="{0913A4F8-347E-274B-7F90-00439918D73B}"/>
              </a:ext>
            </a:extLst>
          </p:cNvPr>
          <p:cNvSpPr>
            <a:spLocks noGrp="1"/>
          </p:cNvSpPr>
          <p:nvPr>
            <p:ph type="dt" sz="half" idx="10"/>
          </p:nvPr>
        </p:nvSpPr>
        <p:spPr/>
        <p:txBody>
          <a:bodyPr/>
          <a:lstStyle/>
          <a:p>
            <a:fld id="{6A0D0D0C-6ED7-4DCE-A036-1D21D0B6637E}" type="datetime9">
              <a:rPr lang="en-US" smtClean="0"/>
              <a:t>4/15/2026 9:21:28 AM</a:t>
            </a:fld>
            <a:endParaRPr lang="en-US"/>
          </a:p>
        </p:txBody>
      </p:sp>
      <p:sp>
        <p:nvSpPr>
          <p:cNvPr id="8" name="Footer Placeholder 7">
            <a:extLst>
              <a:ext uri="{FF2B5EF4-FFF2-40B4-BE49-F238E27FC236}">
                <a16:creationId xmlns:a16="http://schemas.microsoft.com/office/drawing/2014/main" id="{D7A9485C-48EA-2918-B075-23839107FFE1}"/>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2C1BA532-644F-2C8F-3207-088BB83A9664}"/>
              </a:ext>
            </a:extLst>
          </p:cNvPr>
          <p:cNvSpPr>
            <a:spLocks noGrp="1"/>
          </p:cNvSpPr>
          <p:nvPr>
            <p:ph type="sldNum" sz="quarter" idx="12"/>
          </p:nvPr>
        </p:nvSpPr>
        <p:spPr/>
        <p:txBody>
          <a:bodyPr/>
          <a:lstStyle/>
          <a:p>
            <a:fld id="{5DA9DDE7-DF24-421B-8B5A-9F7A222497E2}" type="slidenum">
              <a:rPr lang="en-US" smtClean="0"/>
              <a:t>10</a:t>
            </a:fld>
            <a:endParaRPr lang="en-US"/>
          </a:p>
        </p:txBody>
      </p:sp>
      <p:sp>
        <p:nvSpPr>
          <p:cNvPr id="2" name="TextBox 1">
            <a:extLst>
              <a:ext uri="{FF2B5EF4-FFF2-40B4-BE49-F238E27FC236}">
                <a16:creationId xmlns:a16="http://schemas.microsoft.com/office/drawing/2014/main" id="{BB50CF59-8CBD-BA09-4F30-72399C4D8090}"/>
              </a:ext>
            </a:extLst>
          </p:cNvPr>
          <p:cNvSpPr txBox="1"/>
          <p:nvPr/>
        </p:nvSpPr>
        <p:spPr>
          <a:xfrm>
            <a:off x="881119" y="1135990"/>
            <a:ext cx="4973869" cy="5028556"/>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Preprocessing: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Resampling to 128 Hz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Bandpass Filtering (0.5–30 Hz)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Channel Selection (Fp2-F4, F4-C4, C4-P4)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Normalization (mean = 0, std = 1)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Epoch Segmentation (30 sec → 3840 samples)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Feature Extraction: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Time-domain features (mean, variance, skewness, kurtosis)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Frequency-domain features (FFT, band power)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Total Features: 102 </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20311AF-0769-952B-6D94-547443D799BF}"/>
              </a:ext>
            </a:extLst>
          </p:cNvPr>
          <p:cNvSpPr txBox="1"/>
          <p:nvPr/>
        </p:nvSpPr>
        <p:spPr>
          <a:xfrm>
            <a:off x="5854989" y="1229983"/>
            <a:ext cx="3529644" cy="4613058"/>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 Model Settings: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Hidden Dimension: 256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LSTM Layers: 2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Dropout: 0.4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Epochs: 100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Training: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Loss Function: Focal Loss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Optimizer: </a:t>
            </a:r>
            <a:r>
              <a:rPr lang="en-IN" dirty="0" err="1">
                <a:latin typeface="Times New Roman" panose="02020603050405020304" pitchFamily="18" charset="0"/>
                <a:cs typeface="Times New Roman" panose="02020603050405020304" pitchFamily="18" charset="0"/>
              </a:rPr>
              <a:t>AdamW</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Scheduler: Cosine Annealing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Gradient Clipping </a:t>
            </a:r>
          </a:p>
        </p:txBody>
      </p:sp>
      <p:sp>
        <p:nvSpPr>
          <p:cNvPr id="10" name="TextBox 9">
            <a:extLst>
              <a:ext uri="{FF2B5EF4-FFF2-40B4-BE49-F238E27FC236}">
                <a16:creationId xmlns:a16="http://schemas.microsoft.com/office/drawing/2014/main" id="{A2324A27-02BF-DE7A-06F5-F40AC3973012}"/>
              </a:ext>
            </a:extLst>
          </p:cNvPr>
          <p:cNvSpPr txBox="1"/>
          <p:nvPr/>
        </p:nvSpPr>
        <p:spPr>
          <a:xfrm>
            <a:off x="9208168" y="2454442"/>
            <a:ext cx="2743200"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Regularization: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Batch Normalization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Dropout Layers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Early Stopping</a:t>
            </a:r>
            <a:endParaRPr lang="en-IN" dirty="0"/>
          </a:p>
        </p:txBody>
      </p:sp>
    </p:spTree>
    <p:extLst>
      <p:ext uri="{BB962C8B-B14F-4D97-AF65-F5344CB8AC3E}">
        <p14:creationId xmlns:p14="http://schemas.microsoft.com/office/powerpoint/2010/main" val="1743770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327F-609B-2199-368F-D62C167658C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F9983A-76D8-759F-C2A1-3A1349A6DE90}"/>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FE1E13C-A87E-65BD-9D07-0027CB8D27BE}"/>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9464C63-32BA-D199-EE03-037CA99504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DCB239-4880-D4F8-1B62-9ECF048D0588}"/>
              </a:ext>
            </a:extLst>
          </p:cNvPr>
          <p:cNvSpPr txBox="1"/>
          <p:nvPr/>
        </p:nvSpPr>
        <p:spPr>
          <a:xfrm>
            <a:off x="5429535" y="495934"/>
            <a:ext cx="1332929"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RESULTS</a:t>
            </a:r>
          </a:p>
        </p:txBody>
      </p:sp>
      <p:sp>
        <p:nvSpPr>
          <p:cNvPr id="7" name="Date Placeholder 6">
            <a:extLst>
              <a:ext uri="{FF2B5EF4-FFF2-40B4-BE49-F238E27FC236}">
                <a16:creationId xmlns:a16="http://schemas.microsoft.com/office/drawing/2014/main" id="{E87A41B5-5947-1494-A588-08B7B976BCE8}"/>
              </a:ext>
            </a:extLst>
          </p:cNvPr>
          <p:cNvSpPr>
            <a:spLocks noGrp="1"/>
          </p:cNvSpPr>
          <p:nvPr>
            <p:ph type="dt" sz="half" idx="10"/>
          </p:nvPr>
        </p:nvSpPr>
        <p:spPr/>
        <p:txBody>
          <a:bodyPr/>
          <a:lstStyle/>
          <a:p>
            <a:fld id="{6A0D0D0C-6ED7-4DCE-A036-1D21D0B6637E}" type="datetime9">
              <a:rPr lang="en-US" smtClean="0"/>
              <a:t>4/15/2026 9:21:29 AM</a:t>
            </a:fld>
            <a:endParaRPr lang="en-US"/>
          </a:p>
        </p:txBody>
      </p:sp>
      <p:sp>
        <p:nvSpPr>
          <p:cNvPr id="8" name="Footer Placeholder 7">
            <a:extLst>
              <a:ext uri="{FF2B5EF4-FFF2-40B4-BE49-F238E27FC236}">
                <a16:creationId xmlns:a16="http://schemas.microsoft.com/office/drawing/2014/main" id="{A20D8494-C0E2-2748-3FA7-E2AEDAECCE6B}"/>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52890D17-A439-23B2-D824-35E4D2A1788F}"/>
              </a:ext>
            </a:extLst>
          </p:cNvPr>
          <p:cNvSpPr>
            <a:spLocks noGrp="1"/>
          </p:cNvSpPr>
          <p:nvPr>
            <p:ph type="sldNum" sz="quarter" idx="12"/>
          </p:nvPr>
        </p:nvSpPr>
        <p:spPr/>
        <p:txBody>
          <a:bodyPr/>
          <a:lstStyle/>
          <a:p>
            <a:fld id="{5DA9DDE7-DF24-421B-8B5A-9F7A222497E2}" type="slidenum">
              <a:rPr lang="en-US" smtClean="0"/>
              <a:t>11</a:t>
            </a:fld>
            <a:endParaRPr lang="en-US"/>
          </a:p>
        </p:txBody>
      </p:sp>
      <p:sp>
        <p:nvSpPr>
          <p:cNvPr id="10" name="TextBox 9">
            <a:extLst>
              <a:ext uri="{FF2B5EF4-FFF2-40B4-BE49-F238E27FC236}">
                <a16:creationId xmlns:a16="http://schemas.microsoft.com/office/drawing/2014/main" id="{87820A14-06A8-92A8-C52B-84F7B235CE38}"/>
              </a:ext>
            </a:extLst>
          </p:cNvPr>
          <p:cNvSpPr txBox="1"/>
          <p:nvPr/>
        </p:nvSpPr>
        <p:spPr>
          <a:xfrm>
            <a:off x="838201" y="4560425"/>
            <a:ext cx="9868382"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Proposed Model (CNN + </a:t>
            </a:r>
            <a:r>
              <a:rPr lang="en-IN" b="1" dirty="0" err="1">
                <a:latin typeface="Times New Roman" panose="02020603050405020304" pitchFamily="18" charset="0"/>
                <a:cs typeface="Times New Roman" panose="02020603050405020304" pitchFamily="18" charset="0"/>
              </a:rPr>
              <a:t>BiLSTM</a:t>
            </a:r>
            <a:r>
              <a:rPr lang="en-IN" b="1" dirty="0">
                <a:latin typeface="Times New Roman" panose="02020603050405020304" pitchFamily="18" charset="0"/>
                <a:cs typeface="Times New Roman" panose="02020603050405020304" pitchFamily="18" charset="0"/>
              </a:rPr>
              <a:t> + Attention):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Highest overall accuracy (92.24%)</a:t>
            </a:r>
          </a:p>
          <a:p>
            <a:r>
              <a:rPr lang="en-IN" dirty="0">
                <a:latin typeface="Times New Roman" panose="02020603050405020304" pitchFamily="18" charset="0"/>
                <a:cs typeface="Times New Roman" panose="02020603050405020304" pitchFamily="18" charset="0"/>
              </a:rPr>
              <a:t>Exceptional confidence on unseen clinical data (Insomnia: 99.85%, Narcolepsy: 95.64%, SDB: 92.50%)</a:t>
            </a:r>
          </a:p>
          <a:p>
            <a:r>
              <a:rPr lang="en-IN" dirty="0">
                <a:latin typeface="Times New Roman" panose="02020603050405020304" pitchFamily="18" charset="0"/>
                <a:cs typeface="Times New Roman" panose="02020603050405020304" pitchFamily="18" charset="0"/>
              </a:rPr>
              <a:t>Robust feature discrimination without defaulting to majority classes</a:t>
            </a:r>
          </a:p>
        </p:txBody>
      </p:sp>
      <p:pic>
        <p:nvPicPr>
          <p:cNvPr id="12" name="Picture 11">
            <a:extLst>
              <a:ext uri="{FF2B5EF4-FFF2-40B4-BE49-F238E27FC236}">
                <a16:creationId xmlns:a16="http://schemas.microsoft.com/office/drawing/2014/main" id="{242A4C1A-40D4-7C1E-F891-4C40CA011C13}"/>
              </a:ext>
            </a:extLst>
          </p:cNvPr>
          <p:cNvPicPr>
            <a:picLocks noChangeAspect="1"/>
          </p:cNvPicPr>
          <p:nvPr/>
        </p:nvPicPr>
        <p:blipFill>
          <a:blip r:embed="rId3"/>
          <a:stretch>
            <a:fillRect/>
          </a:stretch>
        </p:blipFill>
        <p:spPr>
          <a:xfrm>
            <a:off x="1925053" y="1364436"/>
            <a:ext cx="8021052" cy="2064563"/>
          </a:xfrm>
          <a:prstGeom prst="rect">
            <a:avLst/>
          </a:prstGeom>
        </p:spPr>
      </p:pic>
      <p:sp>
        <p:nvSpPr>
          <p:cNvPr id="13" name="TextBox 12">
            <a:extLst>
              <a:ext uri="{FF2B5EF4-FFF2-40B4-BE49-F238E27FC236}">
                <a16:creationId xmlns:a16="http://schemas.microsoft.com/office/drawing/2014/main" id="{12C34462-C38D-DCF8-8AB7-EEF0385D499F}"/>
              </a:ext>
            </a:extLst>
          </p:cNvPr>
          <p:cNvSpPr txBox="1"/>
          <p:nvPr/>
        </p:nvSpPr>
        <p:spPr>
          <a:xfrm>
            <a:off x="3240505" y="3577389"/>
            <a:ext cx="595162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 2 : Results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830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CC78B-4930-FBC6-EBC3-5F7C322DFD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09E639C-6E21-6355-47AE-56EAF88C734B}"/>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DEF0F40-01A4-3A11-2FBC-3AF41A67E42E}"/>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E809A914-704E-4566-03DB-CBB81D64C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249E840-5CCD-B90D-8957-3BCA943FE1EC}"/>
              </a:ext>
            </a:extLst>
          </p:cNvPr>
          <p:cNvSpPr txBox="1"/>
          <p:nvPr/>
        </p:nvSpPr>
        <p:spPr>
          <a:xfrm>
            <a:off x="5230218" y="544076"/>
            <a:ext cx="1754006"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DISCUSSION</a:t>
            </a:r>
          </a:p>
        </p:txBody>
      </p:sp>
      <p:sp>
        <p:nvSpPr>
          <p:cNvPr id="7" name="Date Placeholder 6">
            <a:extLst>
              <a:ext uri="{FF2B5EF4-FFF2-40B4-BE49-F238E27FC236}">
                <a16:creationId xmlns:a16="http://schemas.microsoft.com/office/drawing/2014/main" id="{E0403118-E0DC-9EAA-0E09-FA63E8A54647}"/>
              </a:ext>
            </a:extLst>
          </p:cNvPr>
          <p:cNvSpPr>
            <a:spLocks noGrp="1"/>
          </p:cNvSpPr>
          <p:nvPr>
            <p:ph type="dt" sz="half" idx="10"/>
          </p:nvPr>
        </p:nvSpPr>
        <p:spPr/>
        <p:txBody>
          <a:bodyPr/>
          <a:lstStyle/>
          <a:p>
            <a:fld id="{6A0D0D0C-6ED7-4DCE-A036-1D21D0B6637E}" type="datetime9">
              <a:rPr lang="en-US" smtClean="0"/>
              <a:t>4/15/2026 9:21:29 AM</a:t>
            </a:fld>
            <a:endParaRPr lang="en-US"/>
          </a:p>
        </p:txBody>
      </p:sp>
      <p:sp>
        <p:nvSpPr>
          <p:cNvPr id="8" name="Footer Placeholder 7">
            <a:extLst>
              <a:ext uri="{FF2B5EF4-FFF2-40B4-BE49-F238E27FC236}">
                <a16:creationId xmlns:a16="http://schemas.microsoft.com/office/drawing/2014/main" id="{93E75D87-BEFB-35D1-D4C1-05F13C700E8B}"/>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F806674F-893F-52E6-7A39-36A0C13B9F6C}"/>
              </a:ext>
            </a:extLst>
          </p:cNvPr>
          <p:cNvSpPr>
            <a:spLocks noGrp="1"/>
          </p:cNvSpPr>
          <p:nvPr>
            <p:ph type="sldNum" sz="quarter" idx="12"/>
          </p:nvPr>
        </p:nvSpPr>
        <p:spPr/>
        <p:txBody>
          <a:bodyPr/>
          <a:lstStyle/>
          <a:p>
            <a:fld id="{5DA9DDE7-DF24-421B-8B5A-9F7A222497E2}" type="slidenum">
              <a:rPr lang="en-US" smtClean="0"/>
              <a:t>12</a:t>
            </a:fld>
            <a:endParaRPr lang="en-US"/>
          </a:p>
        </p:txBody>
      </p:sp>
      <p:sp>
        <p:nvSpPr>
          <p:cNvPr id="2" name="TextBox 1">
            <a:extLst>
              <a:ext uri="{FF2B5EF4-FFF2-40B4-BE49-F238E27FC236}">
                <a16:creationId xmlns:a16="http://schemas.microsoft.com/office/drawing/2014/main" id="{C7187955-026E-5DF7-5092-D90705BCA9D6}"/>
              </a:ext>
            </a:extLst>
          </p:cNvPr>
          <p:cNvSpPr txBox="1"/>
          <p:nvPr/>
        </p:nvSpPr>
        <p:spPr>
          <a:xfrm>
            <a:off x="759184" y="1215684"/>
            <a:ext cx="10696074"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baseline models fail due to the inability to capture complex temporal EEG dependencies over a full night.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Standard data augmentation techniques (like SMOTE) introduce severe data leakage and overfitting in continuous time-series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deep learning approach improves performance by leveraging both spatial channel relationships and time-frequency domain features.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Applying Weighted Cross-Entropy successfully mitigates majority-class bias (the "Normal" trap) without corrupting validation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combined </a:t>
            </a:r>
            <a:r>
              <a:rPr lang="en-US" sz="2000" dirty="0" err="1">
                <a:latin typeface="Times New Roman" panose="02020603050405020304" pitchFamily="18" charset="0"/>
                <a:cs typeface="Times New Roman" panose="02020603050405020304" pitchFamily="18" charset="0"/>
              </a:rPr>
              <a:t>BiLSTM</a:t>
            </a:r>
            <a:r>
              <a:rPr lang="en-US" sz="2000" dirty="0">
                <a:latin typeface="Times New Roman" panose="02020603050405020304" pitchFamily="18" charset="0"/>
                <a:cs typeface="Times New Roman" panose="02020603050405020304" pitchFamily="18" charset="0"/>
              </a:rPr>
              <a:t> and Attention mechanism captures long-range temporal transitions more effectively than standard CNNs.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combining a spatial-temporal architecture with dynamic class weighting leads to highly stable, decisive sleep disorder classification.</a:t>
            </a:r>
          </a:p>
        </p:txBody>
      </p:sp>
    </p:spTree>
    <p:extLst>
      <p:ext uri="{BB962C8B-B14F-4D97-AF65-F5344CB8AC3E}">
        <p14:creationId xmlns:p14="http://schemas.microsoft.com/office/powerpoint/2010/main" val="3779338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21256-8C13-B4F0-DD90-48AF30AF1D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B8BE272-C470-80B1-7C0E-6673508D66F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2676AFA-28BF-C8DA-7FA1-417EA5CD74F4}"/>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3E4E4AF0-1CE3-6EB0-0215-8DC89A01B3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A657EAF-023F-D7DA-1E0B-9A424D9AE2CB}"/>
              </a:ext>
            </a:extLst>
          </p:cNvPr>
          <p:cNvSpPr txBox="1"/>
          <p:nvPr/>
        </p:nvSpPr>
        <p:spPr>
          <a:xfrm>
            <a:off x="5133235" y="491074"/>
            <a:ext cx="1925527" cy="400110"/>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CONCLUSION</a:t>
            </a:r>
          </a:p>
        </p:txBody>
      </p:sp>
      <p:sp>
        <p:nvSpPr>
          <p:cNvPr id="7" name="Date Placeholder 6">
            <a:extLst>
              <a:ext uri="{FF2B5EF4-FFF2-40B4-BE49-F238E27FC236}">
                <a16:creationId xmlns:a16="http://schemas.microsoft.com/office/drawing/2014/main" id="{1F1EF047-054E-A2EE-E08B-ACCB28234247}"/>
              </a:ext>
            </a:extLst>
          </p:cNvPr>
          <p:cNvSpPr>
            <a:spLocks noGrp="1"/>
          </p:cNvSpPr>
          <p:nvPr>
            <p:ph type="dt" sz="half" idx="10"/>
          </p:nvPr>
        </p:nvSpPr>
        <p:spPr/>
        <p:txBody>
          <a:bodyPr/>
          <a:lstStyle/>
          <a:p>
            <a:fld id="{6A0D0D0C-6ED7-4DCE-A036-1D21D0B6637E}" type="datetime9">
              <a:rPr lang="en-US" smtClean="0"/>
              <a:t>4/15/2026 9:21:29 AM</a:t>
            </a:fld>
            <a:endParaRPr lang="en-US"/>
          </a:p>
        </p:txBody>
      </p:sp>
      <p:sp>
        <p:nvSpPr>
          <p:cNvPr id="8" name="Footer Placeholder 7">
            <a:extLst>
              <a:ext uri="{FF2B5EF4-FFF2-40B4-BE49-F238E27FC236}">
                <a16:creationId xmlns:a16="http://schemas.microsoft.com/office/drawing/2014/main" id="{D54FF1A2-27ED-1A32-9211-DDAD46E01168}"/>
              </a:ext>
            </a:extLst>
          </p:cNvPr>
          <p:cNvSpPr>
            <a:spLocks noGrp="1"/>
          </p:cNvSpPr>
          <p:nvPr>
            <p:ph type="ftr" sz="quarter" idx="11"/>
          </p:nvPr>
        </p:nvSpPr>
        <p:spPr/>
        <p:txBody>
          <a:bodyPr/>
          <a:lstStyle/>
          <a:p>
            <a:r>
              <a:rPr lang="en-US"/>
              <a:t>When Labels Are Scarce, Can Graph Structure Outperform Text in Rumor Detection?</a:t>
            </a:r>
          </a:p>
        </p:txBody>
      </p:sp>
      <p:sp>
        <p:nvSpPr>
          <p:cNvPr id="9" name="Slide Number Placeholder 8">
            <a:extLst>
              <a:ext uri="{FF2B5EF4-FFF2-40B4-BE49-F238E27FC236}">
                <a16:creationId xmlns:a16="http://schemas.microsoft.com/office/drawing/2014/main" id="{559893BF-7653-1494-8F41-08EE050EC94C}"/>
              </a:ext>
            </a:extLst>
          </p:cNvPr>
          <p:cNvSpPr>
            <a:spLocks noGrp="1"/>
          </p:cNvSpPr>
          <p:nvPr>
            <p:ph type="sldNum" sz="quarter" idx="12"/>
          </p:nvPr>
        </p:nvSpPr>
        <p:spPr/>
        <p:txBody>
          <a:bodyPr/>
          <a:lstStyle/>
          <a:p>
            <a:fld id="{5DA9DDE7-DF24-421B-8B5A-9F7A222497E2}" type="slidenum">
              <a:rPr lang="en-US" smtClean="0"/>
              <a:t>13</a:t>
            </a:fld>
            <a:endParaRPr lang="en-US"/>
          </a:p>
        </p:txBody>
      </p:sp>
      <p:sp>
        <p:nvSpPr>
          <p:cNvPr id="2" name="TextBox 1">
            <a:extLst>
              <a:ext uri="{FF2B5EF4-FFF2-40B4-BE49-F238E27FC236}">
                <a16:creationId xmlns:a16="http://schemas.microsoft.com/office/drawing/2014/main" id="{6BFDDB70-7D63-5917-4FFF-B5301B638184}"/>
              </a:ext>
            </a:extLst>
          </p:cNvPr>
          <p:cNvSpPr txBox="1"/>
          <p:nvPr/>
        </p:nvSpPr>
        <p:spPr>
          <a:xfrm>
            <a:off x="613610" y="980185"/>
            <a:ext cx="11000873" cy="3228063"/>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Automated sleep disorder detection is challenging due to subtle EEG variations and heavy class imbalance.</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feature-extraction models are insufficient for capturing complex, non-linear brainwave transitions.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CNN + </a:t>
            </a:r>
            <a:r>
              <a:rPr lang="en-IN" dirty="0" err="1">
                <a:latin typeface="Times New Roman" panose="02020603050405020304" pitchFamily="18" charset="0"/>
                <a:cs typeface="Times New Roman" panose="02020603050405020304" pitchFamily="18" charset="0"/>
              </a:rPr>
              <a:t>BiLSTM</a:t>
            </a:r>
            <a:r>
              <a:rPr lang="en-IN" dirty="0">
                <a:latin typeface="Times New Roman" panose="02020603050405020304" pitchFamily="18" charset="0"/>
                <a:cs typeface="Times New Roman" panose="02020603050405020304" pitchFamily="18" charset="0"/>
              </a:rPr>
              <a:t> architecture effectively utilizes both local waveform structures and global sleep patterns.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Integrating a Multi-Head Attention mechanism with dynamic loss weighting significantly improves diagnostic accuracy (&gt;92%).</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Eliminating artificial data synthesis ensures highly robust and trustworthy performance on unseen clinical patient files.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framework demonstrates exceptional confidence (&gt;95%) in distinguishing severe disorders like Narcolepsy and Insomnia from normal sleep.</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26ACFFC-D722-A81A-0DE9-9E9B969C5574}"/>
              </a:ext>
            </a:extLst>
          </p:cNvPr>
          <p:cNvSpPr txBox="1"/>
          <p:nvPr/>
        </p:nvSpPr>
        <p:spPr>
          <a:xfrm>
            <a:off x="613610" y="4174512"/>
            <a:ext cx="10740190" cy="1754326"/>
          </a:xfrm>
          <a:prstGeom prst="rect">
            <a:avLst/>
          </a:prstGeom>
          <a:noFill/>
        </p:spPr>
        <p:txBody>
          <a:bodyPr wrap="square" rtlCol="0">
            <a:spAutoFit/>
          </a:bodyPr>
          <a:lstStyle/>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Incorporate real-time continuous EEG streaming data for live monitoring.</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advanced multimodal clinical data (adding ECG, EOG, and EMG signals).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model interpretability by visualizing which specific brainwave epochs triggered the final diagnosis.</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Extend the framework to perform granular sleep stage scoring (N1, N2, N3, REM) alongside disorder detection.</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Optimize and deploy the model as an embedded system for wearable sleep-tracking devices.</a:t>
            </a:r>
          </a:p>
        </p:txBody>
      </p:sp>
      <p:sp>
        <p:nvSpPr>
          <p:cNvPr id="10" name="TextBox 9">
            <a:extLst>
              <a:ext uri="{FF2B5EF4-FFF2-40B4-BE49-F238E27FC236}">
                <a16:creationId xmlns:a16="http://schemas.microsoft.com/office/drawing/2014/main" id="{F806B2FE-C6AD-3318-6E48-92EDE3D5457E}"/>
              </a:ext>
            </a:extLst>
          </p:cNvPr>
          <p:cNvSpPr txBox="1"/>
          <p:nvPr/>
        </p:nvSpPr>
        <p:spPr>
          <a:xfrm>
            <a:off x="4468126" y="3700952"/>
            <a:ext cx="3291840" cy="369332"/>
          </a:xfrm>
          <a:prstGeom prst="rect">
            <a:avLst/>
          </a:prstGeom>
          <a:noFill/>
        </p:spPr>
        <p:txBody>
          <a:bodyPr wrap="square" rtlCol="0">
            <a:spAutoFit/>
          </a:bodyPr>
          <a:lstStyle/>
          <a:p>
            <a:pPr algn="ctr"/>
            <a:r>
              <a:rPr lang="en-US" b="1" dirty="0">
                <a:solidFill>
                  <a:srgbClr val="FF0000"/>
                </a:solidFill>
                <a:latin typeface="Times New Roman" panose="02020603050405020304" pitchFamily="18" charset="0"/>
                <a:cs typeface="Times New Roman" panose="02020603050405020304" pitchFamily="18" charset="0"/>
              </a:rPr>
              <a:t>FUTURE WORKS</a:t>
            </a:r>
            <a:endParaRPr lang="en-IN" dirty="0"/>
          </a:p>
        </p:txBody>
      </p:sp>
    </p:spTree>
    <p:extLst>
      <p:ext uri="{BB962C8B-B14F-4D97-AF65-F5344CB8AC3E}">
        <p14:creationId xmlns:p14="http://schemas.microsoft.com/office/powerpoint/2010/main" val="1248527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CCD1-8B62-C643-D2A8-5878CF0BD1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4788D3-C1CE-2A1B-4469-7BA81C59C5F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5C7F72-17F2-FE35-6291-F75C5B005D6F}"/>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54A4294-4842-D7B6-CD4A-8AEB041ABF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1B903ECB-7F2D-6BAD-3BE3-4F95C45218AB}"/>
              </a:ext>
            </a:extLst>
          </p:cNvPr>
          <p:cNvSpPr>
            <a:spLocks noGrp="1"/>
          </p:cNvSpPr>
          <p:nvPr>
            <p:ph type="dt" sz="half" idx="10"/>
          </p:nvPr>
        </p:nvSpPr>
        <p:spPr/>
        <p:txBody>
          <a:bodyPr/>
          <a:lstStyle/>
          <a:p>
            <a:fld id="{EBF34198-D0F8-473C-B452-6F2C90381FC3}" type="datetime9">
              <a:rPr lang="en-US" smtClean="0"/>
              <a:t>4/15/2026 9:21:29 AM</a:t>
            </a:fld>
            <a:endParaRPr lang="en-US"/>
          </a:p>
        </p:txBody>
      </p:sp>
      <p:sp>
        <p:nvSpPr>
          <p:cNvPr id="3" name="Footer Placeholder 2">
            <a:extLst>
              <a:ext uri="{FF2B5EF4-FFF2-40B4-BE49-F238E27FC236}">
                <a16:creationId xmlns:a16="http://schemas.microsoft.com/office/drawing/2014/main" id="{8F974FD3-830B-14B5-A5B0-4260D8F5D04A}"/>
              </a:ext>
            </a:extLst>
          </p:cNvPr>
          <p:cNvSpPr>
            <a:spLocks noGrp="1"/>
          </p:cNvSpPr>
          <p:nvPr>
            <p:ph type="ftr" sz="quarter" idx="11"/>
          </p:nvPr>
        </p:nvSpPr>
        <p:spPr/>
        <p:txBody>
          <a:bodyPr/>
          <a:lstStyle/>
          <a:p>
            <a:r>
              <a:rPr lang="en-US"/>
              <a:t>When Labels Are Scarce, Can Graph Structure Outperform Text in Rumor Detection?</a:t>
            </a:r>
          </a:p>
        </p:txBody>
      </p:sp>
      <p:sp>
        <p:nvSpPr>
          <p:cNvPr id="6" name="Slide Number Placeholder 5">
            <a:extLst>
              <a:ext uri="{FF2B5EF4-FFF2-40B4-BE49-F238E27FC236}">
                <a16:creationId xmlns:a16="http://schemas.microsoft.com/office/drawing/2014/main" id="{666470D0-0F09-517A-9B44-8DCF9FD386D3}"/>
              </a:ext>
            </a:extLst>
          </p:cNvPr>
          <p:cNvSpPr>
            <a:spLocks noGrp="1"/>
          </p:cNvSpPr>
          <p:nvPr>
            <p:ph type="sldNum" sz="quarter" idx="12"/>
          </p:nvPr>
        </p:nvSpPr>
        <p:spPr/>
        <p:txBody>
          <a:bodyPr/>
          <a:lstStyle/>
          <a:p>
            <a:fld id="{5DA9DDE7-DF24-421B-8B5A-9F7A222497E2}" type="slidenum">
              <a:rPr lang="en-US" smtClean="0"/>
              <a:t>14</a:t>
            </a:fld>
            <a:endParaRPr lang="en-US"/>
          </a:p>
        </p:txBody>
      </p:sp>
      <p:sp>
        <p:nvSpPr>
          <p:cNvPr id="7" name="TextBox 6">
            <a:extLst>
              <a:ext uri="{FF2B5EF4-FFF2-40B4-BE49-F238E27FC236}">
                <a16:creationId xmlns:a16="http://schemas.microsoft.com/office/drawing/2014/main" id="{C5937D63-51F1-28D8-A3B8-07E47F6E84E3}"/>
              </a:ext>
            </a:extLst>
          </p:cNvPr>
          <p:cNvSpPr txBox="1"/>
          <p:nvPr/>
        </p:nvSpPr>
        <p:spPr>
          <a:xfrm>
            <a:off x="3954270" y="653143"/>
            <a:ext cx="4283480"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References (IEEE Format)</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3F14EFA-52DD-4642-D09C-9AD6D8F49C17}"/>
              </a:ext>
            </a:extLst>
          </p:cNvPr>
          <p:cNvSpPr txBox="1"/>
          <p:nvPr/>
        </p:nvSpPr>
        <p:spPr>
          <a:xfrm>
            <a:off x="595131" y="1176363"/>
            <a:ext cx="11001737" cy="4197559"/>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[1] M. </a:t>
            </a:r>
            <a:r>
              <a:rPr lang="en-IN" dirty="0" err="1">
                <a:latin typeface="Times New Roman" panose="02020603050405020304" pitchFamily="18" charset="0"/>
                <a:cs typeface="Times New Roman" panose="02020603050405020304" pitchFamily="18" charset="0"/>
              </a:rPr>
              <a:t>Albathan</a:t>
            </a:r>
            <a:r>
              <a:rPr lang="en-IN" dirty="0">
                <a:latin typeface="Times New Roman" panose="02020603050405020304" pitchFamily="18" charset="0"/>
                <a:cs typeface="Times New Roman" panose="02020603050405020304" pitchFamily="18" charset="0"/>
              </a:rPr>
              <a:t>, “Sleep disorder diagnosis through complex-Morlet wavelet representation using Bi-GRU and self-attention,” International Journal of Advanced Computer Science and Applications (IJACSA), vol. 15, no. 8, pp. 129–142, Aug. 2024.</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[2] A. Phan, S. M. Andreotti, N. Cooray, O. Y. Chen, and M. De Vos, “Automatic sleep disorder detection using EEG signals and deep learning,” IEEE Journal of Biomedical and Health Informatics, vol. 26, no. 4, pp. 1684–1694, Apr. 2022,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10.1109/JBHI.2021.3117493.</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[3] M. H. Hassan and A. Subasi, “Recognition of sleep disorders from EEG signals using deep learning techniques,” Expert Systems with Applications,vol.162, p. 113738, Jan. 2021,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10.1016/j.eswa.2020.113738.</a:t>
            </a:r>
          </a:p>
        </p:txBody>
      </p:sp>
    </p:spTree>
    <p:extLst>
      <p:ext uri="{BB962C8B-B14F-4D97-AF65-F5344CB8AC3E}">
        <p14:creationId xmlns:p14="http://schemas.microsoft.com/office/powerpoint/2010/main" val="34670153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1063</TotalTime>
  <Words>1704</Words>
  <Application>Microsoft Office PowerPoint</Application>
  <PresentationFormat>Widescreen</PresentationFormat>
  <Paragraphs>194</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padakanti dilip</dc:creator>
  <cp:lastModifiedBy>Durga Prasad</cp:lastModifiedBy>
  <cp:revision>14</cp:revision>
  <dcterms:created xsi:type="dcterms:W3CDTF">2025-08-28T08:39:55Z</dcterms:created>
  <dcterms:modified xsi:type="dcterms:W3CDTF">2026-04-15T05:32:23Z</dcterms:modified>
</cp:coreProperties>
</file>