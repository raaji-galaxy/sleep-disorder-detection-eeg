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8" r:id="rId3"/>
    <p:sldId id="267" r:id="rId4"/>
    <p:sldId id="268" r:id="rId5"/>
    <p:sldId id="270" r:id="rId6"/>
    <p:sldId id="272" r:id="rId7"/>
    <p:sldId id="275" r:id="rId8"/>
    <p:sldId id="273" r:id="rId9"/>
    <p:sldId id="278" r:id="rId10"/>
    <p:sldId id="277" r:id="rId11"/>
    <p:sldId id="279" r:id="rId12"/>
    <p:sldId id="280" r:id="rId13"/>
    <p:sldId id="281" r:id="rId14"/>
    <p:sldId id="282" r:id="rId15"/>
    <p:sldId id="283" r:id="rId16"/>
    <p:sldId id="26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2E5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01EDA1-EBEF-4BA1-B5F4-63C1136EDECF}" v="2" dt="2026-01-29T20:18:39.2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065" autoAdjust="0"/>
  </p:normalViewPr>
  <p:slideViewPr>
    <p:cSldViewPr snapToGrid="0">
      <p:cViewPr varScale="1">
        <p:scale>
          <a:sx n="74" d="100"/>
          <a:sy n="74" d="100"/>
        </p:scale>
        <p:origin x="1042" y="7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3253CB-09B8-40CA-A423-1F16116BB963}" type="datetimeFigureOut">
              <a:rPr lang="en-US" smtClean="0"/>
              <a:t>5/2/2026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8016FF-DD62-4339-958E-2E587ABE146C}" type="slidenum">
              <a:rPr lang="en-US" smtClean="0"/>
              <a:t>‹#›</a:t>
            </a:fld>
            <a:endParaRPr lang="en-US"/>
          </a:p>
        </p:txBody>
      </p:sp>
    </p:spTree>
    <p:extLst>
      <p:ext uri="{BB962C8B-B14F-4D97-AF65-F5344CB8AC3E}">
        <p14:creationId xmlns:p14="http://schemas.microsoft.com/office/powerpoint/2010/main" val="1213219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68016FF-DD62-4339-958E-2E587ABE146C}" type="slidenum">
              <a:rPr lang="en-US" smtClean="0"/>
              <a:t>1</a:t>
            </a:fld>
            <a:endParaRPr lang="en-US"/>
          </a:p>
        </p:txBody>
      </p:sp>
    </p:spTree>
    <p:extLst>
      <p:ext uri="{BB962C8B-B14F-4D97-AF65-F5344CB8AC3E}">
        <p14:creationId xmlns:p14="http://schemas.microsoft.com/office/powerpoint/2010/main" val="33760980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01EF2-8C8D-78BB-E138-627C0164E4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ABE137A-826E-51EE-7F83-659F0C73F4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ADED2E3-0160-A14D-196B-48C7A410F695}"/>
              </a:ext>
            </a:extLst>
          </p:cNvPr>
          <p:cNvSpPr>
            <a:spLocks noGrp="1"/>
          </p:cNvSpPr>
          <p:nvPr>
            <p:ph type="dt" sz="half" idx="10"/>
          </p:nvPr>
        </p:nvSpPr>
        <p:spPr/>
        <p:txBody>
          <a:bodyPr/>
          <a:lstStyle/>
          <a:p>
            <a:fld id="{403630E8-426A-42DA-9FC0-D01BCEB8607E}" type="datetime9">
              <a:rPr lang="en-US" smtClean="0"/>
              <a:t>5/2/2026 12:09:58 AM</a:t>
            </a:fld>
            <a:endParaRPr lang="en-US"/>
          </a:p>
        </p:txBody>
      </p:sp>
      <p:sp>
        <p:nvSpPr>
          <p:cNvPr id="5" name="Footer Placeholder 4">
            <a:extLst>
              <a:ext uri="{FF2B5EF4-FFF2-40B4-BE49-F238E27FC236}">
                <a16:creationId xmlns:a16="http://schemas.microsoft.com/office/drawing/2014/main" id="{E075C468-6B81-59B7-E4AF-F243017A2F41}"/>
              </a:ext>
            </a:extLst>
          </p:cNvPr>
          <p:cNvSpPr>
            <a:spLocks noGrp="1"/>
          </p:cNvSpPr>
          <p:nvPr>
            <p:ph type="ftr" sz="quarter" idx="11"/>
          </p:nvPr>
        </p:nvSpPr>
        <p:spPr/>
        <p:txBody>
          <a:bodyPr/>
          <a:lstStyle/>
          <a:p>
            <a:r>
              <a:rPr lang="en-US"/>
              <a:t>Deep Learning-Based Sleep Disorder Detection Using EEG Signal Analysis</a:t>
            </a:r>
          </a:p>
        </p:txBody>
      </p:sp>
      <p:sp>
        <p:nvSpPr>
          <p:cNvPr id="6" name="Slide Number Placeholder 5">
            <a:extLst>
              <a:ext uri="{FF2B5EF4-FFF2-40B4-BE49-F238E27FC236}">
                <a16:creationId xmlns:a16="http://schemas.microsoft.com/office/drawing/2014/main" id="{96BDFF70-4AC8-BC09-028E-52C4AC1C458C}"/>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1924539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80BF9-CE2F-27EE-45B3-83C15B55E5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10D8DE-D23A-2743-129B-0C9DABE7C5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456D65-7E39-D890-1D6C-F13ED3CD7BDD}"/>
              </a:ext>
            </a:extLst>
          </p:cNvPr>
          <p:cNvSpPr>
            <a:spLocks noGrp="1"/>
          </p:cNvSpPr>
          <p:nvPr>
            <p:ph type="dt" sz="half" idx="10"/>
          </p:nvPr>
        </p:nvSpPr>
        <p:spPr/>
        <p:txBody>
          <a:bodyPr/>
          <a:lstStyle/>
          <a:p>
            <a:fld id="{7E590353-9944-40A5-84FC-BF000FBFB6CA}" type="datetime9">
              <a:rPr lang="en-US" smtClean="0"/>
              <a:t>5/2/2026 12:09:59 AM</a:t>
            </a:fld>
            <a:endParaRPr lang="en-US"/>
          </a:p>
        </p:txBody>
      </p:sp>
      <p:sp>
        <p:nvSpPr>
          <p:cNvPr id="5" name="Footer Placeholder 4">
            <a:extLst>
              <a:ext uri="{FF2B5EF4-FFF2-40B4-BE49-F238E27FC236}">
                <a16:creationId xmlns:a16="http://schemas.microsoft.com/office/drawing/2014/main" id="{D2D5724B-31D1-182E-FF79-40657751948F}"/>
              </a:ext>
            </a:extLst>
          </p:cNvPr>
          <p:cNvSpPr>
            <a:spLocks noGrp="1"/>
          </p:cNvSpPr>
          <p:nvPr>
            <p:ph type="ftr" sz="quarter" idx="11"/>
          </p:nvPr>
        </p:nvSpPr>
        <p:spPr/>
        <p:txBody>
          <a:bodyPr/>
          <a:lstStyle/>
          <a:p>
            <a:r>
              <a:rPr lang="en-US"/>
              <a:t>Deep Learning-Based Sleep Disorder Detection Using EEG Signal Analysis</a:t>
            </a:r>
          </a:p>
        </p:txBody>
      </p:sp>
      <p:sp>
        <p:nvSpPr>
          <p:cNvPr id="6" name="Slide Number Placeholder 5">
            <a:extLst>
              <a:ext uri="{FF2B5EF4-FFF2-40B4-BE49-F238E27FC236}">
                <a16:creationId xmlns:a16="http://schemas.microsoft.com/office/drawing/2014/main" id="{46A9AEBC-ABF6-507B-44E1-699EC18AAAA6}"/>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3372588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DAD95-146C-05FE-4251-8831DF6632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8B9F32-F259-7D8C-1BA9-F41BE9A1E8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2B79FE-1E00-659F-7ED8-34F19CCCF9BC}"/>
              </a:ext>
            </a:extLst>
          </p:cNvPr>
          <p:cNvSpPr>
            <a:spLocks noGrp="1"/>
          </p:cNvSpPr>
          <p:nvPr>
            <p:ph type="dt" sz="half" idx="10"/>
          </p:nvPr>
        </p:nvSpPr>
        <p:spPr/>
        <p:txBody>
          <a:bodyPr/>
          <a:lstStyle/>
          <a:p>
            <a:fld id="{447C6A7B-ABAE-4EB5-8C6B-A1996BEA8B50}" type="datetime9">
              <a:rPr lang="en-US" smtClean="0"/>
              <a:t>5/2/2026 12:09:59 AM</a:t>
            </a:fld>
            <a:endParaRPr lang="en-US"/>
          </a:p>
        </p:txBody>
      </p:sp>
      <p:sp>
        <p:nvSpPr>
          <p:cNvPr id="5" name="Footer Placeholder 4">
            <a:extLst>
              <a:ext uri="{FF2B5EF4-FFF2-40B4-BE49-F238E27FC236}">
                <a16:creationId xmlns:a16="http://schemas.microsoft.com/office/drawing/2014/main" id="{9437C2B5-199C-8087-3D5F-338CFCCD924B}"/>
              </a:ext>
            </a:extLst>
          </p:cNvPr>
          <p:cNvSpPr>
            <a:spLocks noGrp="1"/>
          </p:cNvSpPr>
          <p:nvPr>
            <p:ph type="ftr" sz="quarter" idx="11"/>
          </p:nvPr>
        </p:nvSpPr>
        <p:spPr/>
        <p:txBody>
          <a:bodyPr/>
          <a:lstStyle/>
          <a:p>
            <a:r>
              <a:rPr lang="en-US"/>
              <a:t>Deep Learning-Based Sleep Disorder Detection Using EEG Signal Analysis</a:t>
            </a:r>
          </a:p>
        </p:txBody>
      </p:sp>
      <p:sp>
        <p:nvSpPr>
          <p:cNvPr id="6" name="Slide Number Placeholder 5">
            <a:extLst>
              <a:ext uri="{FF2B5EF4-FFF2-40B4-BE49-F238E27FC236}">
                <a16:creationId xmlns:a16="http://schemas.microsoft.com/office/drawing/2014/main" id="{B9099207-F8A8-04CC-78FF-60A26E4CE36F}"/>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2179797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3E8C8-8D3D-ACEA-B867-A22C1589CC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55BCC7-AC46-A8E5-71EB-96E399C792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8BAF31-C5AD-FCCF-4F55-1BBFF154F9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2EF56F-E683-099E-D9FC-CFD47D737C3B}"/>
              </a:ext>
            </a:extLst>
          </p:cNvPr>
          <p:cNvSpPr>
            <a:spLocks noGrp="1"/>
          </p:cNvSpPr>
          <p:nvPr>
            <p:ph type="dt" sz="half" idx="10"/>
          </p:nvPr>
        </p:nvSpPr>
        <p:spPr/>
        <p:txBody>
          <a:bodyPr/>
          <a:lstStyle/>
          <a:p>
            <a:fld id="{5055DAA9-20CF-411F-85CA-5BDD3EAA3AA2}" type="datetime9">
              <a:rPr lang="en-US" smtClean="0"/>
              <a:t>5/2/2026 12:09:59 AM</a:t>
            </a:fld>
            <a:endParaRPr lang="en-US"/>
          </a:p>
        </p:txBody>
      </p:sp>
      <p:sp>
        <p:nvSpPr>
          <p:cNvPr id="6" name="Footer Placeholder 5">
            <a:extLst>
              <a:ext uri="{FF2B5EF4-FFF2-40B4-BE49-F238E27FC236}">
                <a16:creationId xmlns:a16="http://schemas.microsoft.com/office/drawing/2014/main" id="{F54599AB-4809-E851-9B67-ECAB8ADDB714}"/>
              </a:ext>
            </a:extLst>
          </p:cNvPr>
          <p:cNvSpPr>
            <a:spLocks noGrp="1"/>
          </p:cNvSpPr>
          <p:nvPr>
            <p:ph type="ftr" sz="quarter" idx="11"/>
          </p:nvPr>
        </p:nvSpPr>
        <p:spPr/>
        <p:txBody>
          <a:bodyPr/>
          <a:lstStyle/>
          <a:p>
            <a:r>
              <a:rPr lang="en-US"/>
              <a:t>Deep Learning-Based Sleep Disorder Detection Using EEG Signal Analysis</a:t>
            </a:r>
          </a:p>
        </p:txBody>
      </p:sp>
      <p:sp>
        <p:nvSpPr>
          <p:cNvPr id="7" name="Slide Number Placeholder 6">
            <a:extLst>
              <a:ext uri="{FF2B5EF4-FFF2-40B4-BE49-F238E27FC236}">
                <a16:creationId xmlns:a16="http://schemas.microsoft.com/office/drawing/2014/main" id="{774630DA-BE55-BF31-40AD-DDCC865E5A5C}"/>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1989471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6A9CE-784E-4180-E8BE-C03B81F95F4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2122279-09AA-9CF0-4BBC-729E43057A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4927B1-1A23-EAE2-F82E-47B4B883B0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F2EAF30-42FB-1D79-65DB-57142CD172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5CA3DB-772D-7ED2-C578-3EC3076F84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E82514D-35C7-8244-9E9E-BDF6DE5362E5}"/>
              </a:ext>
            </a:extLst>
          </p:cNvPr>
          <p:cNvSpPr>
            <a:spLocks noGrp="1"/>
          </p:cNvSpPr>
          <p:nvPr>
            <p:ph type="dt" sz="half" idx="10"/>
          </p:nvPr>
        </p:nvSpPr>
        <p:spPr/>
        <p:txBody>
          <a:bodyPr/>
          <a:lstStyle/>
          <a:p>
            <a:fld id="{F943974D-0432-43F4-93F8-D783E22213A0}" type="datetime9">
              <a:rPr lang="en-US" smtClean="0"/>
              <a:t>5/2/2026 12:09:59 AM</a:t>
            </a:fld>
            <a:endParaRPr lang="en-US"/>
          </a:p>
        </p:txBody>
      </p:sp>
      <p:sp>
        <p:nvSpPr>
          <p:cNvPr id="8" name="Footer Placeholder 7">
            <a:extLst>
              <a:ext uri="{FF2B5EF4-FFF2-40B4-BE49-F238E27FC236}">
                <a16:creationId xmlns:a16="http://schemas.microsoft.com/office/drawing/2014/main" id="{42D5056D-8D07-E614-FAF9-F4A89F3F00FC}"/>
              </a:ext>
            </a:extLst>
          </p:cNvPr>
          <p:cNvSpPr>
            <a:spLocks noGrp="1"/>
          </p:cNvSpPr>
          <p:nvPr>
            <p:ph type="ftr" sz="quarter" idx="11"/>
          </p:nvPr>
        </p:nvSpPr>
        <p:spPr/>
        <p:txBody>
          <a:bodyPr/>
          <a:lstStyle/>
          <a:p>
            <a:r>
              <a:rPr lang="en-US"/>
              <a:t>Deep Learning-Based Sleep Disorder Detection Using EEG Signal Analysis</a:t>
            </a:r>
          </a:p>
        </p:txBody>
      </p:sp>
      <p:sp>
        <p:nvSpPr>
          <p:cNvPr id="9" name="Slide Number Placeholder 8">
            <a:extLst>
              <a:ext uri="{FF2B5EF4-FFF2-40B4-BE49-F238E27FC236}">
                <a16:creationId xmlns:a16="http://schemas.microsoft.com/office/drawing/2014/main" id="{83ED0DBF-0A43-EA09-7ADC-FBCAFD0F22CA}"/>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3103410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90AAA-199F-8167-4839-0088D47C2C3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E5076C3-01E7-BC98-2569-ABC12DF55A44}"/>
              </a:ext>
            </a:extLst>
          </p:cNvPr>
          <p:cNvSpPr>
            <a:spLocks noGrp="1"/>
          </p:cNvSpPr>
          <p:nvPr>
            <p:ph type="dt" sz="half" idx="10"/>
          </p:nvPr>
        </p:nvSpPr>
        <p:spPr/>
        <p:txBody>
          <a:bodyPr/>
          <a:lstStyle/>
          <a:p>
            <a:fld id="{3840B867-F05A-43E3-B6E8-9A9A2D4FC8FD}" type="datetime9">
              <a:rPr lang="en-US" smtClean="0"/>
              <a:t>5/2/2026 12:09:59 AM</a:t>
            </a:fld>
            <a:endParaRPr lang="en-US"/>
          </a:p>
        </p:txBody>
      </p:sp>
      <p:sp>
        <p:nvSpPr>
          <p:cNvPr id="4" name="Footer Placeholder 3">
            <a:extLst>
              <a:ext uri="{FF2B5EF4-FFF2-40B4-BE49-F238E27FC236}">
                <a16:creationId xmlns:a16="http://schemas.microsoft.com/office/drawing/2014/main" id="{2AA5C32E-A1BA-308B-2FE7-653161809CE4}"/>
              </a:ext>
            </a:extLst>
          </p:cNvPr>
          <p:cNvSpPr>
            <a:spLocks noGrp="1"/>
          </p:cNvSpPr>
          <p:nvPr>
            <p:ph type="ftr" sz="quarter" idx="11"/>
          </p:nvPr>
        </p:nvSpPr>
        <p:spPr/>
        <p:txBody>
          <a:bodyPr/>
          <a:lstStyle/>
          <a:p>
            <a:r>
              <a:rPr lang="en-US"/>
              <a:t>Deep Learning-Based Sleep Disorder Detection Using EEG Signal Analysis</a:t>
            </a:r>
          </a:p>
        </p:txBody>
      </p:sp>
      <p:sp>
        <p:nvSpPr>
          <p:cNvPr id="5" name="Slide Number Placeholder 4">
            <a:extLst>
              <a:ext uri="{FF2B5EF4-FFF2-40B4-BE49-F238E27FC236}">
                <a16:creationId xmlns:a16="http://schemas.microsoft.com/office/drawing/2014/main" id="{0F90D3CF-653C-5938-6CB7-9C3BA947B583}"/>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475930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9663EB-5CFA-1A60-D6EA-5566841AC087}"/>
              </a:ext>
            </a:extLst>
          </p:cNvPr>
          <p:cNvSpPr>
            <a:spLocks noGrp="1"/>
          </p:cNvSpPr>
          <p:nvPr>
            <p:ph type="dt" sz="half" idx="10"/>
          </p:nvPr>
        </p:nvSpPr>
        <p:spPr/>
        <p:txBody>
          <a:bodyPr/>
          <a:lstStyle/>
          <a:p>
            <a:fld id="{8922EB3C-7E61-4327-9072-C3BB00696A87}" type="datetime9">
              <a:rPr lang="en-US" smtClean="0"/>
              <a:t>5/2/2026 12:09:59 AM</a:t>
            </a:fld>
            <a:endParaRPr lang="en-US"/>
          </a:p>
        </p:txBody>
      </p:sp>
      <p:sp>
        <p:nvSpPr>
          <p:cNvPr id="3" name="Footer Placeholder 2">
            <a:extLst>
              <a:ext uri="{FF2B5EF4-FFF2-40B4-BE49-F238E27FC236}">
                <a16:creationId xmlns:a16="http://schemas.microsoft.com/office/drawing/2014/main" id="{A53BA782-74A4-9C42-4E46-F4044C4D9EC5}"/>
              </a:ext>
            </a:extLst>
          </p:cNvPr>
          <p:cNvSpPr>
            <a:spLocks noGrp="1"/>
          </p:cNvSpPr>
          <p:nvPr>
            <p:ph type="ftr" sz="quarter" idx="11"/>
          </p:nvPr>
        </p:nvSpPr>
        <p:spPr/>
        <p:txBody>
          <a:bodyPr/>
          <a:lstStyle/>
          <a:p>
            <a:r>
              <a:rPr lang="en-US"/>
              <a:t>Deep Learning-Based Sleep Disorder Detection Using EEG Signal Analysis</a:t>
            </a:r>
          </a:p>
        </p:txBody>
      </p:sp>
      <p:sp>
        <p:nvSpPr>
          <p:cNvPr id="4" name="Slide Number Placeholder 3">
            <a:extLst>
              <a:ext uri="{FF2B5EF4-FFF2-40B4-BE49-F238E27FC236}">
                <a16:creationId xmlns:a16="http://schemas.microsoft.com/office/drawing/2014/main" id="{74CA02C9-315F-43FF-625B-413CDCBF0497}"/>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3409505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7A04A-6997-6DFB-904B-48CAD2EAE3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1B02B9D-EC7D-AEC3-ED06-6CE8D8B0F2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E39FE14-FF67-27E4-8334-72C7E3E482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2E88D0-198F-8842-87A0-2F3E984ADCB7}"/>
              </a:ext>
            </a:extLst>
          </p:cNvPr>
          <p:cNvSpPr>
            <a:spLocks noGrp="1"/>
          </p:cNvSpPr>
          <p:nvPr>
            <p:ph type="dt" sz="half" idx="10"/>
          </p:nvPr>
        </p:nvSpPr>
        <p:spPr/>
        <p:txBody>
          <a:bodyPr/>
          <a:lstStyle/>
          <a:p>
            <a:fld id="{B7C292D3-A03E-4F58-8119-76463B39A7B1}" type="datetime9">
              <a:rPr lang="en-US" smtClean="0"/>
              <a:t>5/2/2026 12:09:59 AM</a:t>
            </a:fld>
            <a:endParaRPr lang="en-US"/>
          </a:p>
        </p:txBody>
      </p:sp>
      <p:sp>
        <p:nvSpPr>
          <p:cNvPr id="6" name="Footer Placeholder 5">
            <a:extLst>
              <a:ext uri="{FF2B5EF4-FFF2-40B4-BE49-F238E27FC236}">
                <a16:creationId xmlns:a16="http://schemas.microsoft.com/office/drawing/2014/main" id="{1DC36969-267D-2D25-5024-FA399125903F}"/>
              </a:ext>
            </a:extLst>
          </p:cNvPr>
          <p:cNvSpPr>
            <a:spLocks noGrp="1"/>
          </p:cNvSpPr>
          <p:nvPr>
            <p:ph type="ftr" sz="quarter" idx="11"/>
          </p:nvPr>
        </p:nvSpPr>
        <p:spPr/>
        <p:txBody>
          <a:bodyPr/>
          <a:lstStyle/>
          <a:p>
            <a:r>
              <a:rPr lang="en-US"/>
              <a:t>Deep Learning-Based Sleep Disorder Detection Using EEG Signal Analysis</a:t>
            </a:r>
          </a:p>
        </p:txBody>
      </p:sp>
      <p:sp>
        <p:nvSpPr>
          <p:cNvPr id="7" name="Slide Number Placeholder 6">
            <a:extLst>
              <a:ext uri="{FF2B5EF4-FFF2-40B4-BE49-F238E27FC236}">
                <a16:creationId xmlns:a16="http://schemas.microsoft.com/office/drawing/2014/main" id="{504EFF8C-2D2B-3405-1F3D-03510F5B4B3B}"/>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349662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6ABFC-C342-0246-29C0-95E0094907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EB2EA03-F82B-CD2C-BA2E-66CEA23961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F5001FB-D076-993F-2DB0-0EF35DAFED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7C6E3D-66F3-15E8-D7E7-C2106333961C}"/>
              </a:ext>
            </a:extLst>
          </p:cNvPr>
          <p:cNvSpPr>
            <a:spLocks noGrp="1"/>
          </p:cNvSpPr>
          <p:nvPr>
            <p:ph type="dt" sz="half" idx="10"/>
          </p:nvPr>
        </p:nvSpPr>
        <p:spPr/>
        <p:txBody>
          <a:bodyPr/>
          <a:lstStyle/>
          <a:p>
            <a:fld id="{8B08FD7B-9BEB-4405-8E95-1D3F14D04DDA}" type="datetime9">
              <a:rPr lang="en-US" smtClean="0"/>
              <a:t>5/2/2026 12:09:59 AM</a:t>
            </a:fld>
            <a:endParaRPr lang="en-US"/>
          </a:p>
        </p:txBody>
      </p:sp>
      <p:sp>
        <p:nvSpPr>
          <p:cNvPr id="6" name="Footer Placeholder 5">
            <a:extLst>
              <a:ext uri="{FF2B5EF4-FFF2-40B4-BE49-F238E27FC236}">
                <a16:creationId xmlns:a16="http://schemas.microsoft.com/office/drawing/2014/main" id="{343C4EAE-B09F-40FD-2EFA-EC602729EBA4}"/>
              </a:ext>
            </a:extLst>
          </p:cNvPr>
          <p:cNvSpPr>
            <a:spLocks noGrp="1"/>
          </p:cNvSpPr>
          <p:nvPr>
            <p:ph type="ftr" sz="quarter" idx="11"/>
          </p:nvPr>
        </p:nvSpPr>
        <p:spPr/>
        <p:txBody>
          <a:bodyPr/>
          <a:lstStyle/>
          <a:p>
            <a:r>
              <a:rPr lang="en-US"/>
              <a:t>Deep Learning-Based Sleep Disorder Detection Using EEG Signal Analysis</a:t>
            </a:r>
          </a:p>
        </p:txBody>
      </p:sp>
      <p:sp>
        <p:nvSpPr>
          <p:cNvPr id="7" name="Slide Number Placeholder 6">
            <a:extLst>
              <a:ext uri="{FF2B5EF4-FFF2-40B4-BE49-F238E27FC236}">
                <a16:creationId xmlns:a16="http://schemas.microsoft.com/office/drawing/2014/main" id="{6B24E427-69C5-8DF6-11B2-3519C929F20E}"/>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3707062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E5F6C-08DC-BC9D-CE1B-6DD8BEBCC4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5F4BB64-1FC3-8EF6-616F-F358669567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9B80E2-1BD2-CADA-8263-CC366600213C}"/>
              </a:ext>
            </a:extLst>
          </p:cNvPr>
          <p:cNvSpPr>
            <a:spLocks noGrp="1"/>
          </p:cNvSpPr>
          <p:nvPr>
            <p:ph type="dt" sz="half" idx="10"/>
          </p:nvPr>
        </p:nvSpPr>
        <p:spPr/>
        <p:txBody>
          <a:bodyPr/>
          <a:lstStyle/>
          <a:p>
            <a:fld id="{DACD374B-00A8-497C-960F-AFD627FAB34D}" type="datetime9">
              <a:rPr lang="en-US" smtClean="0"/>
              <a:t>5/2/2026 12:09:59 AM</a:t>
            </a:fld>
            <a:endParaRPr lang="en-US"/>
          </a:p>
        </p:txBody>
      </p:sp>
      <p:sp>
        <p:nvSpPr>
          <p:cNvPr id="5" name="Footer Placeholder 4">
            <a:extLst>
              <a:ext uri="{FF2B5EF4-FFF2-40B4-BE49-F238E27FC236}">
                <a16:creationId xmlns:a16="http://schemas.microsoft.com/office/drawing/2014/main" id="{20087975-1ACD-C498-EC32-E287092B8BCE}"/>
              </a:ext>
            </a:extLst>
          </p:cNvPr>
          <p:cNvSpPr>
            <a:spLocks noGrp="1"/>
          </p:cNvSpPr>
          <p:nvPr>
            <p:ph type="ftr" sz="quarter" idx="11"/>
          </p:nvPr>
        </p:nvSpPr>
        <p:spPr/>
        <p:txBody>
          <a:bodyPr/>
          <a:lstStyle/>
          <a:p>
            <a:r>
              <a:rPr lang="en-US"/>
              <a:t>Deep Learning-Based Sleep Disorder Detection Using EEG Signal Analysis</a:t>
            </a:r>
          </a:p>
        </p:txBody>
      </p:sp>
      <p:sp>
        <p:nvSpPr>
          <p:cNvPr id="6" name="Slide Number Placeholder 5">
            <a:extLst>
              <a:ext uri="{FF2B5EF4-FFF2-40B4-BE49-F238E27FC236}">
                <a16:creationId xmlns:a16="http://schemas.microsoft.com/office/drawing/2014/main" id="{F4409F23-807D-F7B1-59E5-C55EFEA84CD3}"/>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4193374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34B9D6-E5F4-B75C-6EC1-156525320F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C0D9455-0092-A366-F786-A3D11288D3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3AD1A1-DE8E-CC0A-342E-D84C71CFB294}"/>
              </a:ext>
            </a:extLst>
          </p:cNvPr>
          <p:cNvSpPr>
            <a:spLocks noGrp="1"/>
          </p:cNvSpPr>
          <p:nvPr>
            <p:ph type="dt" sz="half" idx="10"/>
          </p:nvPr>
        </p:nvSpPr>
        <p:spPr/>
        <p:txBody>
          <a:bodyPr/>
          <a:lstStyle/>
          <a:p>
            <a:fld id="{AFC9AD89-408D-4FD1-A1DF-B9D94D324E12}" type="datetime9">
              <a:rPr lang="en-US" smtClean="0"/>
              <a:t>5/2/2026 12:09:59 AM</a:t>
            </a:fld>
            <a:endParaRPr lang="en-US"/>
          </a:p>
        </p:txBody>
      </p:sp>
      <p:sp>
        <p:nvSpPr>
          <p:cNvPr id="5" name="Footer Placeholder 4">
            <a:extLst>
              <a:ext uri="{FF2B5EF4-FFF2-40B4-BE49-F238E27FC236}">
                <a16:creationId xmlns:a16="http://schemas.microsoft.com/office/drawing/2014/main" id="{EAF51EEB-1A97-0FA2-1CB9-7878BFDF1CEE}"/>
              </a:ext>
            </a:extLst>
          </p:cNvPr>
          <p:cNvSpPr>
            <a:spLocks noGrp="1"/>
          </p:cNvSpPr>
          <p:nvPr>
            <p:ph type="ftr" sz="quarter" idx="11"/>
          </p:nvPr>
        </p:nvSpPr>
        <p:spPr/>
        <p:txBody>
          <a:bodyPr/>
          <a:lstStyle/>
          <a:p>
            <a:r>
              <a:rPr lang="en-US"/>
              <a:t>Deep Learning-Based Sleep Disorder Detection Using EEG Signal Analysis</a:t>
            </a:r>
          </a:p>
        </p:txBody>
      </p:sp>
      <p:sp>
        <p:nvSpPr>
          <p:cNvPr id="6" name="Slide Number Placeholder 5">
            <a:extLst>
              <a:ext uri="{FF2B5EF4-FFF2-40B4-BE49-F238E27FC236}">
                <a16:creationId xmlns:a16="http://schemas.microsoft.com/office/drawing/2014/main" id="{5B3B792E-4B68-C5DE-A2ED-F0555EE1F74D}"/>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3540036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6916B8-54CB-8C0F-3FC6-23BA309445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DB8969F-4EBB-4D0A-8086-6ECC31318A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7F1603-12F9-FE6F-0DDD-E9F00CA209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C29C93-D12F-4009-82B1-AD4BDCA34C2E}" type="datetime9">
              <a:rPr lang="en-US" smtClean="0"/>
              <a:t>5/2/2026 12:09:58 AM</a:t>
            </a:fld>
            <a:endParaRPr lang="en-US"/>
          </a:p>
        </p:txBody>
      </p:sp>
      <p:sp>
        <p:nvSpPr>
          <p:cNvPr id="5" name="Footer Placeholder 4">
            <a:extLst>
              <a:ext uri="{FF2B5EF4-FFF2-40B4-BE49-F238E27FC236}">
                <a16:creationId xmlns:a16="http://schemas.microsoft.com/office/drawing/2014/main" id="{5E6B006A-4311-7855-7A42-6BC26A436A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Deep Learning-Based Sleep Disorder Detection Using EEG Signal Analysis</a:t>
            </a:r>
          </a:p>
        </p:txBody>
      </p:sp>
      <p:sp>
        <p:nvSpPr>
          <p:cNvPr id="6" name="Slide Number Placeholder 5">
            <a:extLst>
              <a:ext uri="{FF2B5EF4-FFF2-40B4-BE49-F238E27FC236}">
                <a16:creationId xmlns:a16="http://schemas.microsoft.com/office/drawing/2014/main" id="{3143DAD4-E3C6-D3E9-0894-F3ED84F03B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A9DDE7-DF24-421B-8B5A-9F7A222497E2}" type="slidenum">
              <a:rPr lang="en-US" smtClean="0"/>
              <a:t>‹#›</a:t>
            </a:fld>
            <a:endParaRPr lang="en-US"/>
          </a:p>
        </p:txBody>
      </p:sp>
    </p:spTree>
    <p:extLst>
      <p:ext uri="{BB962C8B-B14F-4D97-AF65-F5344CB8AC3E}">
        <p14:creationId xmlns:p14="http://schemas.microsoft.com/office/powerpoint/2010/main" val="28052671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physionet.org/content/capslpdb/1.0.0/"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045F56C-56B1-1AD9-8EEB-7A618ACA3618}"/>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64A4B94-0AEC-CAF8-2CA8-FA5281832D77}"/>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BE25E134-3879-905D-F8E3-071DF2C181B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54B7778-F74C-FF6C-1107-E2CCF24A8117}"/>
              </a:ext>
            </a:extLst>
          </p:cNvPr>
          <p:cNvSpPr txBox="1"/>
          <p:nvPr/>
        </p:nvSpPr>
        <p:spPr>
          <a:xfrm>
            <a:off x="887983" y="1244960"/>
            <a:ext cx="10999217" cy="4461129"/>
          </a:xfrm>
          <a:prstGeom prst="rect">
            <a:avLst/>
          </a:prstGeom>
          <a:noFill/>
        </p:spPr>
        <p:txBody>
          <a:bodyPr wrap="square" rtlCol="0">
            <a:noAutofit/>
          </a:bodyPr>
          <a:lstStyle/>
          <a:p>
            <a:pPr algn="ctr"/>
            <a:endParaRPr lang="en-US" altLang="en-IN" sz="28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endParaRPr>
          </a:p>
          <a:p>
            <a:pPr algn="ctr"/>
            <a:r>
              <a:rPr lang="en-US" altLang="en-IN" sz="28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rPr>
              <a:t>Major</a:t>
            </a:r>
            <a:r>
              <a:rPr lang="en-IN" altLang="en-IN" sz="28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rPr>
              <a:t> Project External Presentation</a:t>
            </a:r>
          </a:p>
          <a:p>
            <a:pPr algn="ctr"/>
            <a:r>
              <a:rPr lang="en-US" sz="2400" dirty="0">
                <a:latin typeface="Times New Roman" panose="02020603050405020304" pitchFamily="18" charset="0"/>
                <a:cs typeface="Times New Roman" panose="02020603050405020304" pitchFamily="18" charset="0"/>
              </a:rPr>
              <a:t>Deep Learning-Based Sleep Disorder Detection </a:t>
            </a:r>
          </a:p>
          <a:p>
            <a:pPr algn="ctr"/>
            <a:r>
              <a:rPr lang="en-US" sz="2400" dirty="0">
                <a:latin typeface="Times New Roman" panose="02020603050405020304" pitchFamily="18" charset="0"/>
                <a:cs typeface="Times New Roman" panose="02020603050405020304" pitchFamily="18" charset="0"/>
              </a:rPr>
              <a:t>Using EEG Signal Analysis</a:t>
            </a:r>
            <a:endParaRPr lang="en-IN" sz="2400" dirty="0">
              <a:latin typeface="Times New Roman" panose="02020603050405020304" pitchFamily="18" charset="0"/>
              <a:cs typeface="Times New Roman" panose="02020603050405020304" pitchFamily="18" charset="0"/>
            </a:endParaRPr>
          </a:p>
          <a:p>
            <a:r>
              <a:rPr lang="en-IN" sz="2400" b="1" dirty="0">
                <a:solidFill>
                  <a:srgbClr val="002060"/>
                </a:solidFill>
                <a:latin typeface="Times New Roman" panose="02020603050405020304" pitchFamily="18" charset="0"/>
                <a:cs typeface="Times New Roman" panose="02020603050405020304" pitchFamily="18" charset="0"/>
              </a:rPr>
              <a:t>Team No          </a:t>
            </a:r>
            <a:r>
              <a:rPr lang="en-IN" sz="2400" b="1" dirty="0">
                <a:latin typeface="Times New Roman" panose="02020603050405020304" pitchFamily="18" charset="0"/>
                <a:cs typeface="Times New Roman" panose="02020603050405020304" pitchFamily="18" charset="0"/>
              </a:rPr>
              <a:t>:   </a:t>
            </a:r>
            <a:r>
              <a:rPr lang="en-IN" sz="2000" dirty="0">
                <a:solidFill>
                  <a:srgbClr val="002060"/>
                </a:solidFill>
                <a:latin typeface="Times New Roman" panose="02020603050405020304" pitchFamily="18" charset="0"/>
                <a:cs typeface="Times New Roman" panose="02020603050405020304" pitchFamily="18" charset="0"/>
              </a:rPr>
              <a:t>14</a:t>
            </a:r>
            <a:endParaRPr lang="en-IN" sz="2000" dirty="0">
              <a:latin typeface="Times New Roman" panose="02020603050405020304" pitchFamily="18" charset="0"/>
              <a:cs typeface="Times New Roman" panose="02020603050405020304" pitchFamily="18" charset="0"/>
            </a:endParaRPr>
          </a:p>
          <a:p>
            <a:r>
              <a:rPr lang="en-US" alt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Student Name :   </a:t>
            </a:r>
            <a:r>
              <a:rPr lang="en-US" altLang="en-IN" sz="20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S. ARJUN</a:t>
            </a:r>
            <a:r>
              <a:rPr lang="en-US" alt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mn-ea"/>
              </a:rPr>
              <a:t>Guide Name :</a:t>
            </a:r>
            <a:r>
              <a:rPr lang="en-IN" sz="2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mn-ea"/>
              </a:rPr>
              <a:t> </a:t>
            </a:r>
            <a:r>
              <a:rPr lang="en-IN" sz="20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mn-ea"/>
              </a:rPr>
              <a:t>Mr</a:t>
            </a:r>
            <a:r>
              <a:rPr lang="en-IN" sz="2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mn-ea"/>
              </a:rPr>
              <a:t>. </a:t>
            </a:r>
            <a:r>
              <a:rPr lang="en-IN" sz="20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mn-ea"/>
              </a:rPr>
              <a:t>G. SRIDHAR REDDY</a:t>
            </a:r>
          </a:p>
          <a:p>
            <a:r>
              <a:rPr lang="en-US" alt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HT.No </a:t>
            </a:r>
            <a:r>
              <a:rPr 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mn-ea"/>
              </a:rPr>
              <a:t>	 :   </a:t>
            </a:r>
            <a:r>
              <a:rPr lang="en-IN" sz="20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mn-ea"/>
              </a:rPr>
              <a:t>22EG107C26  </a:t>
            </a:r>
            <a:r>
              <a:rPr 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mn-ea"/>
              </a:rPr>
              <a:t>                          Designation  :</a:t>
            </a:r>
            <a:r>
              <a:rPr lang="en-IN" sz="20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mn-ea"/>
              </a:rPr>
              <a:t> ASSISTANT PROFFESSOR</a:t>
            </a:r>
          </a:p>
          <a:p>
            <a:pPr algn="just"/>
            <a:r>
              <a:rPr lang="en-US" alt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Student Name :   </a:t>
            </a:r>
            <a:r>
              <a:rPr lang="en-US" altLang="en-IN" sz="20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G. SAI TEJA</a:t>
            </a:r>
            <a:r>
              <a:rPr lang="en-US" alt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endParaRPr 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mn-ea"/>
            </a:endParaRPr>
          </a:p>
          <a:p>
            <a:pPr algn="just"/>
            <a:r>
              <a:rPr lang="en-US" alt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HT.No </a:t>
            </a:r>
            <a:r>
              <a:rPr 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mn-ea"/>
              </a:rPr>
              <a:t>	 :   </a:t>
            </a:r>
            <a:r>
              <a:rPr lang="en-IN" sz="20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mn-ea"/>
              </a:rPr>
              <a:t>22EG107C15</a:t>
            </a:r>
          </a:p>
          <a:p>
            <a:pPr algn="just"/>
            <a:r>
              <a:rPr lang="en-US" alt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Student Name :   </a:t>
            </a:r>
            <a:r>
              <a:rPr lang="en-US" altLang="en-IN" sz="20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P. RAJESWARI</a:t>
            </a:r>
            <a:r>
              <a:rPr lang="en-US" altLang="en-IN" sz="2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alt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endParaRPr 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mn-ea"/>
            </a:endParaRPr>
          </a:p>
          <a:p>
            <a:r>
              <a:rPr lang="en-US" alt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HT.No </a:t>
            </a:r>
            <a:r>
              <a:rPr 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mn-ea"/>
              </a:rPr>
              <a:t>	 :   </a:t>
            </a:r>
            <a:r>
              <a:rPr lang="en-IN" sz="20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mn-ea"/>
              </a:rPr>
              <a:t>23EG507C07</a:t>
            </a:r>
            <a:r>
              <a:rPr 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mn-ea"/>
              </a:rPr>
              <a:t>	</a:t>
            </a:r>
            <a:endParaRPr lang="en-US" alt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9" name="Date Placeholder 8">
            <a:extLst>
              <a:ext uri="{FF2B5EF4-FFF2-40B4-BE49-F238E27FC236}">
                <a16:creationId xmlns:a16="http://schemas.microsoft.com/office/drawing/2014/main" id="{862EBEFD-ED99-4DFE-B330-6285DCFBFE1F}"/>
              </a:ext>
            </a:extLst>
          </p:cNvPr>
          <p:cNvSpPr>
            <a:spLocks noGrp="1"/>
          </p:cNvSpPr>
          <p:nvPr>
            <p:ph type="dt" sz="half" idx="10"/>
          </p:nvPr>
        </p:nvSpPr>
        <p:spPr/>
        <p:txBody>
          <a:bodyPr/>
          <a:lstStyle/>
          <a:p>
            <a:fld id="{D42A0F20-800C-42E8-A84C-A807BF3F0673}" type="datetime9">
              <a:rPr lang="en-US" smtClean="0"/>
              <a:t>5/2/2026 12:09:58 AM</a:t>
            </a:fld>
            <a:endParaRPr lang="en-US" dirty="0"/>
          </a:p>
        </p:txBody>
      </p:sp>
      <p:sp>
        <p:nvSpPr>
          <p:cNvPr id="10" name="Footer Placeholder 9">
            <a:extLst>
              <a:ext uri="{FF2B5EF4-FFF2-40B4-BE49-F238E27FC236}">
                <a16:creationId xmlns:a16="http://schemas.microsoft.com/office/drawing/2014/main" id="{FF9835E6-DA12-20FA-391D-94E94C979C11}"/>
              </a:ext>
            </a:extLst>
          </p:cNvPr>
          <p:cNvSpPr>
            <a:spLocks noGrp="1"/>
          </p:cNvSpPr>
          <p:nvPr>
            <p:ph type="ftr" sz="quarter" idx="11"/>
          </p:nvPr>
        </p:nvSpPr>
        <p:spPr/>
        <p:txBody>
          <a:bodyPr/>
          <a:lstStyle/>
          <a:p>
            <a:r>
              <a:rPr lang="en-US"/>
              <a:t>Deep Learning-Based Sleep Disorder Detection Using EEG Signal Analysis</a:t>
            </a:r>
            <a:endParaRPr lang="en-US" dirty="0"/>
          </a:p>
        </p:txBody>
      </p:sp>
      <p:sp>
        <p:nvSpPr>
          <p:cNvPr id="11" name="Slide Number Placeholder 10">
            <a:extLst>
              <a:ext uri="{FF2B5EF4-FFF2-40B4-BE49-F238E27FC236}">
                <a16:creationId xmlns:a16="http://schemas.microsoft.com/office/drawing/2014/main" id="{EE29AA9A-557E-7029-A209-46018DEB944A}"/>
              </a:ext>
            </a:extLst>
          </p:cNvPr>
          <p:cNvSpPr>
            <a:spLocks noGrp="1"/>
          </p:cNvSpPr>
          <p:nvPr>
            <p:ph type="sldNum" sz="quarter" idx="12"/>
          </p:nvPr>
        </p:nvSpPr>
        <p:spPr>
          <a:xfrm>
            <a:off x="8610600" y="6367236"/>
            <a:ext cx="2743200" cy="365125"/>
          </a:xfrm>
        </p:spPr>
        <p:txBody>
          <a:bodyPr/>
          <a:lstStyle/>
          <a:p>
            <a:fld id="{5DA9DDE7-DF24-421B-8B5A-9F7A222497E2}" type="slidenum">
              <a:rPr lang="en-US" smtClean="0"/>
              <a:t>1</a:t>
            </a:fld>
            <a:endParaRPr lang="en-US" dirty="0"/>
          </a:p>
        </p:txBody>
      </p:sp>
      <p:pic>
        <p:nvPicPr>
          <p:cNvPr id="2" name="Picture 2">
            <a:extLst>
              <a:ext uri="{FF2B5EF4-FFF2-40B4-BE49-F238E27FC236}">
                <a16:creationId xmlns:a16="http://schemas.microsoft.com/office/drawing/2014/main" id="{BD9EE75A-A727-0796-4913-D38E135CC5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2344" y="378389"/>
            <a:ext cx="5140043" cy="1106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39015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98A57-4ABC-4F8C-F2E9-3985A1BDE87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F5024DE-566A-E135-C99C-708A264C5948}"/>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681996E-7476-463E-C7E7-EA5EF08F7D66}"/>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25B72E0C-ECB5-C8D2-E9EA-697A8A09AC3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F5BA4BE-F01B-5261-3DCF-E84C3FF0A644}"/>
              </a:ext>
            </a:extLst>
          </p:cNvPr>
          <p:cNvSpPr txBox="1"/>
          <p:nvPr/>
        </p:nvSpPr>
        <p:spPr>
          <a:xfrm>
            <a:off x="5314376" y="497278"/>
            <a:ext cx="1563248" cy="523220"/>
          </a:xfrm>
          <a:prstGeom prst="rect">
            <a:avLst/>
          </a:prstGeom>
          <a:noFill/>
        </p:spPr>
        <p:txBody>
          <a:bodyPr wrap="none" rtlCol="0">
            <a:spAutoFit/>
          </a:bodyPr>
          <a:lstStyle/>
          <a:p>
            <a:r>
              <a:rPr lang="en-US" sz="2800" b="1" dirty="0">
                <a:solidFill>
                  <a:srgbClr val="FF0000"/>
                </a:solidFill>
                <a:latin typeface="Times New Roman" panose="02020603050405020304" pitchFamily="18" charset="0"/>
                <a:cs typeface="Times New Roman" panose="02020603050405020304" pitchFamily="18" charset="0"/>
              </a:rPr>
              <a:t>Contents</a:t>
            </a:r>
            <a:endParaRPr lang="en-US" sz="2000" b="1" dirty="0">
              <a:solidFill>
                <a:srgbClr val="FF0000"/>
              </a:solidFill>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4422279D-1424-F0EB-1EBD-9D95FFDC0665}"/>
              </a:ext>
            </a:extLst>
          </p:cNvPr>
          <p:cNvSpPr>
            <a:spLocks noGrp="1"/>
          </p:cNvSpPr>
          <p:nvPr>
            <p:ph type="dt" sz="half" idx="10"/>
          </p:nvPr>
        </p:nvSpPr>
        <p:spPr/>
        <p:txBody>
          <a:bodyPr/>
          <a:lstStyle/>
          <a:p>
            <a:fld id="{45BCD2E9-F6CE-42AA-AA98-33BB132B15D6}" type="datetime9">
              <a:rPr lang="en-US" smtClean="0"/>
              <a:t>5/2/2026 12:09:59 AM</a:t>
            </a:fld>
            <a:endParaRPr lang="en-US"/>
          </a:p>
        </p:txBody>
      </p:sp>
      <p:sp>
        <p:nvSpPr>
          <p:cNvPr id="8" name="Footer Placeholder 7">
            <a:extLst>
              <a:ext uri="{FF2B5EF4-FFF2-40B4-BE49-F238E27FC236}">
                <a16:creationId xmlns:a16="http://schemas.microsoft.com/office/drawing/2014/main" id="{BA93B351-9225-84CF-4A0E-E3552FFF6D36}"/>
              </a:ext>
            </a:extLst>
          </p:cNvPr>
          <p:cNvSpPr>
            <a:spLocks noGrp="1"/>
          </p:cNvSpPr>
          <p:nvPr>
            <p:ph type="ftr" sz="quarter" idx="11"/>
          </p:nvPr>
        </p:nvSpPr>
        <p:spPr/>
        <p:txBody>
          <a:bodyPr/>
          <a:lstStyle/>
          <a:p>
            <a:r>
              <a:rPr lang="en-US"/>
              <a:t>Deep Learning-Based Sleep Disorder Detection Using EEG Signal Analysis</a:t>
            </a:r>
          </a:p>
        </p:txBody>
      </p:sp>
      <p:sp>
        <p:nvSpPr>
          <p:cNvPr id="9" name="Slide Number Placeholder 8">
            <a:extLst>
              <a:ext uri="{FF2B5EF4-FFF2-40B4-BE49-F238E27FC236}">
                <a16:creationId xmlns:a16="http://schemas.microsoft.com/office/drawing/2014/main" id="{07A30832-1168-4CB5-DD92-76F14C901759}"/>
              </a:ext>
            </a:extLst>
          </p:cNvPr>
          <p:cNvSpPr>
            <a:spLocks noGrp="1"/>
          </p:cNvSpPr>
          <p:nvPr>
            <p:ph type="sldNum" sz="quarter" idx="12"/>
          </p:nvPr>
        </p:nvSpPr>
        <p:spPr/>
        <p:txBody>
          <a:bodyPr/>
          <a:lstStyle/>
          <a:p>
            <a:fld id="{5DA9DDE7-DF24-421B-8B5A-9F7A222497E2}" type="slidenum">
              <a:rPr lang="en-US" smtClean="0"/>
              <a:t>2</a:t>
            </a:fld>
            <a:endParaRPr lang="en-US"/>
          </a:p>
        </p:txBody>
      </p:sp>
      <p:graphicFrame>
        <p:nvGraphicFramePr>
          <p:cNvPr id="12" name="Table 11">
            <a:extLst>
              <a:ext uri="{FF2B5EF4-FFF2-40B4-BE49-F238E27FC236}">
                <a16:creationId xmlns:a16="http://schemas.microsoft.com/office/drawing/2014/main" id="{B0C68E3D-10F2-198C-B3BD-B93A0F5CF757}"/>
              </a:ext>
            </a:extLst>
          </p:cNvPr>
          <p:cNvGraphicFramePr>
            <a:graphicFrameLocks noGrp="1"/>
          </p:cNvGraphicFramePr>
          <p:nvPr>
            <p:extLst>
              <p:ext uri="{D42A27DB-BD31-4B8C-83A1-F6EECF244321}">
                <p14:modId xmlns:p14="http://schemas.microsoft.com/office/powerpoint/2010/main" val="3069088288"/>
              </p:ext>
            </p:extLst>
          </p:nvPr>
        </p:nvGraphicFramePr>
        <p:xfrm>
          <a:off x="1429653" y="1176363"/>
          <a:ext cx="9332694" cy="5109648"/>
        </p:xfrm>
        <a:graphic>
          <a:graphicData uri="http://schemas.openxmlformats.org/drawingml/2006/table">
            <a:tbl>
              <a:tblPr firstRow="1" bandRow="1">
                <a:tableStyleId>{5C22544A-7EE6-4342-B048-85BDC9FD1C3A}</a:tableStyleId>
              </a:tblPr>
              <a:tblGrid>
                <a:gridCol w="930089">
                  <a:extLst>
                    <a:ext uri="{9D8B030D-6E8A-4147-A177-3AD203B41FA5}">
                      <a16:colId xmlns:a16="http://schemas.microsoft.com/office/drawing/2014/main" val="1881594598"/>
                    </a:ext>
                  </a:extLst>
                </a:gridCol>
                <a:gridCol w="6220704">
                  <a:extLst>
                    <a:ext uri="{9D8B030D-6E8A-4147-A177-3AD203B41FA5}">
                      <a16:colId xmlns:a16="http://schemas.microsoft.com/office/drawing/2014/main" val="3649411039"/>
                    </a:ext>
                  </a:extLst>
                </a:gridCol>
                <a:gridCol w="2181901">
                  <a:extLst>
                    <a:ext uri="{9D8B030D-6E8A-4147-A177-3AD203B41FA5}">
                      <a16:colId xmlns:a16="http://schemas.microsoft.com/office/drawing/2014/main" val="547018436"/>
                    </a:ext>
                  </a:extLst>
                </a:gridCol>
              </a:tblGrid>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S.No</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Title</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Slide No</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9749570"/>
                  </a:ext>
                </a:extLst>
              </a:tr>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1</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solidFill>
                            <a:schemeClr val="tx1"/>
                          </a:solidFill>
                          <a:latin typeface="Times New Roman" panose="02020603050405020304" pitchFamily="18" charset="0"/>
                          <a:cs typeface="Times New Roman" panose="02020603050405020304" pitchFamily="18" charset="0"/>
                        </a:rPr>
                        <a:t>Abstract</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3</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138215"/>
                  </a:ext>
                </a:extLst>
              </a:tr>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2</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Introduction</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4-5</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0841010"/>
                  </a:ext>
                </a:extLst>
              </a:tr>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3</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Literature Survey</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6</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73114388"/>
                  </a:ext>
                </a:extLst>
              </a:tr>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4</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Problem Statement</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7</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1665430"/>
                  </a:ext>
                </a:extLst>
              </a:tr>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5</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Objectives</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8</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7377217"/>
                  </a:ext>
                </a:extLst>
              </a:tr>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6</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Dataset and Methodology </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9-10</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81474089"/>
                  </a:ext>
                </a:extLst>
              </a:tr>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7</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Implementation</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11</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4632247"/>
                  </a:ext>
                </a:extLst>
              </a:tr>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8</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Results</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12-13</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0802481"/>
                  </a:ext>
                </a:extLst>
              </a:tr>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9</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Discussion</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14</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591478"/>
                  </a:ext>
                </a:extLst>
              </a:tr>
              <a:tr h="425804">
                <a:tc>
                  <a:txBody>
                    <a:bodyPr/>
                    <a:lstStyle/>
                    <a:p>
                      <a:pPr algn="ctr"/>
                      <a:r>
                        <a:rPr lang="en-US" dirty="0"/>
                        <a:t>10</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Conclusion and Future Work</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15</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1432343"/>
                  </a:ext>
                </a:extLst>
              </a:tr>
              <a:tr h="425804">
                <a:tc>
                  <a:txBody>
                    <a:bodyPr/>
                    <a:lstStyle/>
                    <a:p>
                      <a:pPr algn="ctr"/>
                      <a:r>
                        <a:rPr lang="en-US" dirty="0"/>
                        <a:t>11</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solidFill>
                            <a:schemeClr val="tx1"/>
                          </a:solidFill>
                          <a:latin typeface="Times New Roman" panose="02020603050405020304" pitchFamily="18" charset="0"/>
                          <a:cs typeface="Times New Roman" panose="02020603050405020304" pitchFamily="18" charset="0"/>
                        </a:rPr>
                        <a:t>References</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16</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5971483"/>
                  </a:ext>
                </a:extLst>
              </a:tr>
            </a:tbl>
          </a:graphicData>
        </a:graphic>
      </p:graphicFrame>
    </p:spTree>
    <p:extLst>
      <p:ext uri="{BB962C8B-B14F-4D97-AF65-F5344CB8AC3E}">
        <p14:creationId xmlns:p14="http://schemas.microsoft.com/office/powerpoint/2010/main" val="2341489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EE4E4-558F-71D4-B457-1EE8826C7AA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14CBE63-90A4-6C7A-D248-0B1BD3B0F0B2}"/>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C27E0C5-8618-D9EE-F793-3AA69900BDC7}"/>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9D06C879-C79B-ECB7-1680-A676E6F1402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a:extLst>
              <a:ext uri="{FF2B5EF4-FFF2-40B4-BE49-F238E27FC236}">
                <a16:creationId xmlns:a16="http://schemas.microsoft.com/office/drawing/2014/main" id="{4A195A27-9E50-3023-222B-59434B7ADC96}"/>
              </a:ext>
            </a:extLst>
          </p:cNvPr>
          <p:cNvSpPr>
            <a:spLocks noGrp="1"/>
          </p:cNvSpPr>
          <p:nvPr>
            <p:ph type="dt" sz="half" idx="10"/>
          </p:nvPr>
        </p:nvSpPr>
        <p:spPr/>
        <p:txBody>
          <a:bodyPr/>
          <a:lstStyle/>
          <a:p>
            <a:fld id="{A43B8D97-3208-483C-AB31-7FE7CCD8D9E3}" type="datetime9">
              <a:rPr lang="en-US" smtClean="0"/>
              <a:t>5/2/2026 12:09:59 AM</a:t>
            </a:fld>
            <a:endParaRPr lang="en-US"/>
          </a:p>
        </p:txBody>
      </p:sp>
      <p:sp>
        <p:nvSpPr>
          <p:cNvPr id="8" name="Footer Placeholder 7">
            <a:extLst>
              <a:ext uri="{FF2B5EF4-FFF2-40B4-BE49-F238E27FC236}">
                <a16:creationId xmlns:a16="http://schemas.microsoft.com/office/drawing/2014/main" id="{0E2CA61D-F023-896E-2EB6-9637265EC95E}"/>
              </a:ext>
            </a:extLst>
          </p:cNvPr>
          <p:cNvSpPr>
            <a:spLocks noGrp="1"/>
          </p:cNvSpPr>
          <p:nvPr>
            <p:ph type="ftr" sz="quarter" idx="11"/>
          </p:nvPr>
        </p:nvSpPr>
        <p:spPr/>
        <p:txBody>
          <a:bodyPr/>
          <a:lstStyle/>
          <a:p>
            <a:r>
              <a:rPr lang="en-US"/>
              <a:t>Deep Learning-Based Sleep Disorder Detection Using EEG Signal Analysis</a:t>
            </a:r>
          </a:p>
        </p:txBody>
      </p:sp>
      <p:sp>
        <p:nvSpPr>
          <p:cNvPr id="9" name="Slide Number Placeholder 8">
            <a:extLst>
              <a:ext uri="{FF2B5EF4-FFF2-40B4-BE49-F238E27FC236}">
                <a16:creationId xmlns:a16="http://schemas.microsoft.com/office/drawing/2014/main" id="{20EB407D-377A-0C9F-2DB8-119EE420C175}"/>
              </a:ext>
            </a:extLst>
          </p:cNvPr>
          <p:cNvSpPr>
            <a:spLocks noGrp="1"/>
          </p:cNvSpPr>
          <p:nvPr>
            <p:ph type="sldNum" sz="quarter" idx="12"/>
          </p:nvPr>
        </p:nvSpPr>
        <p:spPr/>
        <p:txBody>
          <a:bodyPr/>
          <a:lstStyle/>
          <a:p>
            <a:fld id="{5DA9DDE7-DF24-421B-8B5A-9F7A222497E2}" type="slidenum">
              <a:rPr lang="en-US" smtClean="0"/>
              <a:t>3</a:t>
            </a:fld>
            <a:endParaRPr lang="en-US"/>
          </a:p>
        </p:txBody>
      </p:sp>
      <p:sp>
        <p:nvSpPr>
          <p:cNvPr id="10" name="TextBox 9">
            <a:extLst>
              <a:ext uri="{FF2B5EF4-FFF2-40B4-BE49-F238E27FC236}">
                <a16:creationId xmlns:a16="http://schemas.microsoft.com/office/drawing/2014/main" id="{393C8D13-B300-04DA-4D63-DC28B7F73F34}"/>
              </a:ext>
            </a:extLst>
          </p:cNvPr>
          <p:cNvSpPr txBox="1"/>
          <p:nvPr/>
        </p:nvSpPr>
        <p:spPr>
          <a:xfrm>
            <a:off x="264489" y="533248"/>
            <a:ext cx="11927511" cy="461665"/>
          </a:xfrm>
          <a:prstGeom prst="rect">
            <a:avLst/>
          </a:prstGeom>
          <a:noFill/>
        </p:spPr>
        <p:txBody>
          <a:bodyPr wrap="square">
            <a:spAutoFit/>
          </a:bodyPr>
          <a:lstStyle/>
          <a:p>
            <a:pPr algn="ctr"/>
            <a:r>
              <a:rPr lang="en-IN" sz="2400" b="1" dirty="0">
                <a:solidFill>
                  <a:srgbClr val="FF0000"/>
                </a:solidFill>
                <a:latin typeface="Times New Roman" panose="02020603050405020304" pitchFamily="18" charset="0"/>
                <a:cs typeface="Times New Roman" panose="02020603050405020304" pitchFamily="18" charset="0"/>
              </a:rPr>
              <a:t>ABSTRACT</a:t>
            </a:r>
            <a:endParaRPr lang="en-IN" sz="2400" b="1" dirty="0">
              <a:solidFill>
                <a:srgbClr val="FF0000"/>
              </a:solidFill>
            </a:endParaRPr>
          </a:p>
        </p:txBody>
      </p:sp>
      <p:sp>
        <p:nvSpPr>
          <p:cNvPr id="12" name="TextBox 11">
            <a:extLst>
              <a:ext uri="{FF2B5EF4-FFF2-40B4-BE49-F238E27FC236}">
                <a16:creationId xmlns:a16="http://schemas.microsoft.com/office/drawing/2014/main" id="{0C55139F-F5FF-D1D5-5FC5-E8CC0A93F59E}"/>
              </a:ext>
            </a:extLst>
          </p:cNvPr>
          <p:cNvSpPr txBox="1"/>
          <p:nvPr/>
        </p:nvSpPr>
        <p:spPr>
          <a:xfrm>
            <a:off x="694806" y="1347729"/>
            <a:ext cx="11066876" cy="4110741"/>
          </a:xfrm>
          <a:prstGeom prst="rect">
            <a:avLst/>
          </a:prstGeom>
          <a:noFill/>
        </p:spPr>
        <p:txBody>
          <a:bodyPr wrap="square">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Sleep disorders significantly impact human health and quality of life. Traditional diagnosis methods such as polysomnography (PSG) are expensive, time-consuming, and require expert intervention. This project presents an automated deep learning-based framework for detecting sleep disorders using EEG signals. The proposed system utilizes a hybrid architecture combining Convolutional Neural Networks (CNN), Bidirectional Long Short-Term Memory (BiLSTM), and Multi-Head Self-Attention mechanisms to extract spatial, temporal, and contextual features from EEG signals. The system processes EEG data through preprocessing techniques such as filtering, resampling, and segmentation, followed by extraction of multi-domain features including spectral, statistical, and wavelet-based features. The model is trained on EEG recordings categorized into four classes: Normal, Insomnia, Narcolepsy, and Sleep Disordered Breathing. To address the inherent class imbalance in clinical data, dynamic class-weighted loss functions were employed during the training phase, ensuring high sensitivity to minority classes without introducing synthetic data leakage. The proposed model achieves an accuracy of 92.24% and demonstrates strong generalization capabilities. The results indicate that deep learning-based approaches can effectively automate sleep disorder diagnosis and have potential for real-world clinical applications.</a:t>
            </a:r>
          </a:p>
        </p:txBody>
      </p:sp>
    </p:spTree>
    <p:extLst>
      <p:ext uri="{BB962C8B-B14F-4D97-AF65-F5344CB8AC3E}">
        <p14:creationId xmlns:p14="http://schemas.microsoft.com/office/powerpoint/2010/main" val="3239384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89ACC-3CB7-D8D0-BDCC-A3E3C69DE46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358A0F7-1D1B-5CC9-2422-FF4CD2909416}"/>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D5C3A84-0937-3D94-DBFF-75713D975ACF}"/>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C0999D4C-C8C7-3EFB-B71B-E9497E96F0E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a:extLst>
              <a:ext uri="{FF2B5EF4-FFF2-40B4-BE49-F238E27FC236}">
                <a16:creationId xmlns:a16="http://schemas.microsoft.com/office/drawing/2014/main" id="{3A040D77-6C99-7BE9-2106-9526C1907E7B}"/>
              </a:ext>
            </a:extLst>
          </p:cNvPr>
          <p:cNvSpPr>
            <a:spLocks noGrp="1"/>
          </p:cNvSpPr>
          <p:nvPr>
            <p:ph type="dt" sz="half" idx="10"/>
          </p:nvPr>
        </p:nvSpPr>
        <p:spPr/>
        <p:txBody>
          <a:bodyPr/>
          <a:lstStyle/>
          <a:p>
            <a:fld id="{EBF205C2-C3CA-424A-9019-1BD04CDF8DB0}" type="datetime9">
              <a:rPr lang="en-US" smtClean="0"/>
              <a:t>5/2/2026 12:09:59 AM</a:t>
            </a:fld>
            <a:endParaRPr lang="en-US"/>
          </a:p>
        </p:txBody>
      </p:sp>
      <p:sp>
        <p:nvSpPr>
          <p:cNvPr id="8" name="Footer Placeholder 7">
            <a:extLst>
              <a:ext uri="{FF2B5EF4-FFF2-40B4-BE49-F238E27FC236}">
                <a16:creationId xmlns:a16="http://schemas.microsoft.com/office/drawing/2014/main" id="{03657C2F-00C1-65A4-502D-01409A78073C}"/>
              </a:ext>
            </a:extLst>
          </p:cNvPr>
          <p:cNvSpPr>
            <a:spLocks noGrp="1"/>
          </p:cNvSpPr>
          <p:nvPr>
            <p:ph type="ftr" sz="quarter" idx="11"/>
          </p:nvPr>
        </p:nvSpPr>
        <p:spPr/>
        <p:txBody>
          <a:bodyPr/>
          <a:lstStyle/>
          <a:p>
            <a:r>
              <a:rPr lang="en-US"/>
              <a:t>Deep Learning-Based Sleep Disorder Detection Using EEG Signal Analysis</a:t>
            </a:r>
          </a:p>
        </p:txBody>
      </p:sp>
      <p:sp>
        <p:nvSpPr>
          <p:cNvPr id="9" name="Slide Number Placeholder 8">
            <a:extLst>
              <a:ext uri="{FF2B5EF4-FFF2-40B4-BE49-F238E27FC236}">
                <a16:creationId xmlns:a16="http://schemas.microsoft.com/office/drawing/2014/main" id="{FC73F3D4-9437-B78C-E25E-34879FD7A508}"/>
              </a:ext>
            </a:extLst>
          </p:cNvPr>
          <p:cNvSpPr>
            <a:spLocks noGrp="1"/>
          </p:cNvSpPr>
          <p:nvPr>
            <p:ph type="sldNum" sz="quarter" idx="12"/>
          </p:nvPr>
        </p:nvSpPr>
        <p:spPr/>
        <p:txBody>
          <a:bodyPr/>
          <a:lstStyle/>
          <a:p>
            <a:fld id="{5DA9DDE7-DF24-421B-8B5A-9F7A222497E2}" type="slidenum">
              <a:rPr lang="en-US" smtClean="0"/>
              <a:t>4</a:t>
            </a:fld>
            <a:endParaRPr lang="en-US"/>
          </a:p>
        </p:txBody>
      </p:sp>
      <p:sp>
        <p:nvSpPr>
          <p:cNvPr id="2" name="TextBox 1">
            <a:extLst>
              <a:ext uri="{FF2B5EF4-FFF2-40B4-BE49-F238E27FC236}">
                <a16:creationId xmlns:a16="http://schemas.microsoft.com/office/drawing/2014/main" id="{2C957367-F2C4-4226-D912-BD67DB250D79}"/>
              </a:ext>
            </a:extLst>
          </p:cNvPr>
          <p:cNvSpPr txBox="1"/>
          <p:nvPr/>
        </p:nvSpPr>
        <p:spPr>
          <a:xfrm>
            <a:off x="264489" y="491613"/>
            <a:ext cx="11927511" cy="461665"/>
          </a:xfrm>
          <a:prstGeom prst="rect">
            <a:avLst/>
          </a:prstGeom>
          <a:noFill/>
        </p:spPr>
        <p:txBody>
          <a:bodyPr wrap="square" rtlCol="0">
            <a:spAutoFit/>
          </a:bodyPr>
          <a:lstStyle/>
          <a:p>
            <a:pPr algn="ctr"/>
            <a:r>
              <a:rPr lang="en-IN" sz="2400" b="1" dirty="0">
                <a:solidFill>
                  <a:srgbClr val="FF0000"/>
                </a:solidFill>
                <a:latin typeface="Times New Roman" panose="02020603050405020304" pitchFamily="18" charset="0"/>
                <a:cs typeface="Times New Roman" panose="02020603050405020304" pitchFamily="18" charset="0"/>
              </a:rPr>
              <a:t>INTRODUCTION</a:t>
            </a:r>
          </a:p>
        </p:txBody>
      </p:sp>
      <p:sp>
        <p:nvSpPr>
          <p:cNvPr id="6" name="TextBox 5">
            <a:extLst>
              <a:ext uri="{FF2B5EF4-FFF2-40B4-BE49-F238E27FC236}">
                <a16:creationId xmlns:a16="http://schemas.microsoft.com/office/drawing/2014/main" id="{6E21489B-BE57-6D2D-743B-B570E9C1A357}"/>
              </a:ext>
            </a:extLst>
          </p:cNvPr>
          <p:cNvSpPr txBox="1"/>
          <p:nvPr/>
        </p:nvSpPr>
        <p:spPr>
          <a:xfrm>
            <a:off x="592282" y="1332877"/>
            <a:ext cx="10983191" cy="4197559"/>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Sleep plays an important role in maintaining physical health, mental well being, and daily performance. However, many people suffer from sleep disorders without being properly diagnosed. Conditions such as insomnia, sleep disordered breathing, and narcolepsy can seriously affect a person’s quality of life, concentration, and long term health. In many cases, individuals may not even realize that their sleep patterns are abnormal, which makes early detection difficult.</a:t>
            </a:r>
          </a:p>
          <a:p>
            <a:pPr algn="just">
              <a:lnSpc>
                <a:spcPct val="150000"/>
              </a:lnSpc>
            </a:pPr>
            <a:r>
              <a:rPr lang="en-US" dirty="0">
                <a:latin typeface="Times New Roman" panose="02020603050405020304" pitchFamily="18" charset="0"/>
                <a:cs typeface="Times New Roman" panose="02020603050405020304" pitchFamily="18" charset="0"/>
              </a:rPr>
              <a:t>The traditional diagnosis of sleep disorders is based on overnight sleep studies conducted in specialized sleep laboratories. These studies involve recording brain activity using EEG signals and analyzing them manually by trained medical experts. Although this method is accurate, it is time consuming, expensive, and not easily accessible to everyone. Manual analysis of EEG recordings also requires significant effort and can vary depending on the experience of the clinician.</a:t>
            </a:r>
          </a:p>
        </p:txBody>
      </p:sp>
    </p:spTree>
    <p:extLst>
      <p:ext uri="{BB962C8B-B14F-4D97-AF65-F5344CB8AC3E}">
        <p14:creationId xmlns:p14="http://schemas.microsoft.com/office/powerpoint/2010/main" val="2057923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1FCE7-B658-0329-8905-FF763AC4567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5271DE3-B846-9BF0-0876-4DEB6975730D}"/>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F8B2A5E-5110-7CDB-4C22-6AE6C6534F4E}"/>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004D3C3F-EAE4-1E34-83F8-86CFC809A34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a:extLst>
              <a:ext uri="{FF2B5EF4-FFF2-40B4-BE49-F238E27FC236}">
                <a16:creationId xmlns:a16="http://schemas.microsoft.com/office/drawing/2014/main" id="{FCC1A414-3D85-31C8-B558-7ED1C9C82FF0}"/>
              </a:ext>
            </a:extLst>
          </p:cNvPr>
          <p:cNvSpPr>
            <a:spLocks noGrp="1"/>
          </p:cNvSpPr>
          <p:nvPr>
            <p:ph type="dt" sz="half" idx="10"/>
          </p:nvPr>
        </p:nvSpPr>
        <p:spPr/>
        <p:txBody>
          <a:bodyPr/>
          <a:lstStyle/>
          <a:p>
            <a:fld id="{CE7D569D-487F-4751-8599-00E27FC03481}" type="datetime9">
              <a:rPr lang="en-US" smtClean="0"/>
              <a:t>5/2/2026 12:09:59 AM</a:t>
            </a:fld>
            <a:endParaRPr lang="en-US"/>
          </a:p>
        </p:txBody>
      </p:sp>
      <p:sp>
        <p:nvSpPr>
          <p:cNvPr id="8" name="Footer Placeholder 7">
            <a:extLst>
              <a:ext uri="{FF2B5EF4-FFF2-40B4-BE49-F238E27FC236}">
                <a16:creationId xmlns:a16="http://schemas.microsoft.com/office/drawing/2014/main" id="{3DF1DD3C-B4D3-D56C-BDFF-0BFFB34BF5D0}"/>
              </a:ext>
            </a:extLst>
          </p:cNvPr>
          <p:cNvSpPr>
            <a:spLocks noGrp="1"/>
          </p:cNvSpPr>
          <p:nvPr>
            <p:ph type="ftr" sz="quarter" idx="11"/>
          </p:nvPr>
        </p:nvSpPr>
        <p:spPr/>
        <p:txBody>
          <a:bodyPr/>
          <a:lstStyle/>
          <a:p>
            <a:r>
              <a:rPr lang="en-US"/>
              <a:t>Deep Learning-Based Sleep Disorder Detection Using EEG Signal Analysis</a:t>
            </a:r>
          </a:p>
        </p:txBody>
      </p:sp>
      <p:sp>
        <p:nvSpPr>
          <p:cNvPr id="9" name="Slide Number Placeholder 8">
            <a:extLst>
              <a:ext uri="{FF2B5EF4-FFF2-40B4-BE49-F238E27FC236}">
                <a16:creationId xmlns:a16="http://schemas.microsoft.com/office/drawing/2014/main" id="{76E35220-5BE7-64B1-E4BC-818FB2E78701}"/>
              </a:ext>
            </a:extLst>
          </p:cNvPr>
          <p:cNvSpPr>
            <a:spLocks noGrp="1"/>
          </p:cNvSpPr>
          <p:nvPr>
            <p:ph type="sldNum" sz="quarter" idx="12"/>
          </p:nvPr>
        </p:nvSpPr>
        <p:spPr/>
        <p:txBody>
          <a:bodyPr/>
          <a:lstStyle/>
          <a:p>
            <a:fld id="{5DA9DDE7-DF24-421B-8B5A-9F7A222497E2}" type="slidenum">
              <a:rPr lang="en-US" smtClean="0"/>
              <a:t>5</a:t>
            </a:fld>
            <a:endParaRPr lang="en-US"/>
          </a:p>
        </p:txBody>
      </p:sp>
      <p:sp>
        <p:nvSpPr>
          <p:cNvPr id="2" name="TextBox 1">
            <a:extLst>
              <a:ext uri="{FF2B5EF4-FFF2-40B4-BE49-F238E27FC236}">
                <a16:creationId xmlns:a16="http://schemas.microsoft.com/office/drawing/2014/main" id="{21F05CBF-E98F-34EA-85E0-B01E97CCD24F}"/>
              </a:ext>
            </a:extLst>
          </p:cNvPr>
          <p:cNvSpPr txBox="1"/>
          <p:nvPr/>
        </p:nvSpPr>
        <p:spPr>
          <a:xfrm>
            <a:off x="264489" y="435366"/>
            <a:ext cx="11927511" cy="461665"/>
          </a:xfrm>
          <a:prstGeom prst="rect">
            <a:avLst/>
          </a:prstGeom>
          <a:noFill/>
        </p:spPr>
        <p:txBody>
          <a:bodyPr wrap="square" rtlCol="0">
            <a:spAutoFit/>
          </a:bodyPr>
          <a:lstStyle/>
          <a:p>
            <a:pPr algn="ctr"/>
            <a:r>
              <a:rPr lang="en-IN" sz="2400" b="1" dirty="0">
                <a:solidFill>
                  <a:srgbClr val="FF0000"/>
                </a:solidFill>
                <a:latin typeface="Times New Roman" panose="02020603050405020304" pitchFamily="18" charset="0"/>
                <a:cs typeface="Times New Roman" panose="02020603050405020304" pitchFamily="18" charset="0"/>
              </a:rPr>
              <a:t>INTRODUCTION CONTINUED</a:t>
            </a:r>
          </a:p>
        </p:txBody>
      </p:sp>
      <p:sp>
        <p:nvSpPr>
          <p:cNvPr id="6" name="TextBox 5">
            <a:extLst>
              <a:ext uri="{FF2B5EF4-FFF2-40B4-BE49-F238E27FC236}">
                <a16:creationId xmlns:a16="http://schemas.microsoft.com/office/drawing/2014/main" id="{6309C1F0-85A3-0D6B-53C3-2D24217B8850}"/>
              </a:ext>
            </a:extLst>
          </p:cNvPr>
          <p:cNvSpPr txBox="1"/>
          <p:nvPr/>
        </p:nvSpPr>
        <p:spPr>
          <a:xfrm>
            <a:off x="477035" y="1277328"/>
            <a:ext cx="11306256" cy="4613058"/>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Because of these limitations, there is a growing need for an automated system that can assist in detecting sleep disorders using EEG signals. Such a system should be able to analyze sleep data efficiently and provide reliable results without relying on manually extracted features. An intelligent approach can help reduce the workload of clinicians and support faster decision making.</a:t>
            </a:r>
          </a:p>
          <a:p>
            <a:pPr algn="just">
              <a:lnSpc>
                <a:spcPct val="150000"/>
              </a:lnSpc>
            </a:pPr>
            <a:r>
              <a:rPr lang="en-US" dirty="0">
                <a:latin typeface="Times New Roman" panose="02020603050405020304" pitchFamily="18" charset="0"/>
                <a:cs typeface="Times New Roman" panose="02020603050405020304" pitchFamily="18" charset="0"/>
              </a:rPr>
              <a:t>In this project, a deep learning based approach is used to automatically detect sleep disorders from EEG signals recorded during sleep. The EEG data is preprocessed to remove noise and divided into fixed length segments for effective analysis. A hybrid model combining Convolutional Neural Networks and Bidirectional Long Short Term Memory networks is used to learn meaningful patterns from the EEG signals and capture changes over time. The system classifies sleep patterns into normal sleep, insomnia, sleep disordered breathing, and narcolepsy. This approach aims to provide a reliable and supportive tool for sleep disorder detection that can be useful in clinical environments and future sleep monitoring applications.</a:t>
            </a:r>
          </a:p>
        </p:txBody>
      </p:sp>
    </p:spTree>
    <p:extLst>
      <p:ext uri="{BB962C8B-B14F-4D97-AF65-F5344CB8AC3E}">
        <p14:creationId xmlns:p14="http://schemas.microsoft.com/office/powerpoint/2010/main" val="2115908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90B07-7CC4-4F9F-DA03-90D11667A25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17FBB0D-DFE7-2AA1-82F2-455B781314CA}"/>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6C88D7E-1BDD-B637-E26B-31FE77208DAC}"/>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9CCC077F-C1B1-CA94-B49C-7C42909FC30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1"/>
            <a:ext cx="1127234" cy="1167315"/>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a:extLst>
              <a:ext uri="{FF2B5EF4-FFF2-40B4-BE49-F238E27FC236}">
                <a16:creationId xmlns:a16="http://schemas.microsoft.com/office/drawing/2014/main" id="{F1F13140-3B7E-E892-8BE5-A04AF19DC10D}"/>
              </a:ext>
            </a:extLst>
          </p:cNvPr>
          <p:cNvSpPr>
            <a:spLocks noGrp="1"/>
          </p:cNvSpPr>
          <p:nvPr>
            <p:ph type="dt" sz="half" idx="10"/>
          </p:nvPr>
        </p:nvSpPr>
        <p:spPr/>
        <p:txBody>
          <a:bodyPr/>
          <a:lstStyle/>
          <a:p>
            <a:fld id="{C1EEA0AC-03DB-454F-B79A-EC2D1B1F64E5}" type="datetime9">
              <a:rPr lang="en-US" smtClean="0"/>
              <a:t>5/2/2026 12:09:59 AM</a:t>
            </a:fld>
            <a:endParaRPr lang="en-US"/>
          </a:p>
        </p:txBody>
      </p:sp>
      <p:sp>
        <p:nvSpPr>
          <p:cNvPr id="8" name="Footer Placeholder 7">
            <a:extLst>
              <a:ext uri="{FF2B5EF4-FFF2-40B4-BE49-F238E27FC236}">
                <a16:creationId xmlns:a16="http://schemas.microsoft.com/office/drawing/2014/main" id="{78DA03FB-249E-C652-38CB-81400B539885}"/>
              </a:ext>
            </a:extLst>
          </p:cNvPr>
          <p:cNvSpPr>
            <a:spLocks noGrp="1"/>
          </p:cNvSpPr>
          <p:nvPr>
            <p:ph type="ftr" sz="quarter" idx="11"/>
          </p:nvPr>
        </p:nvSpPr>
        <p:spPr/>
        <p:txBody>
          <a:bodyPr/>
          <a:lstStyle/>
          <a:p>
            <a:r>
              <a:rPr lang="en-US"/>
              <a:t>Deep Learning-Based Sleep Disorder Detection Using EEG Signal Analysis</a:t>
            </a:r>
            <a:endParaRPr lang="en-US" dirty="0"/>
          </a:p>
        </p:txBody>
      </p:sp>
      <p:sp>
        <p:nvSpPr>
          <p:cNvPr id="9" name="Slide Number Placeholder 8">
            <a:extLst>
              <a:ext uri="{FF2B5EF4-FFF2-40B4-BE49-F238E27FC236}">
                <a16:creationId xmlns:a16="http://schemas.microsoft.com/office/drawing/2014/main" id="{7CCCE184-F4B6-AA96-78BB-028E6394EBC0}"/>
              </a:ext>
            </a:extLst>
          </p:cNvPr>
          <p:cNvSpPr>
            <a:spLocks noGrp="1"/>
          </p:cNvSpPr>
          <p:nvPr>
            <p:ph type="sldNum" sz="quarter" idx="12"/>
          </p:nvPr>
        </p:nvSpPr>
        <p:spPr/>
        <p:txBody>
          <a:bodyPr/>
          <a:lstStyle/>
          <a:p>
            <a:fld id="{5DA9DDE7-DF24-421B-8B5A-9F7A222497E2}" type="slidenum">
              <a:rPr lang="en-US" smtClean="0"/>
              <a:t>6</a:t>
            </a:fld>
            <a:endParaRPr lang="en-US"/>
          </a:p>
        </p:txBody>
      </p:sp>
      <p:sp>
        <p:nvSpPr>
          <p:cNvPr id="2" name="TextBox 1">
            <a:extLst>
              <a:ext uri="{FF2B5EF4-FFF2-40B4-BE49-F238E27FC236}">
                <a16:creationId xmlns:a16="http://schemas.microsoft.com/office/drawing/2014/main" id="{73739683-B7F1-9A45-175C-9466AD5E01F6}"/>
              </a:ext>
            </a:extLst>
          </p:cNvPr>
          <p:cNvSpPr txBox="1"/>
          <p:nvPr/>
        </p:nvSpPr>
        <p:spPr>
          <a:xfrm>
            <a:off x="264489" y="435366"/>
            <a:ext cx="11927511" cy="461665"/>
          </a:xfrm>
          <a:prstGeom prst="rect">
            <a:avLst/>
          </a:prstGeom>
          <a:noFill/>
        </p:spPr>
        <p:txBody>
          <a:bodyPr wrap="square" rtlCol="0">
            <a:spAutoFit/>
          </a:bodyPr>
          <a:lstStyle/>
          <a:p>
            <a:pPr algn="ctr"/>
            <a:r>
              <a:rPr lang="en-IN" sz="2400" b="1" dirty="0">
                <a:solidFill>
                  <a:srgbClr val="FF0000"/>
                </a:solidFill>
                <a:latin typeface="Times New Roman" panose="02020603050405020304" pitchFamily="18" charset="0"/>
                <a:cs typeface="Times New Roman" panose="02020603050405020304" pitchFamily="18" charset="0"/>
              </a:rPr>
              <a:t>LITERATURE SURVEY</a:t>
            </a:r>
          </a:p>
        </p:txBody>
      </p:sp>
      <p:graphicFrame>
        <p:nvGraphicFramePr>
          <p:cNvPr id="6" name="Table 5">
            <a:extLst>
              <a:ext uri="{FF2B5EF4-FFF2-40B4-BE49-F238E27FC236}">
                <a16:creationId xmlns:a16="http://schemas.microsoft.com/office/drawing/2014/main" id="{6B9ABFF1-8DCA-6314-88AA-DFD25A7A7713}"/>
              </a:ext>
            </a:extLst>
          </p:cNvPr>
          <p:cNvGraphicFramePr>
            <a:graphicFrameLocks noGrp="1"/>
          </p:cNvGraphicFramePr>
          <p:nvPr>
            <p:extLst>
              <p:ext uri="{D42A27DB-BD31-4B8C-83A1-F6EECF244321}">
                <p14:modId xmlns:p14="http://schemas.microsoft.com/office/powerpoint/2010/main" val="1402157611"/>
              </p:ext>
            </p:extLst>
          </p:nvPr>
        </p:nvGraphicFramePr>
        <p:xfrm>
          <a:off x="776482" y="1112334"/>
          <a:ext cx="10903524" cy="5129882"/>
        </p:xfrm>
        <a:graphic>
          <a:graphicData uri="http://schemas.openxmlformats.org/drawingml/2006/table">
            <a:tbl>
              <a:tblPr firstRow="1" bandRow="1">
                <a:tableStyleId>{5940675A-B579-460E-94D1-54222C63F5DA}</a:tableStyleId>
              </a:tblPr>
              <a:tblGrid>
                <a:gridCol w="1817254">
                  <a:extLst>
                    <a:ext uri="{9D8B030D-6E8A-4147-A177-3AD203B41FA5}">
                      <a16:colId xmlns:a16="http://schemas.microsoft.com/office/drawing/2014/main" val="2059334803"/>
                    </a:ext>
                  </a:extLst>
                </a:gridCol>
                <a:gridCol w="1817254">
                  <a:extLst>
                    <a:ext uri="{9D8B030D-6E8A-4147-A177-3AD203B41FA5}">
                      <a16:colId xmlns:a16="http://schemas.microsoft.com/office/drawing/2014/main" val="3777302646"/>
                    </a:ext>
                  </a:extLst>
                </a:gridCol>
                <a:gridCol w="1817254">
                  <a:extLst>
                    <a:ext uri="{9D8B030D-6E8A-4147-A177-3AD203B41FA5}">
                      <a16:colId xmlns:a16="http://schemas.microsoft.com/office/drawing/2014/main" val="1249768523"/>
                    </a:ext>
                  </a:extLst>
                </a:gridCol>
                <a:gridCol w="1817254">
                  <a:extLst>
                    <a:ext uri="{9D8B030D-6E8A-4147-A177-3AD203B41FA5}">
                      <a16:colId xmlns:a16="http://schemas.microsoft.com/office/drawing/2014/main" val="845995546"/>
                    </a:ext>
                  </a:extLst>
                </a:gridCol>
                <a:gridCol w="1817254">
                  <a:extLst>
                    <a:ext uri="{9D8B030D-6E8A-4147-A177-3AD203B41FA5}">
                      <a16:colId xmlns:a16="http://schemas.microsoft.com/office/drawing/2014/main" val="1739911105"/>
                    </a:ext>
                  </a:extLst>
                </a:gridCol>
                <a:gridCol w="1817254">
                  <a:extLst>
                    <a:ext uri="{9D8B030D-6E8A-4147-A177-3AD203B41FA5}">
                      <a16:colId xmlns:a16="http://schemas.microsoft.com/office/drawing/2014/main" val="3880547628"/>
                    </a:ext>
                  </a:extLst>
                </a:gridCol>
              </a:tblGrid>
              <a:tr h="424485">
                <a:tc>
                  <a:txBody>
                    <a:bodyPr/>
                    <a:lstStyle/>
                    <a:p>
                      <a:pPr>
                        <a:buNone/>
                      </a:pPr>
                      <a:r>
                        <a:rPr lang="en-IN" sz="1200" dirty="0">
                          <a:latin typeface="Times New Roman" panose="02020603050405020304" pitchFamily="18" charset="0"/>
                          <a:cs typeface="Times New Roman" panose="02020603050405020304" pitchFamily="18" charset="0"/>
                        </a:rPr>
                        <a:t>Paper (Author, Year, Journal)</a:t>
                      </a:r>
                    </a:p>
                  </a:txBody>
                  <a:tcPr anchor="ctr"/>
                </a:tc>
                <a:tc>
                  <a:txBody>
                    <a:bodyPr/>
                    <a:lstStyle/>
                    <a:p>
                      <a:pPr>
                        <a:buNone/>
                      </a:pPr>
                      <a:r>
                        <a:rPr lang="en-IN" sz="1200">
                          <a:latin typeface="Times New Roman" panose="02020603050405020304" pitchFamily="18" charset="0"/>
                          <a:cs typeface="Times New Roman" panose="02020603050405020304" pitchFamily="18" charset="0"/>
                        </a:rPr>
                        <a:t>Disorders Studied</a:t>
                      </a:r>
                    </a:p>
                  </a:txBody>
                  <a:tcPr anchor="ctr"/>
                </a:tc>
                <a:tc>
                  <a:txBody>
                    <a:bodyPr/>
                    <a:lstStyle/>
                    <a:p>
                      <a:pPr>
                        <a:buNone/>
                      </a:pPr>
                      <a:r>
                        <a:rPr lang="en-IN" sz="1200">
                          <a:latin typeface="Times New Roman" panose="02020603050405020304" pitchFamily="18" charset="0"/>
                          <a:cs typeface="Times New Roman" panose="02020603050405020304" pitchFamily="18" charset="0"/>
                        </a:rPr>
                        <a:t>Core Approach</a:t>
                      </a:r>
                    </a:p>
                  </a:txBody>
                  <a:tcPr anchor="ctr"/>
                </a:tc>
                <a:tc>
                  <a:txBody>
                    <a:bodyPr/>
                    <a:lstStyle/>
                    <a:p>
                      <a:pPr>
                        <a:buNone/>
                      </a:pPr>
                      <a:r>
                        <a:rPr lang="en-IN" sz="1200">
                          <a:latin typeface="Times New Roman" panose="02020603050405020304" pitchFamily="18" charset="0"/>
                          <a:cs typeface="Times New Roman" panose="02020603050405020304" pitchFamily="18" charset="0"/>
                        </a:rPr>
                        <a:t>Dataset</a:t>
                      </a:r>
                    </a:p>
                  </a:txBody>
                  <a:tcPr anchor="ctr"/>
                </a:tc>
                <a:tc>
                  <a:txBody>
                    <a:bodyPr/>
                    <a:lstStyle/>
                    <a:p>
                      <a:pPr>
                        <a:buNone/>
                      </a:pPr>
                      <a:r>
                        <a:rPr lang="en-IN" sz="1200">
                          <a:latin typeface="Times New Roman" panose="02020603050405020304" pitchFamily="18" charset="0"/>
                          <a:cs typeface="Times New Roman" panose="02020603050405020304" pitchFamily="18" charset="0"/>
                        </a:rPr>
                        <a:t>Headline Results</a:t>
                      </a:r>
                    </a:p>
                  </a:txBody>
                  <a:tcPr anchor="ctr"/>
                </a:tc>
                <a:tc>
                  <a:txBody>
                    <a:bodyPr/>
                    <a:lstStyle/>
                    <a:p>
                      <a:pPr>
                        <a:buNone/>
                      </a:pPr>
                      <a:r>
                        <a:rPr lang="en-IN" sz="1200">
                          <a:latin typeface="Times New Roman" panose="02020603050405020304" pitchFamily="18" charset="0"/>
                          <a:cs typeface="Times New Roman" panose="02020603050405020304" pitchFamily="18" charset="0"/>
                        </a:rPr>
                        <a:t>Notable Limitations</a:t>
                      </a:r>
                    </a:p>
                  </a:txBody>
                  <a:tcPr anchor="ctr"/>
                </a:tc>
                <a:extLst>
                  <a:ext uri="{0D108BD9-81ED-4DB2-BD59-A6C34878D82A}">
                    <a16:rowId xmlns:a16="http://schemas.microsoft.com/office/drawing/2014/main" val="3736750042"/>
                  </a:ext>
                </a:extLst>
              </a:tr>
              <a:tr h="1821554">
                <a:tc>
                  <a:txBody>
                    <a:bodyPr/>
                    <a:lstStyle/>
                    <a:p>
                      <a:pPr>
                        <a:buNone/>
                      </a:pPr>
                      <a:r>
                        <a:rPr lang="en-US" sz="1200" b="1">
                          <a:latin typeface="Times New Roman" panose="02020603050405020304" pitchFamily="18" charset="0"/>
                          <a:cs typeface="Times New Roman" panose="02020603050405020304" pitchFamily="18" charset="0"/>
                        </a:rPr>
                        <a:t>Sleep Disorder Diagnosis through Complex-Morlet Wavelet Representation using Bi-GRU and Self-Attention (2024, IJACSA)</a:t>
                      </a:r>
                      <a:endParaRPr lang="en-US" sz="1200">
                        <a:latin typeface="Times New Roman" panose="02020603050405020304" pitchFamily="18" charset="0"/>
                        <a:cs typeface="Times New Roman" panose="02020603050405020304" pitchFamily="18" charset="0"/>
                      </a:endParaRPr>
                    </a:p>
                  </a:txBody>
                  <a:tcPr anchor="ctr"/>
                </a:tc>
                <a:tc>
                  <a:txBody>
                    <a:bodyPr/>
                    <a:lstStyle/>
                    <a:p>
                      <a:pPr>
                        <a:buNone/>
                      </a:pPr>
                      <a:r>
                        <a:rPr lang="en-IN" sz="1200">
                          <a:latin typeface="Times New Roman" panose="02020603050405020304" pitchFamily="18" charset="0"/>
                          <a:cs typeface="Times New Roman" panose="02020603050405020304" pitchFamily="18" charset="0"/>
                        </a:rPr>
                        <a:t>Insomnia, Apnea, Normal</a:t>
                      </a:r>
                    </a:p>
                  </a:txBody>
                  <a:tcPr anchor="ctr"/>
                </a:tc>
                <a:tc>
                  <a:txBody>
                    <a:bodyPr/>
                    <a:lstStyle/>
                    <a:p>
                      <a:pPr>
                        <a:buNone/>
                      </a:pPr>
                      <a:r>
                        <a:rPr lang="en-IN" sz="1200">
                          <a:latin typeface="Times New Roman" panose="02020603050405020304" pitchFamily="18" charset="0"/>
                          <a:cs typeface="Times New Roman" panose="02020603050405020304" pitchFamily="18" charset="0"/>
                        </a:rPr>
                        <a:t>EEG preprocessing → complex-Morlet wavelet transformation → Bi-GRU for temporal modeling → self-attention mechanism → multi-class classification</a:t>
                      </a:r>
                    </a:p>
                  </a:txBody>
                  <a:tcPr anchor="ctr"/>
                </a:tc>
                <a:tc>
                  <a:txBody>
                    <a:bodyPr/>
                    <a:lstStyle/>
                    <a:p>
                      <a:pPr>
                        <a:buNone/>
                      </a:pPr>
                      <a:r>
                        <a:rPr lang="en-IN" sz="1200">
                          <a:latin typeface="Times New Roman" panose="02020603050405020304" pitchFamily="18" charset="0"/>
                          <a:cs typeface="Times New Roman" panose="02020603050405020304" pitchFamily="18" charset="0"/>
                        </a:rPr>
                        <a:t>Public EEG sleep datasets</a:t>
                      </a:r>
                    </a:p>
                  </a:txBody>
                  <a:tcPr anchor="ctr"/>
                </a:tc>
                <a:tc>
                  <a:txBody>
                    <a:bodyPr/>
                    <a:lstStyle/>
                    <a:p>
                      <a:pPr>
                        <a:buNone/>
                      </a:pPr>
                      <a:r>
                        <a:rPr lang="en-US" sz="1200">
                          <a:latin typeface="Times New Roman" panose="02020603050405020304" pitchFamily="18" charset="0"/>
                          <a:cs typeface="Times New Roman" panose="02020603050405020304" pitchFamily="18" charset="0"/>
                        </a:rPr>
                        <a:t>Demonstrated improved performance by combining time–frequency features with recurrent learning and attention mechanisms</a:t>
                      </a:r>
                    </a:p>
                  </a:txBody>
                  <a:tcPr anchor="ctr"/>
                </a:tc>
                <a:tc>
                  <a:txBody>
                    <a:bodyPr/>
                    <a:lstStyle/>
                    <a:p>
                      <a:pPr>
                        <a:buNone/>
                      </a:pPr>
                      <a:r>
                        <a:rPr lang="en-US" sz="1200">
                          <a:latin typeface="Times New Roman" panose="02020603050405020304" pitchFamily="18" charset="0"/>
                          <a:cs typeface="Times New Roman" panose="02020603050405020304" pitchFamily="18" charset="0"/>
                        </a:rPr>
                        <a:t>Higher computational complexity; relies on handcrafted time-frequency transformation</a:t>
                      </a:r>
                    </a:p>
                  </a:txBody>
                  <a:tcPr anchor="ctr"/>
                </a:tc>
                <a:extLst>
                  <a:ext uri="{0D108BD9-81ED-4DB2-BD59-A6C34878D82A}">
                    <a16:rowId xmlns:a16="http://schemas.microsoft.com/office/drawing/2014/main" val="1468121880"/>
                  </a:ext>
                </a:extLst>
              </a:tr>
              <a:tr h="1187970">
                <a:tc>
                  <a:txBody>
                    <a:bodyPr/>
                    <a:lstStyle/>
                    <a:p>
                      <a:pPr>
                        <a:buNone/>
                      </a:pPr>
                      <a:r>
                        <a:rPr lang="en-US" sz="1200" b="1">
                          <a:latin typeface="Times New Roman" panose="02020603050405020304" pitchFamily="18" charset="0"/>
                          <a:cs typeface="Times New Roman" panose="02020603050405020304" pitchFamily="18" charset="0"/>
                        </a:rPr>
                        <a:t>Automated Identification of Sleep Disorders Using EEG Signals and Deep Learning (2022, IEEE)</a:t>
                      </a:r>
                      <a:endParaRPr lang="en-US" sz="1200">
                        <a:latin typeface="Times New Roman" panose="02020603050405020304" pitchFamily="18" charset="0"/>
                        <a:cs typeface="Times New Roman" panose="02020603050405020304" pitchFamily="18" charset="0"/>
                      </a:endParaRPr>
                    </a:p>
                  </a:txBody>
                  <a:tcPr anchor="ctr"/>
                </a:tc>
                <a:tc>
                  <a:txBody>
                    <a:bodyPr/>
                    <a:lstStyle/>
                    <a:p>
                      <a:pPr>
                        <a:buNone/>
                      </a:pPr>
                      <a:r>
                        <a:rPr lang="en-IN" sz="1200">
                          <a:latin typeface="Times New Roman" panose="02020603050405020304" pitchFamily="18" charset="0"/>
                          <a:cs typeface="Times New Roman" panose="02020603050405020304" pitchFamily="18" charset="0"/>
                        </a:rPr>
                        <a:t>Normal vs Sleep Disorder</a:t>
                      </a:r>
                    </a:p>
                  </a:txBody>
                  <a:tcPr anchor="ctr"/>
                </a:tc>
                <a:tc>
                  <a:txBody>
                    <a:bodyPr/>
                    <a:lstStyle/>
                    <a:p>
                      <a:pPr>
                        <a:buNone/>
                      </a:pPr>
                      <a:r>
                        <a:rPr lang="en-US" sz="1200">
                          <a:latin typeface="Times New Roman" panose="02020603050405020304" pitchFamily="18" charset="0"/>
                          <a:cs typeface="Times New Roman" panose="02020603050405020304" pitchFamily="18" charset="0"/>
                        </a:rPr>
                        <a:t>EEG preprocessing → CNN for feature extraction → LSTM for temporal modeling → binary classification</a:t>
                      </a:r>
                    </a:p>
                  </a:txBody>
                  <a:tcPr anchor="ctr"/>
                </a:tc>
                <a:tc>
                  <a:txBody>
                    <a:bodyPr/>
                    <a:lstStyle/>
                    <a:p>
                      <a:pPr>
                        <a:buNone/>
                      </a:pPr>
                      <a:r>
                        <a:rPr lang="en-IN" sz="1200">
                          <a:latin typeface="Times New Roman" panose="02020603050405020304" pitchFamily="18" charset="0"/>
                          <a:cs typeface="Times New Roman" panose="02020603050405020304" pitchFamily="18" charset="0"/>
                        </a:rPr>
                        <a:t>Sleep-EDF / PhysioNet EEG dataset</a:t>
                      </a:r>
                    </a:p>
                  </a:txBody>
                  <a:tcPr anchor="ctr"/>
                </a:tc>
                <a:tc>
                  <a:txBody>
                    <a:bodyPr/>
                    <a:lstStyle/>
                    <a:p>
                      <a:pPr>
                        <a:buNone/>
                      </a:pPr>
                      <a:r>
                        <a:rPr lang="en-US" sz="1200">
                          <a:latin typeface="Times New Roman" panose="02020603050405020304" pitchFamily="18" charset="0"/>
                          <a:cs typeface="Times New Roman" panose="02020603050405020304" pitchFamily="18" charset="0"/>
                        </a:rPr>
                        <a:t>Demonstrated high accuracy for distinguishing normal and disordered sleep using CNN-LSTM</a:t>
                      </a:r>
                    </a:p>
                  </a:txBody>
                  <a:tcPr anchor="ctr"/>
                </a:tc>
                <a:tc>
                  <a:txBody>
                    <a:bodyPr/>
                    <a:lstStyle/>
                    <a:p>
                      <a:pPr>
                        <a:buNone/>
                      </a:pPr>
                      <a:r>
                        <a:rPr lang="en-US" sz="1200">
                          <a:latin typeface="Times New Roman" panose="02020603050405020304" pitchFamily="18" charset="0"/>
                          <a:cs typeface="Times New Roman" panose="02020603050405020304" pitchFamily="18" charset="0"/>
                        </a:rPr>
                        <a:t>Limited to binary classification; subject-dependent evaluation</a:t>
                      </a:r>
                    </a:p>
                  </a:txBody>
                  <a:tcPr anchor="ctr"/>
                </a:tc>
                <a:extLst>
                  <a:ext uri="{0D108BD9-81ED-4DB2-BD59-A6C34878D82A}">
                    <a16:rowId xmlns:a16="http://schemas.microsoft.com/office/drawing/2014/main" val="526058814"/>
                  </a:ext>
                </a:extLst>
              </a:tr>
              <a:tr h="1663158">
                <a:tc>
                  <a:txBody>
                    <a:bodyPr/>
                    <a:lstStyle/>
                    <a:p>
                      <a:pPr>
                        <a:buNone/>
                      </a:pPr>
                      <a:r>
                        <a:rPr lang="en-US" sz="1200" b="1">
                          <a:latin typeface="Times New Roman" panose="02020603050405020304" pitchFamily="18" charset="0"/>
                          <a:cs typeface="Times New Roman" panose="02020603050405020304" pitchFamily="18" charset="0"/>
                        </a:rPr>
                        <a:t>Recognition of Sleep Disorders from EEG Signals Using Deep Learning Techniques (2021, Elsevier)</a:t>
                      </a:r>
                      <a:endParaRPr lang="en-US" sz="1200">
                        <a:latin typeface="Times New Roman" panose="02020603050405020304" pitchFamily="18" charset="0"/>
                        <a:cs typeface="Times New Roman" panose="02020603050405020304" pitchFamily="18" charset="0"/>
                      </a:endParaRPr>
                    </a:p>
                  </a:txBody>
                  <a:tcPr anchor="ctr"/>
                </a:tc>
                <a:tc>
                  <a:txBody>
                    <a:bodyPr/>
                    <a:lstStyle/>
                    <a:p>
                      <a:pPr>
                        <a:buNone/>
                      </a:pPr>
                      <a:r>
                        <a:rPr lang="en-IN" sz="1200">
                          <a:latin typeface="Times New Roman" panose="02020603050405020304" pitchFamily="18" charset="0"/>
                          <a:cs typeface="Times New Roman" panose="02020603050405020304" pitchFamily="18" charset="0"/>
                        </a:rPr>
                        <a:t>Insomnia, Apnea, Normal</a:t>
                      </a:r>
                    </a:p>
                  </a:txBody>
                  <a:tcPr anchor="ctr"/>
                </a:tc>
                <a:tc>
                  <a:txBody>
                    <a:bodyPr/>
                    <a:lstStyle/>
                    <a:p>
                      <a:pPr>
                        <a:buNone/>
                      </a:pPr>
                      <a:r>
                        <a:rPr lang="en-IN" sz="1200">
                          <a:latin typeface="Times New Roman" panose="02020603050405020304" pitchFamily="18" charset="0"/>
                          <a:cs typeface="Times New Roman" panose="02020603050405020304" pitchFamily="18" charset="0"/>
                        </a:rPr>
                        <a:t>EEG signal filtering → CNN-based feature learning → deep neural network classifier</a:t>
                      </a:r>
                    </a:p>
                  </a:txBody>
                  <a:tcPr anchor="ctr"/>
                </a:tc>
                <a:tc>
                  <a:txBody>
                    <a:bodyPr/>
                    <a:lstStyle/>
                    <a:p>
                      <a:pPr>
                        <a:buNone/>
                      </a:pPr>
                      <a:r>
                        <a:rPr lang="en-IN" sz="1200">
                          <a:latin typeface="Times New Roman" panose="02020603050405020304" pitchFamily="18" charset="0"/>
                          <a:cs typeface="Times New Roman" panose="02020603050405020304" pitchFamily="18" charset="0"/>
                        </a:rPr>
                        <a:t>CAP Sleep Database</a:t>
                      </a:r>
                    </a:p>
                  </a:txBody>
                  <a:tcPr anchor="ctr"/>
                </a:tc>
                <a:tc>
                  <a:txBody>
                    <a:bodyPr/>
                    <a:lstStyle/>
                    <a:p>
                      <a:pPr>
                        <a:buNone/>
                      </a:pPr>
                      <a:r>
                        <a:rPr lang="en-US" sz="1200">
                          <a:latin typeface="Times New Roman" panose="02020603050405020304" pitchFamily="18" charset="0"/>
                          <a:cs typeface="Times New Roman" panose="02020603050405020304" pitchFamily="18" charset="0"/>
                        </a:rPr>
                        <a:t>Showed that EEG alone can effectively identify sleep disorders and outperformed traditional ML methods</a:t>
                      </a:r>
                    </a:p>
                  </a:txBody>
                  <a:tcPr anchor="ctr"/>
                </a:tc>
                <a:tc>
                  <a:txBody>
                    <a:bodyPr/>
                    <a:lstStyle/>
                    <a:p>
                      <a:pPr>
                        <a:buNone/>
                      </a:pPr>
                      <a:r>
                        <a:rPr lang="en-US" sz="1200" dirty="0">
                          <a:latin typeface="Times New Roman" panose="02020603050405020304" pitchFamily="18" charset="0"/>
                          <a:cs typeface="Times New Roman" panose="02020603050405020304" pitchFamily="18" charset="0"/>
                        </a:rPr>
                        <a:t>Limited temporal modeling; reduced generalization across unseen subjects</a:t>
                      </a:r>
                    </a:p>
                  </a:txBody>
                  <a:tcPr anchor="ctr"/>
                </a:tc>
                <a:extLst>
                  <a:ext uri="{0D108BD9-81ED-4DB2-BD59-A6C34878D82A}">
                    <a16:rowId xmlns:a16="http://schemas.microsoft.com/office/drawing/2014/main" val="2190061405"/>
                  </a:ext>
                </a:extLst>
              </a:tr>
            </a:tbl>
          </a:graphicData>
        </a:graphic>
      </p:graphicFrame>
    </p:spTree>
    <p:extLst>
      <p:ext uri="{BB962C8B-B14F-4D97-AF65-F5344CB8AC3E}">
        <p14:creationId xmlns:p14="http://schemas.microsoft.com/office/powerpoint/2010/main" val="2630394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0D108-759A-111F-8E53-7896300387D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07453BE-EA5C-FB55-B654-57E6B598ECB5}"/>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C7FF3BD-FE09-4D72-7710-0B0FD4302847}"/>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218ECD30-F717-19CA-36E9-747BE61CDC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a:extLst>
              <a:ext uri="{FF2B5EF4-FFF2-40B4-BE49-F238E27FC236}">
                <a16:creationId xmlns:a16="http://schemas.microsoft.com/office/drawing/2014/main" id="{A3004BDB-FF26-05B0-E5F4-AF565FD128B5}"/>
              </a:ext>
            </a:extLst>
          </p:cNvPr>
          <p:cNvSpPr>
            <a:spLocks noGrp="1"/>
          </p:cNvSpPr>
          <p:nvPr>
            <p:ph type="dt" sz="half" idx="10"/>
          </p:nvPr>
        </p:nvSpPr>
        <p:spPr/>
        <p:txBody>
          <a:bodyPr/>
          <a:lstStyle/>
          <a:p>
            <a:fld id="{8344C93C-A156-474C-98B6-EE78698EAAA6}" type="datetime9">
              <a:rPr lang="en-US" smtClean="0"/>
              <a:t>5/2/2026 12:09:59 AM</a:t>
            </a:fld>
            <a:endParaRPr lang="en-US"/>
          </a:p>
        </p:txBody>
      </p:sp>
      <p:sp>
        <p:nvSpPr>
          <p:cNvPr id="8" name="Footer Placeholder 7">
            <a:extLst>
              <a:ext uri="{FF2B5EF4-FFF2-40B4-BE49-F238E27FC236}">
                <a16:creationId xmlns:a16="http://schemas.microsoft.com/office/drawing/2014/main" id="{A4A90A53-F244-50FF-5F54-68201222BE96}"/>
              </a:ext>
            </a:extLst>
          </p:cNvPr>
          <p:cNvSpPr>
            <a:spLocks noGrp="1"/>
          </p:cNvSpPr>
          <p:nvPr>
            <p:ph type="ftr" sz="quarter" idx="11"/>
          </p:nvPr>
        </p:nvSpPr>
        <p:spPr/>
        <p:txBody>
          <a:bodyPr/>
          <a:lstStyle/>
          <a:p>
            <a:r>
              <a:rPr lang="en-US"/>
              <a:t>Deep Learning-Based Sleep Disorder Detection Using EEG Signal Analysis</a:t>
            </a:r>
            <a:endParaRPr lang="en-US" dirty="0"/>
          </a:p>
        </p:txBody>
      </p:sp>
      <p:sp>
        <p:nvSpPr>
          <p:cNvPr id="9" name="Slide Number Placeholder 8">
            <a:extLst>
              <a:ext uri="{FF2B5EF4-FFF2-40B4-BE49-F238E27FC236}">
                <a16:creationId xmlns:a16="http://schemas.microsoft.com/office/drawing/2014/main" id="{D990667D-205A-C1C8-EBE7-0D2EA8B25194}"/>
              </a:ext>
            </a:extLst>
          </p:cNvPr>
          <p:cNvSpPr>
            <a:spLocks noGrp="1"/>
          </p:cNvSpPr>
          <p:nvPr>
            <p:ph type="sldNum" sz="quarter" idx="12"/>
          </p:nvPr>
        </p:nvSpPr>
        <p:spPr/>
        <p:txBody>
          <a:bodyPr/>
          <a:lstStyle/>
          <a:p>
            <a:fld id="{5DA9DDE7-DF24-421B-8B5A-9F7A222497E2}" type="slidenum">
              <a:rPr lang="en-US" smtClean="0"/>
              <a:t>7</a:t>
            </a:fld>
            <a:endParaRPr lang="en-US" dirty="0"/>
          </a:p>
        </p:txBody>
      </p:sp>
      <p:sp>
        <p:nvSpPr>
          <p:cNvPr id="12" name="TextBox 11">
            <a:extLst>
              <a:ext uri="{FF2B5EF4-FFF2-40B4-BE49-F238E27FC236}">
                <a16:creationId xmlns:a16="http://schemas.microsoft.com/office/drawing/2014/main" id="{1B4470CD-6949-91C0-CBBF-15DD16A5CB9F}"/>
              </a:ext>
            </a:extLst>
          </p:cNvPr>
          <p:cNvSpPr txBox="1"/>
          <p:nvPr/>
        </p:nvSpPr>
        <p:spPr>
          <a:xfrm>
            <a:off x="1065444" y="1608808"/>
            <a:ext cx="10061112" cy="3782061"/>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Sleep disorders such as insomnia, sleep disordered breathing, and narcolepsy often go undiagnosed because their diagnosis relies on overnight sleep studies and manual analysis of EEG signals by medical experts. This process is time consuming, expensive, and not easily accessible, making early and large scale detection difficult.</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To overcome this, an automated system is needed that can analyze EEG signals and accurately detect sleep disorders without manual feature extraction. A deep learning based approach can learn meaningful patterns from EEG data and provide a faster, more reliable, and accessible solution to support sleep disorder diagnosis.</a:t>
            </a:r>
          </a:p>
        </p:txBody>
      </p:sp>
      <p:sp>
        <p:nvSpPr>
          <p:cNvPr id="2" name="TextBox 1">
            <a:extLst>
              <a:ext uri="{FF2B5EF4-FFF2-40B4-BE49-F238E27FC236}">
                <a16:creationId xmlns:a16="http://schemas.microsoft.com/office/drawing/2014/main" id="{3E0F578C-D6A9-1343-F2ED-BD54E1A82CEC}"/>
              </a:ext>
            </a:extLst>
          </p:cNvPr>
          <p:cNvSpPr txBox="1"/>
          <p:nvPr/>
        </p:nvSpPr>
        <p:spPr>
          <a:xfrm>
            <a:off x="264489" y="530942"/>
            <a:ext cx="11927511" cy="461665"/>
          </a:xfrm>
          <a:prstGeom prst="rect">
            <a:avLst/>
          </a:prstGeom>
          <a:noFill/>
        </p:spPr>
        <p:txBody>
          <a:bodyPr wrap="square" rtlCol="0">
            <a:spAutoFit/>
          </a:bodyPr>
          <a:lstStyle/>
          <a:p>
            <a:pPr algn="ctr"/>
            <a:r>
              <a:rPr lang="en-IN" sz="2000" b="1" dirty="0">
                <a:solidFill>
                  <a:srgbClr val="FF0000"/>
                </a:solidFill>
                <a:latin typeface="Times New Roman" panose="02020603050405020304" pitchFamily="18" charset="0"/>
                <a:cs typeface="Times New Roman" panose="02020603050405020304" pitchFamily="18" charset="0"/>
              </a:rPr>
              <a:t>       </a:t>
            </a:r>
            <a:r>
              <a:rPr lang="en-IN" sz="2400" b="1" dirty="0">
                <a:solidFill>
                  <a:srgbClr val="FF0000"/>
                </a:solidFill>
                <a:latin typeface="Times New Roman" panose="02020603050405020304" pitchFamily="18" charset="0"/>
                <a:cs typeface="Times New Roman" panose="02020603050405020304" pitchFamily="18" charset="0"/>
              </a:rPr>
              <a:t>PROBLEM STATEMENT  </a:t>
            </a:r>
          </a:p>
        </p:txBody>
      </p:sp>
    </p:spTree>
    <p:extLst>
      <p:ext uri="{BB962C8B-B14F-4D97-AF65-F5344CB8AC3E}">
        <p14:creationId xmlns:p14="http://schemas.microsoft.com/office/powerpoint/2010/main" val="3375152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45E3A-9EF0-9ADB-DC43-1BFA02AC7EA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EBA3089-6B12-34F1-BA64-A73475DB3FCD}"/>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AFC66D4-1923-AFCA-87A1-625F252504C7}"/>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BC5ED9ED-FF55-ABEB-6C39-781BD0923A9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a:extLst>
              <a:ext uri="{FF2B5EF4-FFF2-40B4-BE49-F238E27FC236}">
                <a16:creationId xmlns:a16="http://schemas.microsoft.com/office/drawing/2014/main" id="{A6C9C5A5-22DA-16EE-CBBA-6B5DBC38F248}"/>
              </a:ext>
            </a:extLst>
          </p:cNvPr>
          <p:cNvSpPr>
            <a:spLocks noGrp="1"/>
          </p:cNvSpPr>
          <p:nvPr>
            <p:ph type="dt" sz="half" idx="10"/>
          </p:nvPr>
        </p:nvSpPr>
        <p:spPr/>
        <p:txBody>
          <a:bodyPr/>
          <a:lstStyle/>
          <a:p>
            <a:fld id="{E3A81B60-305F-496E-BD74-005F6CBBC4B7}" type="datetime9">
              <a:rPr lang="en-US" smtClean="0"/>
              <a:t>5/2/2026 12:09:59 AM</a:t>
            </a:fld>
            <a:endParaRPr lang="en-US"/>
          </a:p>
        </p:txBody>
      </p:sp>
      <p:sp>
        <p:nvSpPr>
          <p:cNvPr id="8" name="Footer Placeholder 7">
            <a:extLst>
              <a:ext uri="{FF2B5EF4-FFF2-40B4-BE49-F238E27FC236}">
                <a16:creationId xmlns:a16="http://schemas.microsoft.com/office/drawing/2014/main" id="{D89F9CD8-DE59-F16C-C7E8-4FD6C16B3C4D}"/>
              </a:ext>
            </a:extLst>
          </p:cNvPr>
          <p:cNvSpPr>
            <a:spLocks noGrp="1"/>
          </p:cNvSpPr>
          <p:nvPr>
            <p:ph type="ftr" sz="quarter" idx="11"/>
          </p:nvPr>
        </p:nvSpPr>
        <p:spPr/>
        <p:txBody>
          <a:bodyPr/>
          <a:lstStyle/>
          <a:p>
            <a:r>
              <a:rPr lang="en-US"/>
              <a:t>Deep Learning-Based Sleep Disorder Detection Using EEG Signal Analysis</a:t>
            </a:r>
            <a:endParaRPr lang="en-US" dirty="0"/>
          </a:p>
        </p:txBody>
      </p:sp>
      <p:sp>
        <p:nvSpPr>
          <p:cNvPr id="9" name="Slide Number Placeholder 8">
            <a:extLst>
              <a:ext uri="{FF2B5EF4-FFF2-40B4-BE49-F238E27FC236}">
                <a16:creationId xmlns:a16="http://schemas.microsoft.com/office/drawing/2014/main" id="{C927882D-C8B1-271D-2BDB-B9ADB77D1A3D}"/>
              </a:ext>
            </a:extLst>
          </p:cNvPr>
          <p:cNvSpPr>
            <a:spLocks noGrp="1"/>
          </p:cNvSpPr>
          <p:nvPr>
            <p:ph type="sldNum" sz="quarter" idx="12"/>
          </p:nvPr>
        </p:nvSpPr>
        <p:spPr/>
        <p:txBody>
          <a:bodyPr/>
          <a:lstStyle/>
          <a:p>
            <a:fld id="{5DA9DDE7-DF24-421B-8B5A-9F7A222497E2}" type="slidenum">
              <a:rPr lang="en-US" smtClean="0"/>
              <a:t>8</a:t>
            </a:fld>
            <a:endParaRPr lang="en-US" dirty="0"/>
          </a:p>
        </p:txBody>
      </p:sp>
      <p:sp>
        <p:nvSpPr>
          <p:cNvPr id="10" name="TextBox 9">
            <a:extLst>
              <a:ext uri="{FF2B5EF4-FFF2-40B4-BE49-F238E27FC236}">
                <a16:creationId xmlns:a16="http://schemas.microsoft.com/office/drawing/2014/main" id="{BC999313-2DB7-BA3D-01F1-810AE6090058}"/>
              </a:ext>
            </a:extLst>
          </p:cNvPr>
          <p:cNvSpPr txBox="1"/>
          <p:nvPr/>
        </p:nvSpPr>
        <p:spPr>
          <a:xfrm>
            <a:off x="264489" y="506325"/>
            <a:ext cx="11927511" cy="461665"/>
          </a:xfrm>
          <a:prstGeom prst="rect">
            <a:avLst/>
          </a:prstGeom>
          <a:noFill/>
        </p:spPr>
        <p:txBody>
          <a:bodyPr wrap="square" rtlCol="0">
            <a:spAutoFit/>
          </a:bodyPr>
          <a:lstStyle/>
          <a:p>
            <a:pPr algn="ctr"/>
            <a:r>
              <a:rPr lang="en-IN" sz="2400" b="1" dirty="0">
                <a:solidFill>
                  <a:srgbClr val="FF0000"/>
                </a:solidFill>
                <a:latin typeface="Times New Roman" panose="02020603050405020304" pitchFamily="18" charset="0"/>
                <a:cs typeface="Times New Roman" panose="02020603050405020304" pitchFamily="18" charset="0"/>
              </a:rPr>
              <a:t>OBJECTIVES</a:t>
            </a:r>
          </a:p>
        </p:txBody>
      </p:sp>
      <p:sp>
        <p:nvSpPr>
          <p:cNvPr id="12" name="TextBox 11">
            <a:extLst>
              <a:ext uri="{FF2B5EF4-FFF2-40B4-BE49-F238E27FC236}">
                <a16:creationId xmlns:a16="http://schemas.microsoft.com/office/drawing/2014/main" id="{7C901D2F-7925-3AAA-83AB-E6277F94869C}"/>
              </a:ext>
            </a:extLst>
          </p:cNvPr>
          <p:cNvSpPr txBox="1"/>
          <p:nvPr/>
        </p:nvSpPr>
        <p:spPr>
          <a:xfrm>
            <a:off x="940970" y="1134253"/>
            <a:ext cx="10574547" cy="3776483"/>
          </a:xfrm>
          <a:prstGeom prst="rect">
            <a:avLst/>
          </a:prstGeom>
          <a:noFill/>
        </p:spPr>
        <p:txBody>
          <a:bodyPr wrap="square">
            <a:spAutoFit/>
          </a:bodyPr>
          <a:lstStyle/>
          <a:p>
            <a:pPr>
              <a:lnSpc>
                <a:spcPct val="150000"/>
              </a:lnSpc>
            </a:pPr>
            <a:r>
              <a:rPr lang="en-US" sz="2200" dirty="0">
                <a:latin typeface="Times New Roman" panose="02020603050405020304" pitchFamily="18" charset="0"/>
                <a:cs typeface="Times New Roman" panose="02020603050405020304" pitchFamily="18" charset="0"/>
              </a:rPr>
              <a:t>The Objectives for the proposed system are – </a:t>
            </a:r>
          </a:p>
          <a:p>
            <a:pPr>
              <a:lnSpc>
                <a:spcPct val="150000"/>
              </a:lnSpc>
            </a:pPr>
            <a:endParaRPr lang="en-US" sz="2000"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To design and develop a deep learning-based system for automatic detection of sleep disorders using EEG signals recorded during sleep.</a:t>
            </a: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To extract and model both spatial and temporal characteristics of EEG signals using a hybrid CNN–BiLSTM architecture.</a:t>
            </a: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To evaluate the performance of the proposed system using publicly available EEG sleep datasets and standard evaluation metrics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5806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31D2D-3FEA-C557-3536-E79BD87E5BD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71F24D6-EB7F-FBAF-C783-9670A37F8A79}"/>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6478077-4AE3-69EC-A2C3-D6D2FA7CA369}"/>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 descr="Anurag University Admission 2024 - 2025, Fees, Courses, Placements, Cutoff,  Ranking">
            <a:extLst>
              <a:ext uri="{FF2B5EF4-FFF2-40B4-BE49-F238E27FC236}">
                <a16:creationId xmlns:a16="http://schemas.microsoft.com/office/drawing/2014/main" id="{5441E5FD-FB56-2D5D-218F-8AA014C479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A1566E5C-3BE2-6870-55BA-6E42BFE69B8B}"/>
              </a:ext>
            </a:extLst>
          </p:cNvPr>
          <p:cNvSpPr txBox="1"/>
          <p:nvPr/>
        </p:nvSpPr>
        <p:spPr>
          <a:xfrm>
            <a:off x="4406691" y="536926"/>
            <a:ext cx="4039567" cy="461665"/>
          </a:xfrm>
          <a:prstGeom prst="rect">
            <a:avLst/>
          </a:prstGeom>
          <a:noFill/>
        </p:spPr>
        <p:txBody>
          <a:bodyPr wrap="none" rtlCol="0">
            <a:spAutoFit/>
          </a:bodyPr>
          <a:lstStyle/>
          <a:p>
            <a:r>
              <a:rPr lang="en-US" sz="2400" b="1" dirty="0">
                <a:solidFill>
                  <a:srgbClr val="FF0000"/>
                </a:solidFill>
                <a:latin typeface="Times New Roman" panose="02020603050405020304" pitchFamily="18" charset="0"/>
                <a:cs typeface="Times New Roman" panose="02020603050405020304" pitchFamily="18" charset="0"/>
              </a:rPr>
              <a:t>DATASET EXPLAINATION</a:t>
            </a:r>
          </a:p>
        </p:txBody>
      </p:sp>
      <p:sp>
        <p:nvSpPr>
          <p:cNvPr id="16" name="Date Placeholder 6">
            <a:extLst>
              <a:ext uri="{FF2B5EF4-FFF2-40B4-BE49-F238E27FC236}">
                <a16:creationId xmlns:a16="http://schemas.microsoft.com/office/drawing/2014/main" id="{31550D7C-7BB9-61F9-15FA-39F904F1166A}"/>
              </a:ext>
            </a:extLst>
          </p:cNvPr>
          <p:cNvSpPr>
            <a:spLocks noGrp="1"/>
          </p:cNvSpPr>
          <p:nvPr>
            <p:ph type="dt" sz="half" idx="10"/>
          </p:nvPr>
        </p:nvSpPr>
        <p:spPr>
          <a:xfrm>
            <a:off x="838200" y="6356350"/>
            <a:ext cx="2743200" cy="365125"/>
          </a:xfrm>
        </p:spPr>
        <p:txBody>
          <a:bodyPr/>
          <a:lstStyle/>
          <a:p>
            <a:fld id="{6A0D0D0C-6ED7-4DCE-A036-1D21D0B6637E}" type="datetime9">
              <a:rPr lang="en-US" smtClean="0"/>
              <a:t>5/2/2026 12:18:19 AM</a:t>
            </a:fld>
            <a:endParaRPr lang="en-US"/>
          </a:p>
        </p:txBody>
      </p:sp>
      <p:sp>
        <p:nvSpPr>
          <p:cNvPr id="17" name="Footer Placeholder 7">
            <a:extLst>
              <a:ext uri="{FF2B5EF4-FFF2-40B4-BE49-F238E27FC236}">
                <a16:creationId xmlns:a16="http://schemas.microsoft.com/office/drawing/2014/main" id="{9B1CDB90-ED9A-4FC0-F058-B68AB1B181A2}"/>
              </a:ext>
            </a:extLst>
          </p:cNvPr>
          <p:cNvSpPr>
            <a:spLocks noGrp="1"/>
          </p:cNvSpPr>
          <p:nvPr>
            <p:ph type="ftr" sz="quarter" idx="11"/>
          </p:nvPr>
        </p:nvSpPr>
        <p:spPr>
          <a:xfrm>
            <a:off x="4038600" y="6356350"/>
            <a:ext cx="4114800" cy="365125"/>
          </a:xfrm>
        </p:spPr>
        <p:txBody>
          <a:bodyPr/>
          <a:lstStyle/>
          <a:p>
            <a:r>
              <a:rPr lang="en-US"/>
              <a:t>When Labels Are Scarce, Can Graph Structure Outperform Text in Rumor Detection?</a:t>
            </a:r>
          </a:p>
        </p:txBody>
      </p:sp>
      <p:sp>
        <p:nvSpPr>
          <p:cNvPr id="18" name="Slide Number Placeholder 8">
            <a:extLst>
              <a:ext uri="{FF2B5EF4-FFF2-40B4-BE49-F238E27FC236}">
                <a16:creationId xmlns:a16="http://schemas.microsoft.com/office/drawing/2014/main" id="{D4462B67-DC9D-294D-9AF7-8DCDA9920AB2}"/>
              </a:ext>
            </a:extLst>
          </p:cNvPr>
          <p:cNvSpPr>
            <a:spLocks noGrp="1"/>
          </p:cNvSpPr>
          <p:nvPr>
            <p:ph type="sldNum" sz="quarter" idx="12"/>
          </p:nvPr>
        </p:nvSpPr>
        <p:spPr>
          <a:xfrm>
            <a:off x="8610600" y="6356350"/>
            <a:ext cx="2743200" cy="365125"/>
          </a:xfrm>
        </p:spPr>
        <p:txBody>
          <a:bodyPr/>
          <a:lstStyle/>
          <a:p>
            <a:fld id="{5DA9DDE7-DF24-421B-8B5A-9F7A222497E2}" type="slidenum">
              <a:rPr lang="en-US" smtClean="0"/>
              <a:t>9</a:t>
            </a:fld>
            <a:endParaRPr lang="en-US"/>
          </a:p>
        </p:txBody>
      </p:sp>
      <p:sp>
        <p:nvSpPr>
          <p:cNvPr id="19" name="TextBox 18">
            <a:extLst>
              <a:ext uri="{FF2B5EF4-FFF2-40B4-BE49-F238E27FC236}">
                <a16:creationId xmlns:a16="http://schemas.microsoft.com/office/drawing/2014/main" id="{00947D3D-43E6-BC56-BE89-FF16CD26FBF7}"/>
              </a:ext>
            </a:extLst>
          </p:cNvPr>
          <p:cNvSpPr txBox="1"/>
          <p:nvPr/>
        </p:nvSpPr>
        <p:spPr>
          <a:xfrm>
            <a:off x="759184" y="1215684"/>
            <a:ext cx="10696074" cy="458074"/>
          </a:xfrm>
          <a:prstGeom prst="rect">
            <a:avLst/>
          </a:prstGeom>
          <a:noFill/>
        </p:spPr>
        <p:txBody>
          <a:bodyPr wrap="square" rtlCol="0">
            <a:sp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6E0BF415-525A-A51B-DDF4-4C7E5925DA9A}"/>
              </a:ext>
            </a:extLst>
          </p:cNvPr>
          <p:cNvSpPr txBox="1"/>
          <p:nvPr/>
        </p:nvSpPr>
        <p:spPr>
          <a:xfrm>
            <a:off x="960119" y="1167315"/>
            <a:ext cx="8994371" cy="5078313"/>
          </a:xfrm>
          <a:prstGeom prst="rect">
            <a:avLst/>
          </a:prstGeom>
          <a:noFill/>
        </p:spPr>
        <p:txBody>
          <a:bodyPr wrap="square" rtlCol="0">
            <a:spAutoFit/>
          </a:bodyPr>
          <a:lstStyle/>
          <a:p>
            <a:r>
              <a:rPr lang="en-IN" dirty="0"/>
              <a:t>• </a:t>
            </a:r>
            <a:r>
              <a:rPr lang="en-IN" b="1" dirty="0"/>
              <a:t>Dataset</a:t>
            </a:r>
            <a:r>
              <a:rPr lang="en-IN" dirty="0"/>
              <a:t>: EEG Sleep Disorder Dataset (EDF Format) </a:t>
            </a:r>
            <a:br>
              <a:rPr lang="en-IN" dirty="0"/>
            </a:br>
            <a:r>
              <a:rPr lang="en-IN" dirty="0"/>
              <a:t>• </a:t>
            </a:r>
            <a:r>
              <a:rPr lang="en-IN" b="1" dirty="0"/>
              <a:t>Samples</a:t>
            </a:r>
            <a:r>
              <a:rPr lang="en-IN" dirty="0"/>
              <a:t>: EEG signal epochs (30-second segments) </a:t>
            </a:r>
          </a:p>
          <a:p>
            <a:r>
              <a:rPr lang="en-IN" dirty="0"/>
              <a:t>• </a:t>
            </a:r>
            <a:r>
              <a:rPr lang="en-IN" b="1" dirty="0"/>
              <a:t>Classes</a:t>
            </a:r>
            <a:r>
              <a:rPr lang="en-IN" dirty="0"/>
              <a:t>: Normal / Insomnia / SDB (</a:t>
            </a:r>
            <a:r>
              <a:rPr lang="en-IN" dirty="0" err="1"/>
              <a:t>Apnea</a:t>
            </a:r>
            <a:r>
              <a:rPr lang="en-IN" dirty="0"/>
              <a:t>) / Narcolepsy</a:t>
            </a:r>
          </a:p>
          <a:p>
            <a:r>
              <a:rPr lang="nn-NO" dirty="0"/>
              <a:t>• </a:t>
            </a:r>
            <a:r>
              <a:rPr lang="nn-NO" b="1" dirty="0"/>
              <a:t>Data Format</a:t>
            </a:r>
            <a:r>
              <a:rPr lang="nn-NO" dirty="0"/>
              <a:t>: EDF (European Data Format) </a:t>
            </a:r>
          </a:p>
          <a:p>
            <a:r>
              <a:rPr lang="en-IN" dirty="0"/>
              <a:t>• </a:t>
            </a:r>
            <a:r>
              <a:rPr lang="en-IN" b="1" dirty="0"/>
              <a:t>Structure</a:t>
            </a:r>
            <a:r>
              <a:rPr lang="en-IN" dirty="0"/>
              <a:t>: Multi-channel time-series signals</a:t>
            </a:r>
          </a:p>
          <a:p>
            <a:endParaRPr lang="en-IN" dirty="0"/>
          </a:p>
          <a:p>
            <a:r>
              <a:rPr lang="en-US" dirty="0"/>
              <a:t>• </a:t>
            </a:r>
            <a:r>
              <a:rPr lang="en-US" b="1" dirty="0"/>
              <a:t>Dataset Size</a:t>
            </a:r>
            <a:r>
              <a:rPr lang="en-US" dirty="0"/>
              <a:t>:</a:t>
            </a:r>
            <a:br>
              <a:rPr lang="en-US" dirty="0"/>
            </a:br>
            <a:r>
              <a:rPr lang="en-US" dirty="0"/>
              <a:t>- 16 EDF files (4 per class) </a:t>
            </a:r>
            <a:br>
              <a:rPr lang="en-US" dirty="0"/>
            </a:br>
            <a:r>
              <a:rPr lang="en-US" dirty="0"/>
              <a:t>- 16,000+ epochs generated </a:t>
            </a:r>
            <a:br>
              <a:rPr lang="en-US" dirty="0"/>
            </a:br>
            <a:r>
              <a:rPr lang="en-US" dirty="0"/>
              <a:t>- Balanced to 12,000 samples </a:t>
            </a:r>
          </a:p>
          <a:p>
            <a:endParaRPr lang="en-US" dirty="0"/>
          </a:p>
          <a:p>
            <a:r>
              <a:rPr lang="en-US" dirty="0"/>
              <a:t>• </a:t>
            </a:r>
            <a:r>
              <a:rPr lang="en-US" b="1" dirty="0"/>
              <a:t>Learning Setting</a:t>
            </a:r>
            <a:r>
              <a:rPr lang="en-US" dirty="0"/>
              <a:t>:</a:t>
            </a:r>
            <a:br>
              <a:rPr lang="en-US" dirty="0"/>
            </a:br>
            <a:r>
              <a:rPr lang="en-US" dirty="0"/>
              <a:t>- Supervised classification </a:t>
            </a:r>
            <a:br>
              <a:rPr lang="en-US" dirty="0"/>
            </a:br>
            <a:r>
              <a:rPr lang="en-US" dirty="0"/>
              <a:t>- Stratified train-test split </a:t>
            </a:r>
            <a:br>
              <a:rPr lang="en-US" dirty="0"/>
            </a:br>
            <a:r>
              <a:rPr lang="en-US" dirty="0"/>
              <a:t>- Input: EEG epoch + extracted features </a:t>
            </a:r>
            <a:br>
              <a:rPr lang="en-US" dirty="0"/>
            </a:br>
            <a:r>
              <a:rPr lang="en-US" dirty="0"/>
              <a:t>- Output: Sleep disorder class label </a:t>
            </a:r>
          </a:p>
          <a:p>
            <a:endParaRPr lang="en-US" dirty="0"/>
          </a:p>
          <a:p>
            <a:r>
              <a:rPr lang="en-US" b="1" dirty="0">
                <a:latin typeface="Times New Roman" panose="02020603050405020304" pitchFamily="18" charset="0"/>
                <a:cs typeface="Times New Roman" panose="02020603050405020304" pitchFamily="18" charset="0"/>
              </a:rPr>
              <a:t>SOURCE </a:t>
            </a:r>
            <a:r>
              <a:rPr 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hlinkClick r:id="rId3"/>
              </a:rPr>
              <a:t>https://physionet.org/content/capslpdb/1.0.0/</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3196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C6E19-26E9-E8FE-1B90-C0ECBC6AF54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05DE7D5-5891-7C83-6F7A-54B390DACEA9}"/>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6242D2C-1087-54A9-4D56-0D67A39B71B5}"/>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0148D8D6-FB2C-8FAE-8824-73F629E3254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a:extLst>
              <a:ext uri="{FF2B5EF4-FFF2-40B4-BE49-F238E27FC236}">
                <a16:creationId xmlns:a16="http://schemas.microsoft.com/office/drawing/2014/main" id="{1A22775B-2B65-0E4B-9CCE-B95B13C7B132}"/>
              </a:ext>
            </a:extLst>
          </p:cNvPr>
          <p:cNvSpPr>
            <a:spLocks noGrp="1"/>
          </p:cNvSpPr>
          <p:nvPr>
            <p:ph type="dt" sz="half" idx="10"/>
          </p:nvPr>
        </p:nvSpPr>
        <p:spPr/>
        <p:txBody>
          <a:bodyPr/>
          <a:lstStyle/>
          <a:p>
            <a:fld id="{9C985086-0BAD-417B-8979-9AB67790A480}" type="datetime9">
              <a:rPr lang="en-US" smtClean="0"/>
              <a:t>5/2/2026 12:09:59 AM</a:t>
            </a:fld>
            <a:endParaRPr lang="en-US"/>
          </a:p>
        </p:txBody>
      </p:sp>
      <p:sp>
        <p:nvSpPr>
          <p:cNvPr id="8" name="Footer Placeholder 7">
            <a:extLst>
              <a:ext uri="{FF2B5EF4-FFF2-40B4-BE49-F238E27FC236}">
                <a16:creationId xmlns:a16="http://schemas.microsoft.com/office/drawing/2014/main" id="{BAB509EC-8BB0-91E5-6956-3E78F501E4F0}"/>
              </a:ext>
            </a:extLst>
          </p:cNvPr>
          <p:cNvSpPr>
            <a:spLocks noGrp="1"/>
          </p:cNvSpPr>
          <p:nvPr>
            <p:ph type="ftr" sz="quarter" idx="11"/>
          </p:nvPr>
        </p:nvSpPr>
        <p:spPr>
          <a:xfrm>
            <a:off x="4210664" y="6288433"/>
            <a:ext cx="4114800" cy="365125"/>
          </a:xfrm>
        </p:spPr>
        <p:txBody>
          <a:bodyPr/>
          <a:lstStyle/>
          <a:p>
            <a:r>
              <a:rPr lang="en-US"/>
              <a:t>Deep Learning-Based Sleep Disorder Detection Using EEG Signal Analysis</a:t>
            </a:r>
            <a:endParaRPr lang="en-US" dirty="0"/>
          </a:p>
        </p:txBody>
      </p:sp>
      <p:sp>
        <p:nvSpPr>
          <p:cNvPr id="9" name="Slide Number Placeholder 8">
            <a:extLst>
              <a:ext uri="{FF2B5EF4-FFF2-40B4-BE49-F238E27FC236}">
                <a16:creationId xmlns:a16="http://schemas.microsoft.com/office/drawing/2014/main" id="{78827401-40BF-D182-616F-8CDD327B51E0}"/>
              </a:ext>
            </a:extLst>
          </p:cNvPr>
          <p:cNvSpPr>
            <a:spLocks noGrp="1"/>
          </p:cNvSpPr>
          <p:nvPr>
            <p:ph type="sldNum" sz="quarter" idx="12"/>
          </p:nvPr>
        </p:nvSpPr>
        <p:spPr/>
        <p:txBody>
          <a:bodyPr/>
          <a:lstStyle/>
          <a:p>
            <a:fld id="{5DA9DDE7-DF24-421B-8B5A-9F7A222497E2}" type="slidenum">
              <a:rPr lang="en-US" smtClean="0"/>
              <a:t>10</a:t>
            </a:fld>
            <a:endParaRPr lang="en-US" dirty="0"/>
          </a:p>
        </p:txBody>
      </p:sp>
      <p:sp>
        <p:nvSpPr>
          <p:cNvPr id="12" name="TextBox 11">
            <a:extLst>
              <a:ext uri="{FF2B5EF4-FFF2-40B4-BE49-F238E27FC236}">
                <a16:creationId xmlns:a16="http://schemas.microsoft.com/office/drawing/2014/main" id="{A9F1D9F7-AA39-BF3F-F29E-E0206F5840EE}"/>
              </a:ext>
            </a:extLst>
          </p:cNvPr>
          <p:cNvSpPr txBox="1"/>
          <p:nvPr/>
        </p:nvSpPr>
        <p:spPr>
          <a:xfrm>
            <a:off x="838200" y="1039091"/>
            <a:ext cx="10061112" cy="1067472"/>
          </a:xfrm>
          <a:prstGeom prst="rect">
            <a:avLst/>
          </a:prstGeom>
          <a:noFill/>
        </p:spPr>
        <p:txBody>
          <a:bodyPr wrap="square">
            <a:spAutoFit/>
          </a:bodyPr>
          <a:lstStyle/>
          <a:p>
            <a:pPr algn="just">
              <a:lnSpc>
                <a:spcPct val="190000"/>
              </a:lnSpc>
            </a:pPr>
            <a:endParaRPr lang="en-IN" dirty="0">
              <a:latin typeface="Times New Roman" panose="02020603050405020304" pitchFamily="18" charset="0"/>
              <a:cs typeface="Times New Roman" panose="02020603050405020304" pitchFamily="18" charset="0"/>
            </a:endParaRPr>
          </a:p>
          <a:p>
            <a:pPr algn="just">
              <a:lnSpc>
                <a:spcPct val="190000"/>
              </a:lnSpc>
            </a:pPr>
            <a:endParaRPr lang="en-IN" sz="18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574CF5D6-6C19-9D28-A782-AB8DD64C6E2D}"/>
              </a:ext>
            </a:extLst>
          </p:cNvPr>
          <p:cNvSpPr txBox="1"/>
          <p:nvPr/>
        </p:nvSpPr>
        <p:spPr>
          <a:xfrm>
            <a:off x="264488" y="387004"/>
            <a:ext cx="11927512" cy="461665"/>
          </a:xfrm>
          <a:prstGeom prst="rect">
            <a:avLst/>
          </a:prstGeom>
          <a:noFill/>
        </p:spPr>
        <p:txBody>
          <a:bodyPr wrap="square" rtlCol="0">
            <a:spAutoFit/>
          </a:bodyPr>
          <a:lstStyle/>
          <a:p>
            <a:pPr algn="ctr"/>
            <a:r>
              <a:rPr lang="en-IN" sz="2000" b="1" dirty="0">
                <a:solidFill>
                  <a:srgbClr val="FF0000"/>
                </a:solidFill>
                <a:latin typeface="Times New Roman" panose="02020603050405020304" pitchFamily="18" charset="0"/>
                <a:cs typeface="Times New Roman" panose="02020603050405020304" pitchFamily="18" charset="0"/>
              </a:rPr>
              <a:t>     </a:t>
            </a:r>
            <a:r>
              <a:rPr lang="en-IN" sz="2400" b="1" dirty="0">
                <a:solidFill>
                  <a:srgbClr val="FF0000"/>
                </a:solidFill>
                <a:latin typeface="Times New Roman" panose="02020603050405020304" pitchFamily="18" charset="0"/>
                <a:cs typeface="Times New Roman" panose="02020603050405020304" pitchFamily="18" charset="0"/>
              </a:rPr>
              <a:t>METHODOLOGY</a:t>
            </a:r>
          </a:p>
        </p:txBody>
      </p:sp>
      <p:sp>
        <p:nvSpPr>
          <p:cNvPr id="10" name="TextBox 9">
            <a:extLst>
              <a:ext uri="{FF2B5EF4-FFF2-40B4-BE49-F238E27FC236}">
                <a16:creationId xmlns:a16="http://schemas.microsoft.com/office/drawing/2014/main" id="{AA3E1022-764D-B9DC-6C57-3E0596A53321}"/>
              </a:ext>
            </a:extLst>
          </p:cNvPr>
          <p:cNvSpPr txBox="1"/>
          <p:nvPr/>
        </p:nvSpPr>
        <p:spPr>
          <a:xfrm>
            <a:off x="264488" y="5525729"/>
            <a:ext cx="11927511"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Figure 1. Proposed Methodology</a:t>
            </a:r>
          </a:p>
        </p:txBody>
      </p:sp>
      <p:sp>
        <p:nvSpPr>
          <p:cNvPr id="6" name="AutoShape 2">
            <a:extLst>
              <a:ext uri="{FF2B5EF4-FFF2-40B4-BE49-F238E27FC236}">
                <a16:creationId xmlns:a16="http://schemas.microsoft.com/office/drawing/2014/main" id="{591BE651-A506-76BA-6941-29C1313A7F3E}"/>
              </a:ext>
            </a:extLst>
          </p:cNvPr>
          <p:cNvSpPr>
            <a:spLocks noChangeAspect="1" noChangeArrowheads="1"/>
          </p:cNvSpPr>
          <p:nvPr/>
        </p:nvSpPr>
        <p:spPr bwMode="auto">
          <a:xfrm>
            <a:off x="5943599" y="1353273"/>
            <a:ext cx="2228127" cy="222812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394E2FF3-BC5B-37D1-A893-2CB384C577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786" y="1033418"/>
            <a:ext cx="10304915" cy="4259624"/>
          </a:xfrm>
          <a:prstGeom prst="rect">
            <a:avLst/>
          </a:prstGeom>
        </p:spPr>
      </p:pic>
    </p:spTree>
    <p:extLst>
      <p:ext uri="{BB962C8B-B14F-4D97-AF65-F5344CB8AC3E}">
        <p14:creationId xmlns:p14="http://schemas.microsoft.com/office/powerpoint/2010/main" val="1837196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B0C97-5846-FFB2-FBA6-FDCD336E900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C3967BB-56D2-EC1B-C74F-D4FBE343DC71}"/>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86681EC-1ABE-979D-1583-5F8E364AEE21}"/>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 descr="Anurag University Admission 2024 - 2025, Fees, Courses, Placements, Cutoff,  Ranking">
            <a:extLst>
              <a:ext uri="{FF2B5EF4-FFF2-40B4-BE49-F238E27FC236}">
                <a16:creationId xmlns:a16="http://schemas.microsoft.com/office/drawing/2014/main" id="{9CE471D3-8C88-0456-288A-64521DE5D24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F296AB4D-05F6-998E-1060-863A67656A50}"/>
              </a:ext>
            </a:extLst>
          </p:cNvPr>
          <p:cNvSpPr txBox="1"/>
          <p:nvPr/>
        </p:nvSpPr>
        <p:spPr>
          <a:xfrm>
            <a:off x="4545543" y="544076"/>
            <a:ext cx="3080523" cy="461665"/>
          </a:xfrm>
          <a:prstGeom prst="rect">
            <a:avLst/>
          </a:prstGeom>
          <a:noFill/>
        </p:spPr>
        <p:txBody>
          <a:bodyPr wrap="none" rtlCol="0">
            <a:spAutoFit/>
          </a:bodyPr>
          <a:lstStyle/>
          <a:p>
            <a:r>
              <a:rPr lang="en-US" sz="2400" b="1" dirty="0">
                <a:solidFill>
                  <a:srgbClr val="FF0000"/>
                </a:solidFill>
                <a:latin typeface="Times New Roman" panose="02020603050405020304" pitchFamily="18" charset="0"/>
                <a:cs typeface="Times New Roman" panose="02020603050405020304" pitchFamily="18" charset="0"/>
              </a:rPr>
              <a:t>IMPLEMENTATION</a:t>
            </a:r>
          </a:p>
        </p:txBody>
      </p:sp>
      <p:sp>
        <p:nvSpPr>
          <p:cNvPr id="16" name="Date Placeholder 6">
            <a:extLst>
              <a:ext uri="{FF2B5EF4-FFF2-40B4-BE49-F238E27FC236}">
                <a16:creationId xmlns:a16="http://schemas.microsoft.com/office/drawing/2014/main" id="{A815F908-FD39-BCBC-64BD-F48345577606}"/>
              </a:ext>
            </a:extLst>
          </p:cNvPr>
          <p:cNvSpPr>
            <a:spLocks noGrp="1"/>
          </p:cNvSpPr>
          <p:nvPr>
            <p:ph type="dt" sz="half" idx="10"/>
          </p:nvPr>
        </p:nvSpPr>
        <p:spPr>
          <a:xfrm>
            <a:off x="838200" y="6356350"/>
            <a:ext cx="2743200" cy="365125"/>
          </a:xfrm>
        </p:spPr>
        <p:txBody>
          <a:bodyPr/>
          <a:lstStyle/>
          <a:p>
            <a:fld id="{6A0D0D0C-6ED7-4DCE-A036-1D21D0B6637E}" type="datetime9">
              <a:rPr lang="en-US" smtClean="0"/>
              <a:t>5/2/2026 12:18:56 AM</a:t>
            </a:fld>
            <a:endParaRPr lang="en-US"/>
          </a:p>
        </p:txBody>
      </p:sp>
      <p:sp>
        <p:nvSpPr>
          <p:cNvPr id="17" name="Footer Placeholder 7">
            <a:extLst>
              <a:ext uri="{FF2B5EF4-FFF2-40B4-BE49-F238E27FC236}">
                <a16:creationId xmlns:a16="http://schemas.microsoft.com/office/drawing/2014/main" id="{67A8E38E-B4B7-1579-187B-AA06E54F14C8}"/>
              </a:ext>
            </a:extLst>
          </p:cNvPr>
          <p:cNvSpPr>
            <a:spLocks noGrp="1"/>
          </p:cNvSpPr>
          <p:nvPr>
            <p:ph type="ftr" sz="quarter" idx="11"/>
          </p:nvPr>
        </p:nvSpPr>
        <p:spPr>
          <a:xfrm>
            <a:off x="4038600" y="6356350"/>
            <a:ext cx="4114800" cy="365125"/>
          </a:xfrm>
        </p:spPr>
        <p:txBody>
          <a:bodyPr/>
          <a:lstStyle/>
          <a:p>
            <a:r>
              <a:rPr lang="en-US"/>
              <a:t>When Labels Are Scarce, Can Graph Structure Outperform Text in Rumor Detection?</a:t>
            </a:r>
          </a:p>
        </p:txBody>
      </p:sp>
      <p:sp>
        <p:nvSpPr>
          <p:cNvPr id="18" name="Slide Number Placeholder 8">
            <a:extLst>
              <a:ext uri="{FF2B5EF4-FFF2-40B4-BE49-F238E27FC236}">
                <a16:creationId xmlns:a16="http://schemas.microsoft.com/office/drawing/2014/main" id="{B0BE0B1E-8792-9408-51DE-F0C2AC75F508}"/>
              </a:ext>
            </a:extLst>
          </p:cNvPr>
          <p:cNvSpPr>
            <a:spLocks noGrp="1"/>
          </p:cNvSpPr>
          <p:nvPr>
            <p:ph type="sldNum" sz="quarter" idx="12"/>
          </p:nvPr>
        </p:nvSpPr>
        <p:spPr>
          <a:xfrm>
            <a:off x="8610600" y="6356350"/>
            <a:ext cx="2743200" cy="365125"/>
          </a:xfrm>
        </p:spPr>
        <p:txBody>
          <a:bodyPr/>
          <a:lstStyle/>
          <a:p>
            <a:fld id="{5DA9DDE7-DF24-421B-8B5A-9F7A222497E2}" type="slidenum">
              <a:rPr lang="en-US" smtClean="0"/>
              <a:t>11</a:t>
            </a:fld>
            <a:endParaRPr lang="en-US"/>
          </a:p>
        </p:txBody>
      </p:sp>
      <p:sp>
        <p:nvSpPr>
          <p:cNvPr id="19" name="TextBox 18">
            <a:extLst>
              <a:ext uri="{FF2B5EF4-FFF2-40B4-BE49-F238E27FC236}">
                <a16:creationId xmlns:a16="http://schemas.microsoft.com/office/drawing/2014/main" id="{B9CBBA6D-7D3B-6324-2662-23A37A8A157A}"/>
              </a:ext>
            </a:extLst>
          </p:cNvPr>
          <p:cNvSpPr txBox="1"/>
          <p:nvPr/>
        </p:nvSpPr>
        <p:spPr>
          <a:xfrm>
            <a:off x="881119" y="1135990"/>
            <a:ext cx="4973869" cy="5028556"/>
          </a:xfrm>
          <a:prstGeom prst="rect">
            <a:avLst/>
          </a:prstGeom>
          <a:noFill/>
        </p:spPr>
        <p:txBody>
          <a:bodyPr wrap="square" rtlCol="0">
            <a:spAutoFit/>
          </a:bodyPr>
          <a:lstStyle/>
          <a:p>
            <a:pPr>
              <a:lnSpc>
                <a:spcPct val="150000"/>
              </a:lnSpc>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Preprocessing:</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Resampling to 128 Hz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Bandpass Filtering (0.5–30 Hz)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Channel Selection (Fp2-F4, F4-C4, C4-P4)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Normalization (mean = 0, std = 1)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Epoch Segmentation (30 sec → 3840 samples) </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Feature Extraction: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Time-domain features (mean, variance, skewness, kurtosis)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Frequency-domain features (FFT, band power)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Total Features: 102 </a:t>
            </a:r>
            <a:endParaRPr lang="en-US"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F5C07803-ACF3-1271-ED2F-D929A178BD05}"/>
              </a:ext>
            </a:extLst>
          </p:cNvPr>
          <p:cNvSpPr txBox="1"/>
          <p:nvPr/>
        </p:nvSpPr>
        <p:spPr>
          <a:xfrm>
            <a:off x="5854989" y="1229983"/>
            <a:ext cx="3529644" cy="4613058"/>
          </a:xfrm>
          <a:prstGeom prst="rect">
            <a:avLst/>
          </a:prstGeom>
          <a:noFill/>
        </p:spPr>
        <p:txBody>
          <a:bodyPr wrap="square" rtlCol="0">
            <a:spAutoFit/>
          </a:bodyPr>
          <a:lstStyle/>
          <a:p>
            <a:pPr>
              <a:lnSpc>
                <a:spcPct val="150000"/>
              </a:lnSpc>
            </a:pPr>
            <a:r>
              <a:rPr lang="en-IN" b="1" dirty="0">
                <a:latin typeface="Times New Roman" panose="02020603050405020304" pitchFamily="18" charset="0"/>
                <a:cs typeface="Times New Roman" panose="02020603050405020304" pitchFamily="18" charset="0"/>
              </a:rPr>
              <a:t>• Model Settings: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Hidden Dimension: 256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LSTM Layers: 2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Dropout: 0.4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Epochs: 100 </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Training:</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Loss Function: Focal Loss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Optimizer: </a:t>
            </a:r>
            <a:r>
              <a:rPr lang="en-IN" dirty="0" err="1">
                <a:latin typeface="Times New Roman" panose="02020603050405020304" pitchFamily="18" charset="0"/>
                <a:cs typeface="Times New Roman" panose="02020603050405020304" pitchFamily="18" charset="0"/>
              </a:rPr>
              <a:t>AdamW</a:t>
            </a:r>
            <a:r>
              <a:rPr lang="en-IN" dirty="0">
                <a:latin typeface="Times New Roman" panose="02020603050405020304" pitchFamily="18" charset="0"/>
                <a:cs typeface="Times New Roman" panose="02020603050405020304" pitchFamily="18" charset="0"/>
              </a:rPr>
              <a:t>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Scheduler: Cosine Annealing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Gradient Clipping </a:t>
            </a:r>
          </a:p>
        </p:txBody>
      </p:sp>
      <p:sp>
        <p:nvSpPr>
          <p:cNvPr id="21" name="TextBox 20">
            <a:extLst>
              <a:ext uri="{FF2B5EF4-FFF2-40B4-BE49-F238E27FC236}">
                <a16:creationId xmlns:a16="http://schemas.microsoft.com/office/drawing/2014/main" id="{DD6AB162-6DE8-23BD-D3AF-56E97C2C2C64}"/>
              </a:ext>
            </a:extLst>
          </p:cNvPr>
          <p:cNvSpPr txBox="1"/>
          <p:nvPr/>
        </p:nvSpPr>
        <p:spPr>
          <a:xfrm>
            <a:off x="9208168" y="2454442"/>
            <a:ext cx="2743200" cy="1200329"/>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Regularization: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Batch Normalization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Dropout Layers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Early Stopping</a:t>
            </a:r>
            <a:endParaRPr lang="en-IN" dirty="0"/>
          </a:p>
        </p:txBody>
      </p:sp>
    </p:spTree>
    <p:extLst>
      <p:ext uri="{BB962C8B-B14F-4D97-AF65-F5344CB8AC3E}">
        <p14:creationId xmlns:p14="http://schemas.microsoft.com/office/powerpoint/2010/main" val="2359253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D669F-4318-A8AF-5BF9-9137514E7C4C}"/>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2CB267E6-E473-98A8-9E6D-84219DDAE45D}"/>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2B20E86-ADC8-99C5-C4B7-608F4D50D7E7}"/>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 descr="Anurag University Admission 2024 - 2025, Fees, Courses, Placements, Cutoff,  Ranking">
            <a:extLst>
              <a:ext uri="{FF2B5EF4-FFF2-40B4-BE49-F238E27FC236}">
                <a16:creationId xmlns:a16="http://schemas.microsoft.com/office/drawing/2014/main" id="{F9F3BEAC-E5BC-1435-CACC-AA725E6AEE5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7955E991-306C-9BA8-A208-97E664FF663C}"/>
              </a:ext>
            </a:extLst>
          </p:cNvPr>
          <p:cNvSpPr txBox="1"/>
          <p:nvPr/>
        </p:nvSpPr>
        <p:spPr>
          <a:xfrm>
            <a:off x="5315690" y="503550"/>
            <a:ext cx="1560620" cy="461665"/>
          </a:xfrm>
          <a:prstGeom prst="rect">
            <a:avLst/>
          </a:prstGeom>
          <a:noFill/>
        </p:spPr>
        <p:txBody>
          <a:bodyPr wrap="none" rtlCol="0">
            <a:spAutoFit/>
          </a:bodyPr>
          <a:lstStyle/>
          <a:p>
            <a:r>
              <a:rPr lang="en-US" sz="2400" b="1" dirty="0">
                <a:solidFill>
                  <a:srgbClr val="FF0000"/>
                </a:solidFill>
                <a:latin typeface="Times New Roman" panose="02020603050405020304" pitchFamily="18" charset="0"/>
                <a:cs typeface="Times New Roman" panose="02020603050405020304" pitchFamily="18" charset="0"/>
              </a:rPr>
              <a:t>RESULTS</a:t>
            </a:r>
          </a:p>
        </p:txBody>
      </p:sp>
      <p:sp>
        <p:nvSpPr>
          <p:cNvPr id="25" name="Date Placeholder 6">
            <a:extLst>
              <a:ext uri="{FF2B5EF4-FFF2-40B4-BE49-F238E27FC236}">
                <a16:creationId xmlns:a16="http://schemas.microsoft.com/office/drawing/2014/main" id="{33580371-D4D9-E405-D6C2-841130606020}"/>
              </a:ext>
            </a:extLst>
          </p:cNvPr>
          <p:cNvSpPr>
            <a:spLocks noGrp="1"/>
          </p:cNvSpPr>
          <p:nvPr>
            <p:ph type="dt" sz="half" idx="10"/>
          </p:nvPr>
        </p:nvSpPr>
        <p:spPr>
          <a:xfrm>
            <a:off x="838200" y="6356350"/>
            <a:ext cx="2743200" cy="365125"/>
          </a:xfrm>
        </p:spPr>
        <p:txBody>
          <a:bodyPr/>
          <a:lstStyle/>
          <a:p>
            <a:fld id="{6A0D0D0C-6ED7-4DCE-A036-1D21D0B6637E}" type="datetime9">
              <a:rPr lang="en-US" smtClean="0"/>
              <a:t>5/2/2026 12:43:18 AM</a:t>
            </a:fld>
            <a:endParaRPr lang="en-US"/>
          </a:p>
        </p:txBody>
      </p:sp>
      <p:sp>
        <p:nvSpPr>
          <p:cNvPr id="26" name="Footer Placeholder 7">
            <a:extLst>
              <a:ext uri="{FF2B5EF4-FFF2-40B4-BE49-F238E27FC236}">
                <a16:creationId xmlns:a16="http://schemas.microsoft.com/office/drawing/2014/main" id="{AE8715E3-115F-2EB3-8F20-4F4E173D69A7}"/>
              </a:ext>
            </a:extLst>
          </p:cNvPr>
          <p:cNvSpPr>
            <a:spLocks noGrp="1"/>
          </p:cNvSpPr>
          <p:nvPr>
            <p:ph type="ftr" sz="quarter" idx="11"/>
          </p:nvPr>
        </p:nvSpPr>
        <p:spPr>
          <a:xfrm>
            <a:off x="4038600" y="6356350"/>
            <a:ext cx="4114800" cy="365125"/>
          </a:xfrm>
        </p:spPr>
        <p:txBody>
          <a:bodyPr/>
          <a:lstStyle/>
          <a:p>
            <a:r>
              <a:rPr lang="en-US"/>
              <a:t>When Labels Are Scarce, Can Graph Structure Outperform Text in Rumor Detection?</a:t>
            </a:r>
          </a:p>
        </p:txBody>
      </p:sp>
      <p:sp>
        <p:nvSpPr>
          <p:cNvPr id="27" name="Slide Number Placeholder 8">
            <a:extLst>
              <a:ext uri="{FF2B5EF4-FFF2-40B4-BE49-F238E27FC236}">
                <a16:creationId xmlns:a16="http://schemas.microsoft.com/office/drawing/2014/main" id="{99EE50B5-111C-A04F-8DD9-28A8F7A47B83}"/>
              </a:ext>
            </a:extLst>
          </p:cNvPr>
          <p:cNvSpPr>
            <a:spLocks noGrp="1"/>
          </p:cNvSpPr>
          <p:nvPr>
            <p:ph type="sldNum" sz="quarter" idx="12"/>
          </p:nvPr>
        </p:nvSpPr>
        <p:spPr>
          <a:xfrm>
            <a:off x="8610600" y="6356350"/>
            <a:ext cx="2743200" cy="365125"/>
          </a:xfrm>
        </p:spPr>
        <p:txBody>
          <a:bodyPr/>
          <a:lstStyle/>
          <a:p>
            <a:fld id="{5DA9DDE7-DF24-421B-8B5A-9F7A222497E2}" type="slidenum">
              <a:rPr lang="en-US" smtClean="0"/>
              <a:t>12</a:t>
            </a:fld>
            <a:endParaRPr lang="en-US"/>
          </a:p>
        </p:txBody>
      </p:sp>
      <p:graphicFrame>
        <p:nvGraphicFramePr>
          <p:cNvPr id="28" name="Table 27">
            <a:extLst>
              <a:ext uri="{FF2B5EF4-FFF2-40B4-BE49-F238E27FC236}">
                <a16:creationId xmlns:a16="http://schemas.microsoft.com/office/drawing/2014/main" id="{B36F66DD-66CD-D6B3-17B0-C8D38913D677}"/>
              </a:ext>
            </a:extLst>
          </p:cNvPr>
          <p:cNvGraphicFramePr>
            <a:graphicFrameLocks noGrp="1"/>
          </p:cNvGraphicFramePr>
          <p:nvPr>
            <p:extLst>
              <p:ext uri="{D42A27DB-BD31-4B8C-83A1-F6EECF244321}">
                <p14:modId xmlns:p14="http://schemas.microsoft.com/office/powerpoint/2010/main" val="918250347"/>
              </p:ext>
            </p:extLst>
          </p:nvPr>
        </p:nvGraphicFramePr>
        <p:xfrm>
          <a:off x="1117777" y="1361573"/>
          <a:ext cx="4102474" cy="1112520"/>
        </p:xfrm>
        <a:graphic>
          <a:graphicData uri="http://schemas.openxmlformats.org/drawingml/2006/table">
            <a:tbl>
              <a:tblPr firstRow="1" bandRow="1">
                <a:tableStyleId>{5940675A-B579-460E-94D1-54222C63F5DA}</a:tableStyleId>
              </a:tblPr>
              <a:tblGrid>
                <a:gridCol w="2051237">
                  <a:extLst>
                    <a:ext uri="{9D8B030D-6E8A-4147-A177-3AD203B41FA5}">
                      <a16:colId xmlns:a16="http://schemas.microsoft.com/office/drawing/2014/main" val="1807721748"/>
                    </a:ext>
                  </a:extLst>
                </a:gridCol>
                <a:gridCol w="2051237">
                  <a:extLst>
                    <a:ext uri="{9D8B030D-6E8A-4147-A177-3AD203B41FA5}">
                      <a16:colId xmlns:a16="http://schemas.microsoft.com/office/drawing/2014/main" val="3914398667"/>
                    </a:ext>
                  </a:extLst>
                </a:gridCol>
              </a:tblGrid>
              <a:tr h="370840">
                <a:tc>
                  <a:txBody>
                    <a:bodyPr/>
                    <a:lstStyle/>
                    <a:p>
                      <a:pPr>
                        <a:buNone/>
                      </a:pPr>
                      <a:r>
                        <a:rPr lang="en-IN" sz="1800" b="1" dirty="0">
                          <a:latin typeface="Times New Roman" panose="02020603050405020304" pitchFamily="18" charset="0"/>
                          <a:cs typeface="Times New Roman" panose="02020603050405020304" pitchFamily="18" charset="0"/>
                        </a:rPr>
                        <a:t>Metric</a:t>
                      </a:r>
                    </a:p>
                  </a:txBody>
                  <a:tcPr anchor="ctr"/>
                </a:tc>
                <a:tc>
                  <a:txBody>
                    <a:bodyPr/>
                    <a:lstStyle/>
                    <a:p>
                      <a:pPr>
                        <a:buNone/>
                      </a:pPr>
                      <a:r>
                        <a:rPr lang="en-IN" sz="1800" b="1" dirty="0">
                          <a:latin typeface="Times New Roman" panose="02020603050405020304" pitchFamily="18" charset="0"/>
                          <a:cs typeface="Times New Roman" panose="02020603050405020304" pitchFamily="18" charset="0"/>
                        </a:rPr>
                        <a:t>Value</a:t>
                      </a:r>
                    </a:p>
                  </a:txBody>
                  <a:tcPr anchor="ctr"/>
                </a:tc>
                <a:extLst>
                  <a:ext uri="{0D108BD9-81ED-4DB2-BD59-A6C34878D82A}">
                    <a16:rowId xmlns:a16="http://schemas.microsoft.com/office/drawing/2014/main" val="1070833172"/>
                  </a:ext>
                </a:extLst>
              </a:tr>
              <a:tr h="370840">
                <a:tc>
                  <a:txBody>
                    <a:bodyPr/>
                    <a:lstStyle/>
                    <a:p>
                      <a:pPr>
                        <a:buNone/>
                      </a:pPr>
                      <a:r>
                        <a:rPr lang="en-IN" sz="1800" b="1" dirty="0">
                          <a:latin typeface="Times New Roman" panose="02020603050405020304" pitchFamily="18" charset="0"/>
                          <a:cs typeface="Times New Roman" panose="02020603050405020304" pitchFamily="18" charset="0"/>
                        </a:rPr>
                        <a:t>Accuracy</a:t>
                      </a:r>
                    </a:p>
                  </a:txBody>
                  <a:tcPr anchor="ctr"/>
                </a:tc>
                <a:tc>
                  <a:txBody>
                    <a:bodyPr/>
                    <a:lstStyle/>
                    <a:p>
                      <a:pPr>
                        <a:buNone/>
                      </a:pPr>
                      <a:r>
                        <a:rPr lang="en-IN" sz="1800">
                          <a:latin typeface="Times New Roman" panose="02020603050405020304" pitchFamily="18" charset="0"/>
                          <a:cs typeface="Times New Roman" panose="02020603050405020304" pitchFamily="18" charset="0"/>
                        </a:rPr>
                        <a:t>0.9137</a:t>
                      </a:r>
                    </a:p>
                  </a:txBody>
                  <a:tcPr anchor="ctr"/>
                </a:tc>
                <a:extLst>
                  <a:ext uri="{0D108BD9-81ED-4DB2-BD59-A6C34878D82A}">
                    <a16:rowId xmlns:a16="http://schemas.microsoft.com/office/drawing/2014/main" val="612968103"/>
                  </a:ext>
                </a:extLst>
              </a:tr>
              <a:tr h="370840">
                <a:tc>
                  <a:txBody>
                    <a:bodyPr/>
                    <a:lstStyle/>
                    <a:p>
                      <a:pPr>
                        <a:buNone/>
                      </a:pPr>
                      <a:r>
                        <a:rPr lang="en-IN" sz="1800" b="1" dirty="0">
                          <a:latin typeface="Times New Roman" panose="02020603050405020304" pitchFamily="18" charset="0"/>
                          <a:cs typeface="Times New Roman" panose="02020603050405020304" pitchFamily="18" charset="0"/>
                        </a:rPr>
                        <a:t>Weighted F1-Score</a:t>
                      </a:r>
                    </a:p>
                  </a:txBody>
                  <a:tcPr anchor="ctr"/>
                </a:tc>
                <a:tc>
                  <a:txBody>
                    <a:bodyPr/>
                    <a:lstStyle/>
                    <a:p>
                      <a:pPr>
                        <a:buNone/>
                      </a:pPr>
                      <a:r>
                        <a:rPr lang="en-IN" sz="1800" dirty="0">
                          <a:latin typeface="Times New Roman" panose="02020603050405020304" pitchFamily="18" charset="0"/>
                          <a:cs typeface="Times New Roman" panose="02020603050405020304" pitchFamily="18" charset="0"/>
                        </a:rPr>
                        <a:t>0.9144</a:t>
                      </a:r>
                    </a:p>
                  </a:txBody>
                  <a:tcPr anchor="ctr"/>
                </a:tc>
                <a:extLst>
                  <a:ext uri="{0D108BD9-81ED-4DB2-BD59-A6C34878D82A}">
                    <a16:rowId xmlns:a16="http://schemas.microsoft.com/office/drawing/2014/main" val="430883756"/>
                  </a:ext>
                </a:extLst>
              </a:tr>
            </a:tbl>
          </a:graphicData>
        </a:graphic>
      </p:graphicFrame>
      <p:graphicFrame>
        <p:nvGraphicFramePr>
          <p:cNvPr id="29" name="Table 28">
            <a:extLst>
              <a:ext uri="{FF2B5EF4-FFF2-40B4-BE49-F238E27FC236}">
                <a16:creationId xmlns:a16="http://schemas.microsoft.com/office/drawing/2014/main" id="{E81D2FE6-CDC7-897B-418B-624F24E8D12A}"/>
              </a:ext>
            </a:extLst>
          </p:cNvPr>
          <p:cNvGraphicFramePr>
            <a:graphicFrameLocks noGrp="1"/>
          </p:cNvGraphicFramePr>
          <p:nvPr>
            <p:extLst>
              <p:ext uri="{D42A27DB-BD31-4B8C-83A1-F6EECF244321}">
                <p14:modId xmlns:p14="http://schemas.microsoft.com/office/powerpoint/2010/main" val="1184093381"/>
              </p:ext>
            </p:extLst>
          </p:nvPr>
        </p:nvGraphicFramePr>
        <p:xfrm>
          <a:off x="5728358" y="1155833"/>
          <a:ext cx="5244440" cy="1524000"/>
        </p:xfrm>
        <a:graphic>
          <a:graphicData uri="http://schemas.openxmlformats.org/drawingml/2006/table">
            <a:tbl>
              <a:tblPr firstRow="1" bandRow="1">
                <a:tableStyleId>{5940675A-B579-460E-94D1-54222C63F5DA}</a:tableStyleId>
              </a:tblPr>
              <a:tblGrid>
                <a:gridCol w="1048888">
                  <a:extLst>
                    <a:ext uri="{9D8B030D-6E8A-4147-A177-3AD203B41FA5}">
                      <a16:colId xmlns:a16="http://schemas.microsoft.com/office/drawing/2014/main" val="638489392"/>
                    </a:ext>
                  </a:extLst>
                </a:gridCol>
                <a:gridCol w="1048888">
                  <a:extLst>
                    <a:ext uri="{9D8B030D-6E8A-4147-A177-3AD203B41FA5}">
                      <a16:colId xmlns:a16="http://schemas.microsoft.com/office/drawing/2014/main" val="1378912817"/>
                    </a:ext>
                  </a:extLst>
                </a:gridCol>
                <a:gridCol w="1048888">
                  <a:extLst>
                    <a:ext uri="{9D8B030D-6E8A-4147-A177-3AD203B41FA5}">
                      <a16:colId xmlns:a16="http://schemas.microsoft.com/office/drawing/2014/main" val="1878702129"/>
                    </a:ext>
                  </a:extLst>
                </a:gridCol>
                <a:gridCol w="1048888">
                  <a:extLst>
                    <a:ext uri="{9D8B030D-6E8A-4147-A177-3AD203B41FA5}">
                      <a16:colId xmlns:a16="http://schemas.microsoft.com/office/drawing/2014/main" val="3352403524"/>
                    </a:ext>
                  </a:extLst>
                </a:gridCol>
                <a:gridCol w="1048888">
                  <a:extLst>
                    <a:ext uri="{9D8B030D-6E8A-4147-A177-3AD203B41FA5}">
                      <a16:colId xmlns:a16="http://schemas.microsoft.com/office/drawing/2014/main" val="1311644556"/>
                    </a:ext>
                  </a:extLst>
                </a:gridCol>
              </a:tblGrid>
              <a:tr h="295324">
                <a:tc>
                  <a:txBody>
                    <a:bodyPr/>
                    <a:lstStyle/>
                    <a:p>
                      <a:pPr>
                        <a:buNone/>
                      </a:pPr>
                      <a:r>
                        <a:rPr lang="en-IN" sz="1400" b="1" dirty="0">
                          <a:latin typeface="Times New Roman" panose="02020603050405020304" pitchFamily="18" charset="0"/>
                          <a:cs typeface="Times New Roman" panose="02020603050405020304" pitchFamily="18" charset="0"/>
                        </a:rPr>
                        <a:t>Class</a:t>
                      </a: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Precision</a:t>
                      </a: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Recall</a:t>
                      </a: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F1-Score</a:t>
                      </a: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Support</a:t>
                      </a:r>
                    </a:p>
                  </a:txBody>
                  <a:tcPr anchor="ctr"/>
                </a:tc>
                <a:extLst>
                  <a:ext uri="{0D108BD9-81ED-4DB2-BD59-A6C34878D82A}">
                    <a16:rowId xmlns:a16="http://schemas.microsoft.com/office/drawing/2014/main" val="3871048816"/>
                  </a:ext>
                </a:extLst>
              </a:tr>
              <a:tr h="295324">
                <a:tc>
                  <a:txBody>
                    <a:bodyPr/>
                    <a:lstStyle/>
                    <a:p>
                      <a:pPr>
                        <a:buNone/>
                      </a:pPr>
                      <a:r>
                        <a:rPr lang="en-IN" sz="1400" b="1" dirty="0">
                          <a:latin typeface="Times New Roman" panose="02020603050405020304" pitchFamily="18" charset="0"/>
                          <a:cs typeface="Times New Roman" panose="02020603050405020304" pitchFamily="18" charset="0"/>
                        </a:rPr>
                        <a:t>Insomnia</a:t>
                      </a:r>
                    </a:p>
                  </a:txBody>
                  <a:tcPr anchor="ctr"/>
                </a:tc>
                <a:tc>
                  <a:txBody>
                    <a:bodyPr/>
                    <a:lstStyle/>
                    <a:p>
                      <a:pPr>
                        <a:buNone/>
                      </a:pPr>
                      <a:r>
                        <a:rPr lang="en-IN" sz="1400">
                          <a:latin typeface="Times New Roman" panose="02020603050405020304" pitchFamily="18" charset="0"/>
                          <a:cs typeface="Times New Roman" panose="02020603050405020304" pitchFamily="18" charset="0"/>
                        </a:rPr>
                        <a:t>0.9367</a:t>
                      </a:r>
                    </a:p>
                  </a:txBody>
                  <a:tcPr anchor="ctr"/>
                </a:tc>
                <a:tc>
                  <a:txBody>
                    <a:bodyPr/>
                    <a:lstStyle/>
                    <a:p>
                      <a:pPr>
                        <a:buNone/>
                      </a:pPr>
                      <a:r>
                        <a:rPr lang="en-IN" sz="1400">
                          <a:latin typeface="Times New Roman" panose="02020603050405020304" pitchFamily="18" charset="0"/>
                          <a:cs typeface="Times New Roman" panose="02020603050405020304" pitchFamily="18" charset="0"/>
                        </a:rPr>
                        <a:t>0.9016</a:t>
                      </a:r>
                    </a:p>
                  </a:txBody>
                  <a:tcPr anchor="ctr"/>
                </a:tc>
                <a:tc>
                  <a:txBody>
                    <a:bodyPr/>
                    <a:lstStyle/>
                    <a:p>
                      <a:pPr>
                        <a:buNone/>
                      </a:pPr>
                      <a:r>
                        <a:rPr lang="en-IN" sz="1400">
                          <a:latin typeface="Times New Roman" panose="02020603050405020304" pitchFamily="18" charset="0"/>
                          <a:cs typeface="Times New Roman" panose="02020603050405020304" pitchFamily="18" charset="0"/>
                        </a:rPr>
                        <a:t>0.9188</a:t>
                      </a:r>
                    </a:p>
                  </a:txBody>
                  <a:tcPr anchor="ctr"/>
                </a:tc>
                <a:tc>
                  <a:txBody>
                    <a:bodyPr/>
                    <a:lstStyle/>
                    <a:p>
                      <a:pPr>
                        <a:buNone/>
                      </a:pPr>
                      <a:r>
                        <a:rPr lang="en-IN" sz="1400">
                          <a:latin typeface="Times New Roman" panose="02020603050405020304" pitchFamily="18" charset="0"/>
                          <a:cs typeface="Times New Roman" panose="02020603050405020304" pitchFamily="18" charset="0"/>
                        </a:rPr>
                        <a:t>772</a:t>
                      </a:r>
                    </a:p>
                  </a:txBody>
                  <a:tcPr anchor="ctr"/>
                </a:tc>
                <a:extLst>
                  <a:ext uri="{0D108BD9-81ED-4DB2-BD59-A6C34878D82A}">
                    <a16:rowId xmlns:a16="http://schemas.microsoft.com/office/drawing/2014/main" val="3562527100"/>
                  </a:ext>
                </a:extLst>
              </a:tr>
              <a:tr h="295324">
                <a:tc>
                  <a:txBody>
                    <a:bodyPr/>
                    <a:lstStyle/>
                    <a:p>
                      <a:pPr>
                        <a:buNone/>
                      </a:pPr>
                      <a:r>
                        <a:rPr lang="en-IN" sz="1400" b="1" dirty="0">
                          <a:latin typeface="Times New Roman" panose="02020603050405020304" pitchFamily="18" charset="0"/>
                          <a:cs typeface="Times New Roman" panose="02020603050405020304" pitchFamily="18" charset="0"/>
                        </a:rPr>
                        <a:t>Narcolepsy</a:t>
                      </a:r>
                    </a:p>
                  </a:txBody>
                  <a:tcPr anchor="ctr"/>
                </a:tc>
                <a:tc>
                  <a:txBody>
                    <a:bodyPr/>
                    <a:lstStyle/>
                    <a:p>
                      <a:pPr>
                        <a:buNone/>
                      </a:pPr>
                      <a:r>
                        <a:rPr lang="en-IN" sz="1400">
                          <a:latin typeface="Times New Roman" panose="02020603050405020304" pitchFamily="18" charset="0"/>
                          <a:cs typeface="Times New Roman" panose="02020603050405020304" pitchFamily="18" charset="0"/>
                        </a:rPr>
                        <a:t>0.9886</a:t>
                      </a:r>
                    </a:p>
                  </a:txBody>
                  <a:tcPr anchor="ctr"/>
                </a:tc>
                <a:tc>
                  <a:txBody>
                    <a:bodyPr/>
                    <a:lstStyle/>
                    <a:p>
                      <a:pPr>
                        <a:buNone/>
                      </a:pPr>
                      <a:r>
                        <a:rPr lang="en-IN" sz="1400">
                          <a:latin typeface="Times New Roman" panose="02020603050405020304" pitchFamily="18" charset="0"/>
                          <a:cs typeface="Times New Roman" panose="02020603050405020304" pitchFamily="18" charset="0"/>
                        </a:rPr>
                        <a:t>0.8847</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0.9337</a:t>
                      </a:r>
                    </a:p>
                  </a:txBody>
                  <a:tcPr anchor="ctr"/>
                </a:tc>
                <a:tc>
                  <a:txBody>
                    <a:bodyPr/>
                    <a:lstStyle/>
                    <a:p>
                      <a:pPr>
                        <a:buNone/>
                      </a:pPr>
                      <a:r>
                        <a:rPr lang="en-IN" sz="1400">
                          <a:latin typeface="Times New Roman" panose="02020603050405020304" pitchFamily="18" charset="0"/>
                          <a:cs typeface="Times New Roman" panose="02020603050405020304" pitchFamily="18" charset="0"/>
                        </a:rPr>
                        <a:t>685</a:t>
                      </a:r>
                    </a:p>
                  </a:txBody>
                  <a:tcPr anchor="ctr"/>
                </a:tc>
                <a:extLst>
                  <a:ext uri="{0D108BD9-81ED-4DB2-BD59-A6C34878D82A}">
                    <a16:rowId xmlns:a16="http://schemas.microsoft.com/office/drawing/2014/main" val="361786608"/>
                  </a:ext>
                </a:extLst>
              </a:tr>
              <a:tr h="295324">
                <a:tc>
                  <a:txBody>
                    <a:bodyPr/>
                    <a:lstStyle/>
                    <a:p>
                      <a:pPr>
                        <a:buNone/>
                      </a:pPr>
                      <a:r>
                        <a:rPr lang="en-IN" sz="1400" b="1" dirty="0">
                          <a:latin typeface="Times New Roman" panose="02020603050405020304" pitchFamily="18" charset="0"/>
                          <a:cs typeface="Times New Roman" panose="02020603050405020304" pitchFamily="18" charset="0"/>
                        </a:rPr>
                        <a:t>Normal</a:t>
                      </a:r>
                    </a:p>
                  </a:txBody>
                  <a:tcPr anchor="ctr"/>
                </a:tc>
                <a:tc>
                  <a:txBody>
                    <a:bodyPr/>
                    <a:lstStyle/>
                    <a:p>
                      <a:pPr>
                        <a:buNone/>
                      </a:pPr>
                      <a:r>
                        <a:rPr lang="en-IN" sz="1400">
                          <a:latin typeface="Times New Roman" panose="02020603050405020304" pitchFamily="18" charset="0"/>
                          <a:cs typeface="Times New Roman" panose="02020603050405020304" pitchFamily="18" charset="0"/>
                        </a:rPr>
                        <a:t>0.8607</a:t>
                      </a:r>
                    </a:p>
                  </a:txBody>
                  <a:tcPr anchor="ctr"/>
                </a:tc>
                <a:tc>
                  <a:txBody>
                    <a:bodyPr/>
                    <a:lstStyle/>
                    <a:p>
                      <a:pPr>
                        <a:buNone/>
                      </a:pPr>
                      <a:r>
                        <a:rPr lang="en-IN" sz="1400">
                          <a:latin typeface="Times New Roman" panose="02020603050405020304" pitchFamily="18" charset="0"/>
                          <a:cs typeface="Times New Roman" panose="02020603050405020304" pitchFamily="18" charset="0"/>
                        </a:rPr>
                        <a:t>0.9488</a:t>
                      </a:r>
                    </a:p>
                  </a:txBody>
                  <a:tcPr anchor="ctr"/>
                </a:tc>
                <a:tc>
                  <a:txBody>
                    <a:bodyPr/>
                    <a:lstStyle/>
                    <a:p>
                      <a:pPr>
                        <a:buNone/>
                      </a:pPr>
                      <a:r>
                        <a:rPr lang="en-IN" sz="1400">
                          <a:latin typeface="Times New Roman" panose="02020603050405020304" pitchFamily="18" charset="0"/>
                          <a:cs typeface="Times New Roman" panose="02020603050405020304" pitchFamily="18" charset="0"/>
                        </a:rPr>
                        <a:t>0.9026</a:t>
                      </a:r>
                    </a:p>
                  </a:txBody>
                  <a:tcPr anchor="ctr"/>
                </a:tc>
                <a:tc>
                  <a:txBody>
                    <a:bodyPr/>
                    <a:lstStyle/>
                    <a:p>
                      <a:pPr>
                        <a:buNone/>
                      </a:pPr>
                      <a:r>
                        <a:rPr lang="en-IN" sz="1400">
                          <a:latin typeface="Times New Roman" panose="02020603050405020304" pitchFamily="18" charset="0"/>
                          <a:cs typeface="Times New Roman" panose="02020603050405020304" pitchFamily="18" charset="0"/>
                        </a:rPr>
                        <a:t>508</a:t>
                      </a:r>
                    </a:p>
                  </a:txBody>
                  <a:tcPr anchor="ctr"/>
                </a:tc>
                <a:extLst>
                  <a:ext uri="{0D108BD9-81ED-4DB2-BD59-A6C34878D82A}">
                    <a16:rowId xmlns:a16="http://schemas.microsoft.com/office/drawing/2014/main" val="47686985"/>
                  </a:ext>
                </a:extLst>
              </a:tr>
              <a:tr h="295324">
                <a:tc>
                  <a:txBody>
                    <a:bodyPr/>
                    <a:lstStyle/>
                    <a:p>
                      <a:pPr>
                        <a:buNone/>
                      </a:pPr>
                      <a:r>
                        <a:rPr lang="en-IN" sz="1400" b="1" dirty="0">
                          <a:latin typeface="Times New Roman" panose="02020603050405020304" pitchFamily="18" charset="0"/>
                          <a:cs typeface="Times New Roman" panose="02020603050405020304" pitchFamily="18" charset="0"/>
                        </a:rPr>
                        <a:t>SDB</a:t>
                      </a:r>
                    </a:p>
                  </a:txBody>
                  <a:tcPr anchor="ctr"/>
                </a:tc>
                <a:tc>
                  <a:txBody>
                    <a:bodyPr/>
                    <a:lstStyle/>
                    <a:p>
                      <a:pPr>
                        <a:buNone/>
                      </a:pPr>
                      <a:r>
                        <a:rPr lang="en-IN" sz="1400">
                          <a:latin typeface="Times New Roman" panose="02020603050405020304" pitchFamily="18" charset="0"/>
                          <a:cs typeface="Times New Roman" panose="02020603050405020304" pitchFamily="18" charset="0"/>
                        </a:rPr>
                        <a:t>0.8481</a:t>
                      </a:r>
                    </a:p>
                  </a:txBody>
                  <a:tcPr anchor="ctr"/>
                </a:tc>
                <a:tc>
                  <a:txBody>
                    <a:bodyPr/>
                    <a:lstStyle/>
                    <a:p>
                      <a:pPr>
                        <a:buNone/>
                      </a:pPr>
                      <a:r>
                        <a:rPr lang="en-IN" sz="1400">
                          <a:latin typeface="Times New Roman" panose="02020603050405020304" pitchFamily="18" charset="0"/>
                          <a:cs typeface="Times New Roman" panose="02020603050405020304" pitchFamily="18" charset="0"/>
                        </a:rPr>
                        <a:t>0.9389</a:t>
                      </a:r>
                    </a:p>
                  </a:txBody>
                  <a:tcPr anchor="ctr"/>
                </a:tc>
                <a:tc>
                  <a:txBody>
                    <a:bodyPr/>
                    <a:lstStyle/>
                    <a:p>
                      <a:pPr>
                        <a:buNone/>
                      </a:pPr>
                      <a:r>
                        <a:rPr lang="en-IN" sz="1400">
                          <a:latin typeface="Times New Roman" panose="02020603050405020304" pitchFamily="18" charset="0"/>
                          <a:cs typeface="Times New Roman" panose="02020603050405020304" pitchFamily="18" charset="0"/>
                        </a:rPr>
                        <a:t>0.8912</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458</a:t>
                      </a:r>
                    </a:p>
                  </a:txBody>
                  <a:tcPr anchor="ctr"/>
                </a:tc>
                <a:extLst>
                  <a:ext uri="{0D108BD9-81ED-4DB2-BD59-A6C34878D82A}">
                    <a16:rowId xmlns:a16="http://schemas.microsoft.com/office/drawing/2014/main" val="3732481863"/>
                  </a:ext>
                </a:extLst>
              </a:tr>
            </a:tbl>
          </a:graphicData>
        </a:graphic>
      </p:graphicFrame>
      <p:sp>
        <p:nvSpPr>
          <p:cNvPr id="30" name="TextBox 29">
            <a:extLst>
              <a:ext uri="{FF2B5EF4-FFF2-40B4-BE49-F238E27FC236}">
                <a16:creationId xmlns:a16="http://schemas.microsoft.com/office/drawing/2014/main" id="{5E75BE2D-9CCB-ED99-B4FB-AFA70F2227A9}"/>
              </a:ext>
            </a:extLst>
          </p:cNvPr>
          <p:cNvSpPr txBox="1"/>
          <p:nvPr/>
        </p:nvSpPr>
        <p:spPr>
          <a:xfrm>
            <a:off x="1085415" y="3101283"/>
            <a:ext cx="10186750" cy="2535566"/>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first table shows overall model performance with </a:t>
            </a:r>
            <a:r>
              <a:rPr lang="en-US" b="1" dirty="0">
                <a:latin typeface="Times New Roman" panose="02020603050405020304" pitchFamily="18" charset="0"/>
                <a:cs typeface="Times New Roman" panose="02020603050405020304" pitchFamily="18" charset="0"/>
              </a:rPr>
              <a:t>Accuracy = 91.37%</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Weighted F1-score = 91.44%</a:t>
            </a:r>
            <a:r>
              <a:rPr lang="en-US" dirty="0">
                <a:latin typeface="Times New Roman" panose="02020603050405020304" pitchFamily="18" charset="0"/>
                <a:cs typeface="Times New Roman" panose="02020603050405020304" pitchFamily="18" charset="0"/>
              </a:rPr>
              <a:t>, indicating consistent and balanced results </a:t>
            </a:r>
          </a:p>
          <a:p>
            <a:pPr marL="342900"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second table presents </a:t>
            </a:r>
            <a:r>
              <a:rPr lang="en-US" b="1" dirty="0">
                <a:latin typeface="Times New Roman" panose="02020603050405020304" pitchFamily="18" charset="0"/>
                <a:cs typeface="Times New Roman" panose="02020603050405020304" pitchFamily="18" charset="0"/>
              </a:rPr>
              <a:t>class-wise performance</a:t>
            </a:r>
            <a:r>
              <a:rPr lang="en-US" dirty="0">
                <a:latin typeface="Times New Roman" panose="02020603050405020304" pitchFamily="18" charset="0"/>
                <a:cs typeface="Times New Roman" panose="02020603050405020304" pitchFamily="18" charset="0"/>
              </a:rPr>
              <a:t>, including precision, recall, F1-score, and support for each sleep disorder </a:t>
            </a:r>
          </a:p>
          <a:p>
            <a:pPr marL="342900"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All classes achieve strong </a:t>
            </a:r>
            <a:r>
              <a:rPr lang="en-US" b="1" dirty="0">
                <a:latin typeface="Times New Roman" panose="02020603050405020304" pitchFamily="18" charset="0"/>
                <a:cs typeface="Times New Roman" panose="02020603050405020304" pitchFamily="18" charset="0"/>
              </a:rPr>
              <a:t>F1-scores (~0.89–0.93)</a:t>
            </a:r>
            <a:r>
              <a:rPr lang="en-US" dirty="0">
                <a:latin typeface="Times New Roman" panose="02020603050405020304" pitchFamily="18" charset="0"/>
                <a:cs typeface="Times New Roman" panose="02020603050405020304" pitchFamily="18" charset="0"/>
              </a:rPr>
              <a:t>, showing reliable classification across categories </a:t>
            </a:r>
          </a:p>
          <a:p>
            <a:pPr marL="342900"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support column reflects the number of samples per class</a:t>
            </a:r>
          </a:p>
        </p:txBody>
      </p:sp>
    </p:spTree>
    <p:extLst>
      <p:ext uri="{BB962C8B-B14F-4D97-AF65-F5344CB8AC3E}">
        <p14:creationId xmlns:p14="http://schemas.microsoft.com/office/powerpoint/2010/main" val="9990830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1FD95-080A-0525-6B42-2B2BC72D5F0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FD5175B-23E0-DB34-DA94-677FAF37131E}"/>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F243EB9-7730-6505-5E43-1AD8E29C0D98}"/>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descr="Anurag University Admission 2024 - 2025, Fees, Courses, Placements, Cutoff,  Ranking">
            <a:extLst>
              <a:ext uri="{FF2B5EF4-FFF2-40B4-BE49-F238E27FC236}">
                <a16:creationId xmlns:a16="http://schemas.microsoft.com/office/drawing/2014/main" id="{91711FE5-2A12-F5E2-006E-FE7701A8F5D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4095CB5-7190-BC33-E37B-F567EA4B23E2}"/>
              </a:ext>
            </a:extLst>
          </p:cNvPr>
          <p:cNvSpPr txBox="1"/>
          <p:nvPr/>
        </p:nvSpPr>
        <p:spPr>
          <a:xfrm>
            <a:off x="4335453" y="419865"/>
            <a:ext cx="3521092" cy="461665"/>
          </a:xfrm>
          <a:prstGeom prst="rect">
            <a:avLst/>
          </a:prstGeom>
          <a:noFill/>
        </p:spPr>
        <p:txBody>
          <a:bodyPr wrap="none" rtlCol="0">
            <a:spAutoFit/>
          </a:bodyPr>
          <a:lstStyle/>
          <a:p>
            <a:r>
              <a:rPr lang="en-US" sz="2400" b="1" dirty="0">
                <a:solidFill>
                  <a:srgbClr val="FF0000"/>
                </a:solidFill>
                <a:latin typeface="Times New Roman" panose="02020603050405020304" pitchFamily="18" charset="0"/>
                <a:cs typeface="Times New Roman" panose="02020603050405020304" pitchFamily="18" charset="0"/>
              </a:rPr>
              <a:t>RESULTS CONTINUED</a:t>
            </a:r>
          </a:p>
        </p:txBody>
      </p:sp>
      <p:sp>
        <p:nvSpPr>
          <p:cNvPr id="6" name="Date Placeholder 6">
            <a:extLst>
              <a:ext uri="{FF2B5EF4-FFF2-40B4-BE49-F238E27FC236}">
                <a16:creationId xmlns:a16="http://schemas.microsoft.com/office/drawing/2014/main" id="{E830C77A-036C-D0CC-BCCD-B0A71D7021FB}"/>
              </a:ext>
            </a:extLst>
          </p:cNvPr>
          <p:cNvSpPr>
            <a:spLocks noGrp="1"/>
          </p:cNvSpPr>
          <p:nvPr>
            <p:ph type="dt" sz="half" idx="10"/>
          </p:nvPr>
        </p:nvSpPr>
        <p:spPr>
          <a:xfrm>
            <a:off x="838200" y="6356350"/>
            <a:ext cx="2743200" cy="365125"/>
          </a:xfrm>
        </p:spPr>
        <p:txBody>
          <a:bodyPr/>
          <a:lstStyle/>
          <a:p>
            <a:fld id="{6A0D0D0C-6ED7-4DCE-A036-1D21D0B6637E}" type="datetime9">
              <a:rPr lang="en-US" smtClean="0"/>
              <a:t>5/2/2026 12:44:44 AM</a:t>
            </a:fld>
            <a:endParaRPr lang="en-US"/>
          </a:p>
        </p:txBody>
      </p:sp>
      <p:sp>
        <p:nvSpPr>
          <p:cNvPr id="7" name="Footer Placeholder 7">
            <a:extLst>
              <a:ext uri="{FF2B5EF4-FFF2-40B4-BE49-F238E27FC236}">
                <a16:creationId xmlns:a16="http://schemas.microsoft.com/office/drawing/2014/main" id="{32551728-91B7-6DDB-D6E5-E80316D73A01}"/>
              </a:ext>
            </a:extLst>
          </p:cNvPr>
          <p:cNvSpPr>
            <a:spLocks noGrp="1"/>
          </p:cNvSpPr>
          <p:nvPr>
            <p:ph type="ftr" sz="quarter" idx="11"/>
          </p:nvPr>
        </p:nvSpPr>
        <p:spPr>
          <a:xfrm>
            <a:off x="4038600" y="6356350"/>
            <a:ext cx="4114800" cy="365125"/>
          </a:xfrm>
        </p:spPr>
        <p:txBody>
          <a:bodyPr/>
          <a:lstStyle/>
          <a:p>
            <a:r>
              <a:rPr lang="en-US"/>
              <a:t>When Labels Are Scarce, Can Graph Structure Outperform Text in Rumor Detection?</a:t>
            </a:r>
          </a:p>
        </p:txBody>
      </p:sp>
      <p:sp>
        <p:nvSpPr>
          <p:cNvPr id="8" name="Slide Number Placeholder 8">
            <a:extLst>
              <a:ext uri="{FF2B5EF4-FFF2-40B4-BE49-F238E27FC236}">
                <a16:creationId xmlns:a16="http://schemas.microsoft.com/office/drawing/2014/main" id="{667896A9-E449-49ED-61C4-F82199AA4A53}"/>
              </a:ext>
            </a:extLst>
          </p:cNvPr>
          <p:cNvSpPr>
            <a:spLocks noGrp="1"/>
          </p:cNvSpPr>
          <p:nvPr>
            <p:ph type="sldNum" sz="quarter" idx="12"/>
          </p:nvPr>
        </p:nvSpPr>
        <p:spPr>
          <a:xfrm>
            <a:off x="8610600" y="6356350"/>
            <a:ext cx="2743200" cy="365125"/>
          </a:xfrm>
        </p:spPr>
        <p:txBody>
          <a:bodyPr/>
          <a:lstStyle/>
          <a:p>
            <a:fld id="{5DA9DDE7-DF24-421B-8B5A-9F7A222497E2}" type="slidenum">
              <a:rPr lang="en-US" smtClean="0"/>
              <a:t>13</a:t>
            </a:fld>
            <a:endParaRPr lang="en-US"/>
          </a:p>
        </p:txBody>
      </p:sp>
      <p:graphicFrame>
        <p:nvGraphicFramePr>
          <p:cNvPr id="9" name="Table 8">
            <a:extLst>
              <a:ext uri="{FF2B5EF4-FFF2-40B4-BE49-F238E27FC236}">
                <a16:creationId xmlns:a16="http://schemas.microsoft.com/office/drawing/2014/main" id="{92EB0FA4-A685-9859-9FC1-A5BE76EC01F7}"/>
              </a:ext>
            </a:extLst>
          </p:cNvPr>
          <p:cNvGraphicFramePr>
            <a:graphicFrameLocks noGrp="1"/>
          </p:cNvGraphicFramePr>
          <p:nvPr>
            <p:extLst>
              <p:ext uri="{D42A27DB-BD31-4B8C-83A1-F6EECF244321}">
                <p14:modId xmlns:p14="http://schemas.microsoft.com/office/powerpoint/2010/main" val="1187706228"/>
              </p:ext>
            </p:extLst>
          </p:nvPr>
        </p:nvGraphicFramePr>
        <p:xfrm>
          <a:off x="1342103" y="1212151"/>
          <a:ext cx="9507792" cy="4021292"/>
        </p:xfrm>
        <a:graphic>
          <a:graphicData uri="http://schemas.openxmlformats.org/drawingml/2006/table">
            <a:tbl>
              <a:tblPr firstRow="1" bandRow="1">
                <a:tableStyleId>{5940675A-B579-460E-94D1-54222C63F5DA}</a:tableStyleId>
              </a:tblPr>
              <a:tblGrid>
                <a:gridCol w="1358256">
                  <a:extLst>
                    <a:ext uri="{9D8B030D-6E8A-4147-A177-3AD203B41FA5}">
                      <a16:colId xmlns:a16="http://schemas.microsoft.com/office/drawing/2014/main" val="1748807995"/>
                    </a:ext>
                  </a:extLst>
                </a:gridCol>
                <a:gridCol w="1358256">
                  <a:extLst>
                    <a:ext uri="{9D8B030D-6E8A-4147-A177-3AD203B41FA5}">
                      <a16:colId xmlns:a16="http://schemas.microsoft.com/office/drawing/2014/main" val="3414703602"/>
                    </a:ext>
                  </a:extLst>
                </a:gridCol>
                <a:gridCol w="1358256">
                  <a:extLst>
                    <a:ext uri="{9D8B030D-6E8A-4147-A177-3AD203B41FA5}">
                      <a16:colId xmlns:a16="http://schemas.microsoft.com/office/drawing/2014/main" val="1288496788"/>
                    </a:ext>
                  </a:extLst>
                </a:gridCol>
                <a:gridCol w="1358256">
                  <a:extLst>
                    <a:ext uri="{9D8B030D-6E8A-4147-A177-3AD203B41FA5}">
                      <a16:colId xmlns:a16="http://schemas.microsoft.com/office/drawing/2014/main" val="2804879952"/>
                    </a:ext>
                  </a:extLst>
                </a:gridCol>
                <a:gridCol w="1358256">
                  <a:extLst>
                    <a:ext uri="{9D8B030D-6E8A-4147-A177-3AD203B41FA5}">
                      <a16:colId xmlns:a16="http://schemas.microsoft.com/office/drawing/2014/main" val="1904581517"/>
                    </a:ext>
                  </a:extLst>
                </a:gridCol>
                <a:gridCol w="1358256">
                  <a:extLst>
                    <a:ext uri="{9D8B030D-6E8A-4147-A177-3AD203B41FA5}">
                      <a16:colId xmlns:a16="http://schemas.microsoft.com/office/drawing/2014/main" val="695567965"/>
                    </a:ext>
                  </a:extLst>
                </a:gridCol>
                <a:gridCol w="1358256">
                  <a:extLst>
                    <a:ext uri="{9D8B030D-6E8A-4147-A177-3AD203B41FA5}">
                      <a16:colId xmlns:a16="http://schemas.microsoft.com/office/drawing/2014/main" val="129484730"/>
                    </a:ext>
                  </a:extLst>
                </a:gridCol>
              </a:tblGrid>
              <a:tr h="324353">
                <a:tc>
                  <a:txBody>
                    <a:bodyPr/>
                    <a:lstStyle/>
                    <a:p>
                      <a:pPr>
                        <a:buNone/>
                      </a:pPr>
                      <a:r>
                        <a:rPr lang="en-IN" sz="1400" b="1">
                          <a:latin typeface="Times New Roman" panose="02020603050405020304" pitchFamily="18" charset="0"/>
                          <a:cs typeface="Times New Roman" panose="02020603050405020304" pitchFamily="18" charset="0"/>
                        </a:rPr>
                        <a:t>Patient</a:t>
                      </a:r>
                      <a:endParaRPr lang="en-IN" sz="1400" b="1"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Actual</a:t>
                      </a: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Predicted</a:t>
                      </a: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Ins (%)</a:t>
                      </a: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Nar (%)</a:t>
                      </a: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Norm (%)</a:t>
                      </a: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SDB (%)</a:t>
                      </a:r>
                    </a:p>
                  </a:txBody>
                  <a:tcPr anchor="ctr"/>
                </a:tc>
                <a:extLst>
                  <a:ext uri="{0D108BD9-81ED-4DB2-BD59-A6C34878D82A}">
                    <a16:rowId xmlns:a16="http://schemas.microsoft.com/office/drawing/2014/main" val="574926772"/>
                  </a:ext>
                </a:extLst>
              </a:tr>
              <a:tr h="324353">
                <a:tc>
                  <a:txBody>
                    <a:bodyPr/>
                    <a:lstStyle/>
                    <a:p>
                      <a:pPr>
                        <a:buNone/>
                      </a:pPr>
                      <a:r>
                        <a:rPr lang="en-IN" sz="1400" dirty="0" err="1">
                          <a:latin typeface="Times New Roman" panose="02020603050405020304" pitchFamily="18" charset="0"/>
                          <a:cs typeface="Times New Roman" panose="02020603050405020304" pitchFamily="18" charset="0"/>
                        </a:rPr>
                        <a:t>Insom</a:t>
                      </a:r>
                      <a:r>
                        <a:rPr lang="en-IN" sz="1400" dirty="0">
                          <a:latin typeface="Times New Roman" panose="02020603050405020304" pitchFamily="18" charset="0"/>
                          <a:cs typeface="Times New Roman" panose="02020603050405020304" pitchFamily="18" charset="0"/>
                        </a:rPr>
                        <a:t> Sub 1</a:t>
                      </a:r>
                    </a:p>
                  </a:txBody>
                  <a:tcPr anchor="ctr"/>
                </a:tc>
                <a:tc>
                  <a:txBody>
                    <a:bodyPr/>
                    <a:lstStyle/>
                    <a:p>
                      <a:pPr>
                        <a:buNone/>
                      </a:pPr>
                      <a:r>
                        <a:rPr lang="en-IN" sz="1400">
                          <a:latin typeface="Times New Roman" panose="02020603050405020304" pitchFamily="18" charset="0"/>
                          <a:cs typeface="Times New Roman" panose="02020603050405020304" pitchFamily="18" charset="0"/>
                        </a:rPr>
                        <a:t>INS</a:t>
                      </a:r>
                    </a:p>
                  </a:txBody>
                  <a:tcPr anchor="ctr"/>
                </a:tc>
                <a:tc>
                  <a:txBody>
                    <a:bodyPr/>
                    <a:lstStyle/>
                    <a:p>
                      <a:pPr>
                        <a:buNone/>
                      </a:pPr>
                      <a:r>
                        <a:rPr lang="en-IN" sz="1400">
                          <a:latin typeface="Times New Roman" panose="02020603050405020304" pitchFamily="18" charset="0"/>
                          <a:cs typeface="Times New Roman" panose="02020603050405020304" pitchFamily="18" charset="0"/>
                        </a:rPr>
                        <a:t>INS</a:t>
                      </a:r>
                    </a:p>
                  </a:txBody>
                  <a:tcPr anchor="ctr"/>
                </a:tc>
                <a:tc>
                  <a:txBody>
                    <a:bodyPr/>
                    <a:lstStyle/>
                    <a:p>
                      <a:pPr>
                        <a:buNone/>
                      </a:pPr>
                      <a:r>
                        <a:rPr lang="en-IN" sz="1400">
                          <a:latin typeface="Times New Roman" panose="02020603050405020304" pitchFamily="18" charset="0"/>
                          <a:cs typeface="Times New Roman" panose="02020603050405020304" pitchFamily="18" charset="0"/>
                        </a:rPr>
                        <a:t>99.85</a:t>
                      </a:r>
                    </a:p>
                  </a:txBody>
                  <a:tcPr anchor="ctr"/>
                </a:tc>
                <a:tc>
                  <a:txBody>
                    <a:bodyPr/>
                    <a:lstStyle/>
                    <a:p>
                      <a:pPr>
                        <a:buNone/>
                      </a:pPr>
                      <a:r>
                        <a:rPr lang="en-IN" sz="1400">
                          <a:latin typeface="Times New Roman" panose="02020603050405020304" pitchFamily="18" charset="0"/>
                          <a:cs typeface="Times New Roman" panose="02020603050405020304" pitchFamily="18" charset="0"/>
                        </a:rPr>
                        <a:t>0.14</a:t>
                      </a:r>
                    </a:p>
                  </a:txBody>
                  <a:tcPr anchor="ctr"/>
                </a:tc>
                <a:tc>
                  <a:txBody>
                    <a:bodyPr/>
                    <a:lstStyle/>
                    <a:p>
                      <a:pPr>
                        <a:buNone/>
                      </a:pPr>
                      <a:r>
                        <a:rPr lang="en-IN" sz="1400">
                          <a:latin typeface="Times New Roman" panose="02020603050405020304" pitchFamily="18" charset="0"/>
                          <a:cs typeface="Times New Roman" panose="02020603050405020304" pitchFamily="18" charset="0"/>
                        </a:rPr>
                        <a:t>0.00</a:t>
                      </a:r>
                    </a:p>
                  </a:txBody>
                  <a:tcPr anchor="ctr"/>
                </a:tc>
                <a:tc>
                  <a:txBody>
                    <a:bodyPr/>
                    <a:lstStyle/>
                    <a:p>
                      <a:pPr>
                        <a:buNone/>
                      </a:pPr>
                      <a:r>
                        <a:rPr lang="en-IN" sz="1400">
                          <a:latin typeface="Times New Roman" panose="02020603050405020304" pitchFamily="18" charset="0"/>
                          <a:cs typeface="Times New Roman" panose="02020603050405020304" pitchFamily="18" charset="0"/>
                        </a:rPr>
                        <a:t>0.01</a:t>
                      </a:r>
                    </a:p>
                  </a:txBody>
                  <a:tcPr anchor="ctr"/>
                </a:tc>
                <a:extLst>
                  <a:ext uri="{0D108BD9-81ED-4DB2-BD59-A6C34878D82A}">
                    <a16:rowId xmlns:a16="http://schemas.microsoft.com/office/drawing/2014/main" val="2030608872"/>
                  </a:ext>
                </a:extLst>
              </a:tr>
              <a:tr h="324353">
                <a:tc>
                  <a:txBody>
                    <a:bodyPr/>
                    <a:lstStyle/>
                    <a:p>
                      <a:pPr>
                        <a:buNone/>
                      </a:pPr>
                      <a:r>
                        <a:rPr lang="en-IN" sz="1400" dirty="0" err="1">
                          <a:latin typeface="Times New Roman" panose="02020603050405020304" pitchFamily="18" charset="0"/>
                          <a:cs typeface="Times New Roman" panose="02020603050405020304" pitchFamily="18" charset="0"/>
                        </a:rPr>
                        <a:t>Insom</a:t>
                      </a:r>
                      <a:r>
                        <a:rPr lang="en-IN" sz="1400" dirty="0">
                          <a:latin typeface="Times New Roman" panose="02020603050405020304" pitchFamily="18" charset="0"/>
                          <a:cs typeface="Times New Roman" panose="02020603050405020304" pitchFamily="18" charset="0"/>
                        </a:rPr>
                        <a:t> Sub 2</a:t>
                      </a:r>
                    </a:p>
                  </a:txBody>
                  <a:tcPr anchor="ctr"/>
                </a:tc>
                <a:tc>
                  <a:txBody>
                    <a:bodyPr/>
                    <a:lstStyle/>
                    <a:p>
                      <a:pPr>
                        <a:buNone/>
                      </a:pPr>
                      <a:r>
                        <a:rPr lang="en-IN" sz="1400">
                          <a:latin typeface="Times New Roman" panose="02020603050405020304" pitchFamily="18" charset="0"/>
                          <a:cs typeface="Times New Roman" panose="02020603050405020304" pitchFamily="18" charset="0"/>
                        </a:rPr>
                        <a:t>INS</a:t>
                      </a:r>
                    </a:p>
                  </a:txBody>
                  <a:tcPr anchor="ctr"/>
                </a:tc>
                <a:tc>
                  <a:txBody>
                    <a:bodyPr/>
                    <a:lstStyle/>
                    <a:p>
                      <a:pPr>
                        <a:buNone/>
                      </a:pPr>
                      <a:r>
                        <a:rPr lang="en-IN" sz="1400">
                          <a:latin typeface="Times New Roman" panose="02020603050405020304" pitchFamily="18" charset="0"/>
                          <a:cs typeface="Times New Roman" panose="02020603050405020304" pitchFamily="18" charset="0"/>
                        </a:rPr>
                        <a:t>INS</a:t>
                      </a:r>
                    </a:p>
                  </a:txBody>
                  <a:tcPr anchor="ctr"/>
                </a:tc>
                <a:tc>
                  <a:txBody>
                    <a:bodyPr/>
                    <a:lstStyle/>
                    <a:p>
                      <a:pPr>
                        <a:buNone/>
                      </a:pPr>
                      <a:r>
                        <a:rPr lang="en-IN" sz="1400">
                          <a:latin typeface="Times New Roman" panose="02020603050405020304" pitchFamily="18" charset="0"/>
                          <a:cs typeface="Times New Roman" panose="02020603050405020304" pitchFamily="18" charset="0"/>
                        </a:rPr>
                        <a:t>93.51</a:t>
                      </a:r>
                    </a:p>
                  </a:txBody>
                  <a:tcPr anchor="ctr"/>
                </a:tc>
                <a:tc>
                  <a:txBody>
                    <a:bodyPr/>
                    <a:lstStyle/>
                    <a:p>
                      <a:pPr>
                        <a:buNone/>
                      </a:pPr>
                      <a:r>
                        <a:rPr lang="en-IN" sz="1400">
                          <a:latin typeface="Times New Roman" panose="02020603050405020304" pitchFamily="18" charset="0"/>
                          <a:cs typeface="Times New Roman" panose="02020603050405020304" pitchFamily="18" charset="0"/>
                        </a:rPr>
                        <a:t>0.10</a:t>
                      </a:r>
                    </a:p>
                  </a:txBody>
                  <a:tcPr anchor="ctr"/>
                </a:tc>
                <a:tc>
                  <a:txBody>
                    <a:bodyPr/>
                    <a:lstStyle/>
                    <a:p>
                      <a:pPr>
                        <a:buNone/>
                      </a:pPr>
                      <a:r>
                        <a:rPr lang="en-IN" sz="1400">
                          <a:latin typeface="Times New Roman" panose="02020603050405020304" pitchFamily="18" charset="0"/>
                          <a:cs typeface="Times New Roman" panose="02020603050405020304" pitchFamily="18" charset="0"/>
                        </a:rPr>
                        <a:t>4.03</a:t>
                      </a:r>
                    </a:p>
                  </a:txBody>
                  <a:tcPr anchor="ctr"/>
                </a:tc>
                <a:tc>
                  <a:txBody>
                    <a:bodyPr/>
                    <a:lstStyle/>
                    <a:p>
                      <a:pPr>
                        <a:buNone/>
                      </a:pPr>
                      <a:r>
                        <a:rPr lang="en-IN" sz="1400">
                          <a:latin typeface="Times New Roman" panose="02020603050405020304" pitchFamily="18" charset="0"/>
                          <a:cs typeface="Times New Roman" panose="02020603050405020304" pitchFamily="18" charset="0"/>
                        </a:rPr>
                        <a:t>2.36</a:t>
                      </a:r>
                    </a:p>
                  </a:txBody>
                  <a:tcPr anchor="ctr"/>
                </a:tc>
                <a:extLst>
                  <a:ext uri="{0D108BD9-81ED-4DB2-BD59-A6C34878D82A}">
                    <a16:rowId xmlns:a16="http://schemas.microsoft.com/office/drawing/2014/main" val="1253143439"/>
                  </a:ext>
                </a:extLst>
              </a:tr>
              <a:tr h="324353">
                <a:tc>
                  <a:txBody>
                    <a:bodyPr/>
                    <a:lstStyle/>
                    <a:p>
                      <a:pPr>
                        <a:buNone/>
                      </a:pPr>
                      <a:r>
                        <a:rPr lang="en-IN" sz="1400">
                          <a:latin typeface="Times New Roman" panose="02020603050405020304" pitchFamily="18" charset="0"/>
                          <a:cs typeface="Times New Roman" panose="02020603050405020304" pitchFamily="18" charset="0"/>
                        </a:rPr>
                        <a:t>Insom Sub 4</a:t>
                      </a:r>
                    </a:p>
                  </a:txBody>
                  <a:tcPr anchor="ctr"/>
                </a:tc>
                <a:tc>
                  <a:txBody>
                    <a:bodyPr/>
                    <a:lstStyle/>
                    <a:p>
                      <a:pPr>
                        <a:buNone/>
                      </a:pPr>
                      <a:r>
                        <a:rPr lang="en-IN" sz="1400">
                          <a:latin typeface="Times New Roman" panose="02020603050405020304" pitchFamily="18" charset="0"/>
                          <a:cs typeface="Times New Roman" panose="02020603050405020304" pitchFamily="18" charset="0"/>
                        </a:rPr>
                        <a:t>INS</a:t>
                      </a:r>
                    </a:p>
                  </a:txBody>
                  <a:tcPr anchor="ctr"/>
                </a:tc>
                <a:tc>
                  <a:txBody>
                    <a:bodyPr/>
                    <a:lstStyle/>
                    <a:p>
                      <a:pPr>
                        <a:buNone/>
                      </a:pPr>
                      <a:r>
                        <a:rPr lang="en-IN" sz="1400">
                          <a:latin typeface="Times New Roman" panose="02020603050405020304" pitchFamily="18" charset="0"/>
                          <a:cs typeface="Times New Roman" panose="02020603050405020304" pitchFamily="18" charset="0"/>
                        </a:rPr>
                        <a:t>INS</a:t>
                      </a:r>
                    </a:p>
                  </a:txBody>
                  <a:tcPr anchor="ctr"/>
                </a:tc>
                <a:tc>
                  <a:txBody>
                    <a:bodyPr/>
                    <a:lstStyle/>
                    <a:p>
                      <a:pPr>
                        <a:buNone/>
                      </a:pPr>
                      <a:r>
                        <a:rPr lang="en-IN" sz="1400">
                          <a:latin typeface="Times New Roman" panose="02020603050405020304" pitchFamily="18" charset="0"/>
                          <a:cs typeface="Times New Roman" panose="02020603050405020304" pitchFamily="18" charset="0"/>
                        </a:rPr>
                        <a:t>84.78</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0.92</a:t>
                      </a:r>
                    </a:p>
                  </a:txBody>
                  <a:tcPr anchor="ctr"/>
                </a:tc>
                <a:tc>
                  <a:txBody>
                    <a:bodyPr/>
                    <a:lstStyle/>
                    <a:p>
                      <a:pPr>
                        <a:buNone/>
                      </a:pPr>
                      <a:r>
                        <a:rPr lang="en-IN" sz="1400">
                          <a:latin typeface="Times New Roman" panose="02020603050405020304" pitchFamily="18" charset="0"/>
                          <a:cs typeface="Times New Roman" panose="02020603050405020304" pitchFamily="18" charset="0"/>
                        </a:rPr>
                        <a:t>3.19</a:t>
                      </a:r>
                    </a:p>
                  </a:txBody>
                  <a:tcPr anchor="ctr"/>
                </a:tc>
                <a:tc>
                  <a:txBody>
                    <a:bodyPr/>
                    <a:lstStyle/>
                    <a:p>
                      <a:pPr>
                        <a:buNone/>
                      </a:pPr>
                      <a:r>
                        <a:rPr lang="en-IN" sz="1400">
                          <a:latin typeface="Times New Roman" panose="02020603050405020304" pitchFamily="18" charset="0"/>
                          <a:cs typeface="Times New Roman" panose="02020603050405020304" pitchFamily="18" charset="0"/>
                        </a:rPr>
                        <a:t>11.11</a:t>
                      </a:r>
                    </a:p>
                  </a:txBody>
                  <a:tcPr anchor="ctr"/>
                </a:tc>
                <a:extLst>
                  <a:ext uri="{0D108BD9-81ED-4DB2-BD59-A6C34878D82A}">
                    <a16:rowId xmlns:a16="http://schemas.microsoft.com/office/drawing/2014/main" val="1257360137"/>
                  </a:ext>
                </a:extLst>
              </a:tr>
              <a:tr h="324353">
                <a:tc>
                  <a:txBody>
                    <a:bodyPr/>
                    <a:lstStyle/>
                    <a:p>
                      <a:pPr>
                        <a:buNone/>
                      </a:pPr>
                      <a:r>
                        <a:rPr lang="en-IN" sz="1400">
                          <a:latin typeface="Times New Roman" panose="02020603050405020304" pitchFamily="18" charset="0"/>
                          <a:cs typeface="Times New Roman" panose="02020603050405020304" pitchFamily="18" charset="0"/>
                        </a:rPr>
                        <a:t>Narco Sub 1</a:t>
                      </a:r>
                    </a:p>
                  </a:txBody>
                  <a:tcPr anchor="ctr"/>
                </a:tc>
                <a:tc>
                  <a:txBody>
                    <a:bodyPr/>
                    <a:lstStyle/>
                    <a:p>
                      <a:pPr>
                        <a:buNone/>
                      </a:pPr>
                      <a:r>
                        <a:rPr lang="en-IN" sz="1400">
                          <a:latin typeface="Times New Roman" panose="02020603050405020304" pitchFamily="18" charset="0"/>
                          <a:cs typeface="Times New Roman" panose="02020603050405020304" pitchFamily="18" charset="0"/>
                        </a:rPr>
                        <a:t>NAR</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NAR</a:t>
                      </a:r>
                    </a:p>
                  </a:txBody>
                  <a:tcPr anchor="ctr"/>
                </a:tc>
                <a:tc>
                  <a:txBody>
                    <a:bodyPr/>
                    <a:lstStyle/>
                    <a:p>
                      <a:pPr>
                        <a:buNone/>
                      </a:pPr>
                      <a:r>
                        <a:rPr lang="en-IN" sz="1400">
                          <a:latin typeface="Times New Roman" panose="02020603050405020304" pitchFamily="18" charset="0"/>
                          <a:cs typeface="Times New Roman" panose="02020603050405020304" pitchFamily="18" charset="0"/>
                        </a:rPr>
                        <a:t>0.10</a:t>
                      </a:r>
                    </a:p>
                  </a:txBody>
                  <a:tcPr anchor="ctr"/>
                </a:tc>
                <a:tc>
                  <a:txBody>
                    <a:bodyPr/>
                    <a:lstStyle/>
                    <a:p>
                      <a:pPr>
                        <a:buNone/>
                      </a:pPr>
                      <a:r>
                        <a:rPr lang="en-IN" sz="1400">
                          <a:latin typeface="Times New Roman" panose="02020603050405020304" pitchFamily="18" charset="0"/>
                          <a:cs typeface="Times New Roman" panose="02020603050405020304" pitchFamily="18" charset="0"/>
                        </a:rPr>
                        <a:t>95.64</a:t>
                      </a:r>
                    </a:p>
                  </a:txBody>
                  <a:tcPr anchor="ctr"/>
                </a:tc>
                <a:tc>
                  <a:txBody>
                    <a:bodyPr/>
                    <a:lstStyle/>
                    <a:p>
                      <a:pPr>
                        <a:buNone/>
                      </a:pPr>
                      <a:r>
                        <a:rPr lang="en-IN" sz="1400">
                          <a:latin typeface="Times New Roman" panose="02020603050405020304" pitchFamily="18" charset="0"/>
                          <a:cs typeface="Times New Roman" panose="02020603050405020304" pitchFamily="18" charset="0"/>
                        </a:rPr>
                        <a:t>3.65</a:t>
                      </a:r>
                    </a:p>
                  </a:txBody>
                  <a:tcPr anchor="ctr"/>
                </a:tc>
                <a:tc>
                  <a:txBody>
                    <a:bodyPr/>
                    <a:lstStyle/>
                    <a:p>
                      <a:pPr>
                        <a:buNone/>
                      </a:pPr>
                      <a:r>
                        <a:rPr lang="en-IN" sz="1400">
                          <a:latin typeface="Times New Roman" panose="02020603050405020304" pitchFamily="18" charset="0"/>
                          <a:cs typeface="Times New Roman" panose="02020603050405020304" pitchFamily="18" charset="0"/>
                        </a:rPr>
                        <a:t>0.60</a:t>
                      </a:r>
                    </a:p>
                  </a:txBody>
                  <a:tcPr anchor="ctr"/>
                </a:tc>
                <a:extLst>
                  <a:ext uri="{0D108BD9-81ED-4DB2-BD59-A6C34878D82A}">
                    <a16:rowId xmlns:a16="http://schemas.microsoft.com/office/drawing/2014/main" val="914589710"/>
                  </a:ext>
                </a:extLst>
              </a:tr>
              <a:tr h="324353">
                <a:tc>
                  <a:txBody>
                    <a:bodyPr/>
                    <a:lstStyle/>
                    <a:p>
                      <a:pPr>
                        <a:buNone/>
                      </a:pPr>
                      <a:r>
                        <a:rPr lang="en-IN" sz="1400">
                          <a:latin typeface="Times New Roman" panose="02020603050405020304" pitchFamily="18" charset="0"/>
                          <a:cs typeface="Times New Roman" panose="02020603050405020304" pitchFamily="18" charset="0"/>
                        </a:rPr>
                        <a:t>Narco Sub 4</a:t>
                      </a:r>
                    </a:p>
                  </a:txBody>
                  <a:tcPr anchor="ctr"/>
                </a:tc>
                <a:tc>
                  <a:txBody>
                    <a:bodyPr/>
                    <a:lstStyle/>
                    <a:p>
                      <a:pPr>
                        <a:buNone/>
                      </a:pPr>
                      <a:r>
                        <a:rPr lang="en-IN" sz="1400">
                          <a:latin typeface="Times New Roman" panose="02020603050405020304" pitchFamily="18" charset="0"/>
                          <a:cs typeface="Times New Roman" panose="02020603050405020304" pitchFamily="18" charset="0"/>
                        </a:rPr>
                        <a:t>NAR</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NAR</a:t>
                      </a:r>
                    </a:p>
                  </a:txBody>
                  <a:tcPr anchor="ctr"/>
                </a:tc>
                <a:tc>
                  <a:txBody>
                    <a:bodyPr/>
                    <a:lstStyle/>
                    <a:p>
                      <a:pPr>
                        <a:buNone/>
                      </a:pPr>
                      <a:r>
                        <a:rPr lang="en-IN" sz="1400">
                          <a:latin typeface="Times New Roman" panose="02020603050405020304" pitchFamily="18" charset="0"/>
                          <a:cs typeface="Times New Roman" panose="02020603050405020304" pitchFamily="18" charset="0"/>
                        </a:rPr>
                        <a:t>1.38</a:t>
                      </a:r>
                    </a:p>
                  </a:txBody>
                  <a:tcPr anchor="ctr"/>
                </a:tc>
                <a:tc>
                  <a:txBody>
                    <a:bodyPr/>
                    <a:lstStyle/>
                    <a:p>
                      <a:pPr>
                        <a:buNone/>
                      </a:pPr>
                      <a:r>
                        <a:rPr lang="en-IN" sz="1400">
                          <a:latin typeface="Times New Roman" panose="02020603050405020304" pitchFamily="18" charset="0"/>
                          <a:cs typeface="Times New Roman" panose="02020603050405020304" pitchFamily="18" charset="0"/>
                        </a:rPr>
                        <a:t>87.93</a:t>
                      </a:r>
                    </a:p>
                  </a:txBody>
                  <a:tcPr anchor="ctr"/>
                </a:tc>
                <a:tc>
                  <a:txBody>
                    <a:bodyPr/>
                    <a:lstStyle/>
                    <a:p>
                      <a:pPr>
                        <a:buNone/>
                      </a:pPr>
                      <a:r>
                        <a:rPr lang="en-IN" sz="1400">
                          <a:latin typeface="Times New Roman" panose="02020603050405020304" pitchFamily="18" charset="0"/>
                          <a:cs typeface="Times New Roman" panose="02020603050405020304" pitchFamily="18" charset="0"/>
                        </a:rPr>
                        <a:t>8.52</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latin typeface="Times New Roman" panose="02020603050405020304" pitchFamily="18" charset="0"/>
                          <a:cs typeface="Times New Roman" panose="02020603050405020304" pitchFamily="18" charset="0"/>
                        </a:rPr>
                        <a:t>2.17</a:t>
                      </a:r>
                    </a:p>
                  </a:txBody>
                  <a:tcPr anchor="ctr"/>
                </a:tc>
                <a:extLst>
                  <a:ext uri="{0D108BD9-81ED-4DB2-BD59-A6C34878D82A}">
                    <a16:rowId xmlns:a16="http://schemas.microsoft.com/office/drawing/2014/main" val="1045349189"/>
                  </a:ext>
                </a:extLst>
              </a:tr>
              <a:tr h="341808">
                <a:tc>
                  <a:txBody>
                    <a:bodyPr/>
                    <a:lstStyle/>
                    <a:p>
                      <a:pPr>
                        <a:buNone/>
                      </a:pPr>
                      <a:r>
                        <a:rPr lang="en-IN" sz="1400">
                          <a:latin typeface="Times New Roman" panose="02020603050405020304" pitchFamily="18" charset="0"/>
                          <a:cs typeface="Times New Roman" panose="02020603050405020304" pitchFamily="18" charset="0"/>
                        </a:rPr>
                        <a:t>Normal Sub 1</a:t>
                      </a:r>
                    </a:p>
                  </a:txBody>
                  <a:tcPr anchor="ctr"/>
                </a:tc>
                <a:tc>
                  <a:txBody>
                    <a:bodyPr/>
                    <a:lstStyle/>
                    <a:p>
                      <a:pPr>
                        <a:buNone/>
                      </a:pPr>
                      <a:r>
                        <a:rPr lang="en-IN" sz="1400">
                          <a:latin typeface="Times New Roman" panose="02020603050405020304" pitchFamily="18" charset="0"/>
                          <a:cs typeface="Times New Roman" panose="02020603050405020304" pitchFamily="18" charset="0"/>
                        </a:rPr>
                        <a:t>NOR</a:t>
                      </a:r>
                    </a:p>
                  </a:txBody>
                  <a:tcPr anchor="ctr"/>
                </a:tc>
                <a:tc>
                  <a:txBody>
                    <a:bodyPr/>
                    <a:lstStyle/>
                    <a:p>
                      <a:pPr>
                        <a:buNone/>
                      </a:pPr>
                      <a:r>
                        <a:rPr lang="en-IN" sz="1400">
                          <a:latin typeface="Times New Roman" panose="02020603050405020304" pitchFamily="18" charset="0"/>
                          <a:cs typeface="Times New Roman" panose="02020603050405020304" pitchFamily="18" charset="0"/>
                        </a:rPr>
                        <a:t>INS</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51.27</a:t>
                      </a:r>
                    </a:p>
                  </a:txBody>
                  <a:tcPr anchor="ctr"/>
                </a:tc>
                <a:tc>
                  <a:txBody>
                    <a:bodyPr/>
                    <a:lstStyle/>
                    <a:p>
                      <a:pPr>
                        <a:buNone/>
                      </a:pPr>
                      <a:r>
                        <a:rPr lang="en-IN" sz="1400">
                          <a:latin typeface="Times New Roman" panose="02020603050405020304" pitchFamily="18" charset="0"/>
                          <a:cs typeface="Times New Roman" panose="02020603050405020304" pitchFamily="18" charset="0"/>
                        </a:rPr>
                        <a:t>0.57</a:t>
                      </a:r>
                    </a:p>
                  </a:txBody>
                  <a:tcPr anchor="ctr"/>
                </a:tc>
                <a:tc>
                  <a:txBody>
                    <a:bodyPr/>
                    <a:lstStyle/>
                    <a:p>
                      <a:pPr>
                        <a:buNone/>
                      </a:pPr>
                      <a:r>
                        <a:rPr lang="en-IN" sz="1400">
                          <a:latin typeface="Times New Roman" panose="02020603050405020304" pitchFamily="18" charset="0"/>
                          <a:cs typeface="Times New Roman" panose="02020603050405020304" pitchFamily="18" charset="0"/>
                        </a:rPr>
                        <a:t>16.30</a:t>
                      </a:r>
                    </a:p>
                  </a:txBody>
                  <a:tcPr anchor="ctr"/>
                </a:tc>
                <a:tc>
                  <a:txBody>
                    <a:bodyPr/>
                    <a:lstStyle/>
                    <a:p>
                      <a:pPr>
                        <a:buNone/>
                      </a:pPr>
                      <a:r>
                        <a:rPr lang="en-IN" sz="1400">
                          <a:latin typeface="Times New Roman" panose="02020603050405020304" pitchFamily="18" charset="0"/>
                          <a:cs typeface="Times New Roman" panose="02020603050405020304" pitchFamily="18" charset="0"/>
                        </a:rPr>
                        <a:t>31.86</a:t>
                      </a:r>
                    </a:p>
                  </a:txBody>
                  <a:tcPr anchor="ctr"/>
                </a:tc>
                <a:extLst>
                  <a:ext uri="{0D108BD9-81ED-4DB2-BD59-A6C34878D82A}">
                    <a16:rowId xmlns:a16="http://schemas.microsoft.com/office/drawing/2014/main" val="3441196908"/>
                  </a:ext>
                </a:extLst>
              </a:tr>
              <a:tr h="396514">
                <a:tc>
                  <a:txBody>
                    <a:bodyPr/>
                    <a:lstStyle/>
                    <a:p>
                      <a:pPr>
                        <a:buNone/>
                      </a:pPr>
                      <a:r>
                        <a:rPr lang="en-IN" sz="1400">
                          <a:latin typeface="Times New Roman" panose="02020603050405020304" pitchFamily="18" charset="0"/>
                          <a:cs typeface="Times New Roman" panose="02020603050405020304" pitchFamily="18" charset="0"/>
                        </a:rPr>
                        <a:t>Normal Sub 3</a:t>
                      </a:r>
                    </a:p>
                  </a:txBody>
                  <a:tcPr anchor="ctr"/>
                </a:tc>
                <a:tc>
                  <a:txBody>
                    <a:bodyPr/>
                    <a:lstStyle/>
                    <a:p>
                      <a:pPr>
                        <a:buNone/>
                      </a:pPr>
                      <a:r>
                        <a:rPr lang="en-IN" sz="1400">
                          <a:latin typeface="Times New Roman" panose="02020603050405020304" pitchFamily="18" charset="0"/>
                          <a:cs typeface="Times New Roman" panose="02020603050405020304" pitchFamily="18" charset="0"/>
                        </a:rPr>
                        <a:t>NOR</a:t>
                      </a:r>
                    </a:p>
                  </a:txBody>
                  <a:tcPr anchor="ctr"/>
                </a:tc>
                <a:tc>
                  <a:txBody>
                    <a:bodyPr/>
                    <a:lstStyle/>
                    <a:p>
                      <a:pPr>
                        <a:buNone/>
                      </a:pPr>
                      <a:r>
                        <a:rPr lang="en-IN" sz="1400">
                          <a:latin typeface="Times New Roman" panose="02020603050405020304" pitchFamily="18" charset="0"/>
                          <a:cs typeface="Times New Roman" panose="02020603050405020304" pitchFamily="18" charset="0"/>
                        </a:rPr>
                        <a:t>NOR</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0.42</a:t>
                      </a:r>
                    </a:p>
                  </a:txBody>
                  <a:tcPr anchor="ctr"/>
                </a:tc>
                <a:tc>
                  <a:txBody>
                    <a:bodyPr/>
                    <a:lstStyle/>
                    <a:p>
                      <a:pPr>
                        <a:buNone/>
                      </a:pPr>
                      <a:r>
                        <a:rPr lang="en-IN" sz="1400">
                          <a:latin typeface="Times New Roman" panose="02020603050405020304" pitchFamily="18" charset="0"/>
                          <a:cs typeface="Times New Roman" panose="02020603050405020304" pitchFamily="18" charset="0"/>
                        </a:rPr>
                        <a:t>0.28</a:t>
                      </a:r>
                    </a:p>
                  </a:txBody>
                  <a:tcPr anchor="ctr"/>
                </a:tc>
                <a:tc>
                  <a:txBody>
                    <a:bodyPr/>
                    <a:lstStyle/>
                    <a:p>
                      <a:pPr>
                        <a:buNone/>
                      </a:pPr>
                      <a:r>
                        <a:rPr lang="en-IN" sz="1400">
                          <a:latin typeface="Times New Roman" panose="02020603050405020304" pitchFamily="18" charset="0"/>
                          <a:cs typeface="Times New Roman" panose="02020603050405020304" pitchFamily="18" charset="0"/>
                        </a:rPr>
                        <a:t>98.33</a:t>
                      </a:r>
                    </a:p>
                  </a:txBody>
                  <a:tcPr anchor="ctr"/>
                </a:tc>
                <a:tc>
                  <a:txBody>
                    <a:bodyPr/>
                    <a:lstStyle/>
                    <a:p>
                      <a:pPr>
                        <a:buNone/>
                      </a:pPr>
                      <a:r>
                        <a:rPr lang="en-IN" sz="1400">
                          <a:latin typeface="Times New Roman" panose="02020603050405020304" pitchFamily="18" charset="0"/>
                          <a:cs typeface="Times New Roman" panose="02020603050405020304" pitchFamily="18" charset="0"/>
                        </a:rPr>
                        <a:t>0.96</a:t>
                      </a:r>
                    </a:p>
                  </a:txBody>
                  <a:tcPr anchor="ctr"/>
                </a:tc>
                <a:extLst>
                  <a:ext uri="{0D108BD9-81ED-4DB2-BD59-A6C34878D82A}">
                    <a16:rowId xmlns:a16="http://schemas.microsoft.com/office/drawing/2014/main" val="2835281285"/>
                  </a:ext>
                </a:extLst>
              </a:tr>
              <a:tr h="363793">
                <a:tc>
                  <a:txBody>
                    <a:bodyPr/>
                    <a:lstStyle/>
                    <a:p>
                      <a:pPr>
                        <a:buNone/>
                      </a:pPr>
                      <a:r>
                        <a:rPr lang="en-IN" sz="1400">
                          <a:latin typeface="Times New Roman" panose="02020603050405020304" pitchFamily="18" charset="0"/>
                          <a:cs typeface="Times New Roman" panose="02020603050405020304" pitchFamily="18" charset="0"/>
                        </a:rPr>
                        <a:t>Normal Sub 5</a:t>
                      </a:r>
                    </a:p>
                  </a:txBody>
                  <a:tcPr anchor="ctr"/>
                </a:tc>
                <a:tc>
                  <a:txBody>
                    <a:bodyPr/>
                    <a:lstStyle/>
                    <a:p>
                      <a:pPr>
                        <a:buNone/>
                      </a:pPr>
                      <a:r>
                        <a:rPr lang="en-IN" sz="1400">
                          <a:latin typeface="Times New Roman" panose="02020603050405020304" pitchFamily="18" charset="0"/>
                          <a:cs typeface="Times New Roman" panose="02020603050405020304" pitchFamily="18" charset="0"/>
                        </a:rPr>
                        <a:t>NOR</a:t>
                      </a:r>
                    </a:p>
                  </a:txBody>
                  <a:tcPr anchor="ctr"/>
                </a:tc>
                <a:tc>
                  <a:txBody>
                    <a:bodyPr/>
                    <a:lstStyle/>
                    <a:p>
                      <a:pPr>
                        <a:buNone/>
                      </a:pPr>
                      <a:r>
                        <a:rPr lang="en-IN" sz="1400">
                          <a:latin typeface="Times New Roman" panose="02020603050405020304" pitchFamily="18" charset="0"/>
                          <a:cs typeface="Times New Roman" panose="02020603050405020304" pitchFamily="18" charset="0"/>
                        </a:rPr>
                        <a:t>NOR</a:t>
                      </a:r>
                    </a:p>
                  </a:txBody>
                  <a:tcPr anchor="ctr"/>
                </a:tc>
                <a:tc>
                  <a:txBody>
                    <a:bodyPr/>
                    <a:lstStyle/>
                    <a:p>
                      <a:pPr>
                        <a:buNone/>
                      </a:pPr>
                      <a:r>
                        <a:rPr lang="en-IN" sz="1400">
                          <a:latin typeface="Times New Roman" panose="02020603050405020304" pitchFamily="18" charset="0"/>
                          <a:cs typeface="Times New Roman" panose="02020603050405020304" pitchFamily="18" charset="0"/>
                        </a:rPr>
                        <a:t>2.47</a:t>
                      </a:r>
                    </a:p>
                  </a:txBody>
                  <a:tcPr anchor="ctr"/>
                </a:tc>
                <a:tc>
                  <a:txBody>
                    <a:bodyPr/>
                    <a:lstStyle/>
                    <a:p>
                      <a:pPr>
                        <a:buNone/>
                      </a:pPr>
                      <a:r>
                        <a:rPr lang="en-IN" sz="1400">
                          <a:latin typeface="Times New Roman" panose="02020603050405020304" pitchFamily="18" charset="0"/>
                          <a:cs typeface="Times New Roman" panose="02020603050405020304" pitchFamily="18" charset="0"/>
                        </a:rPr>
                        <a:t>2.38</a:t>
                      </a:r>
                    </a:p>
                  </a:txBody>
                  <a:tcPr anchor="ctr"/>
                </a:tc>
                <a:tc>
                  <a:txBody>
                    <a:bodyPr/>
                    <a:lstStyle/>
                    <a:p>
                      <a:pPr>
                        <a:buNone/>
                      </a:pPr>
                      <a:r>
                        <a:rPr lang="en-IN" sz="1400">
                          <a:latin typeface="Times New Roman" panose="02020603050405020304" pitchFamily="18" charset="0"/>
                          <a:cs typeface="Times New Roman" panose="02020603050405020304" pitchFamily="18" charset="0"/>
                        </a:rPr>
                        <a:t>94.75</a:t>
                      </a:r>
                    </a:p>
                  </a:txBody>
                  <a:tcPr anchor="ctr"/>
                </a:tc>
                <a:tc>
                  <a:txBody>
                    <a:bodyPr/>
                    <a:lstStyle/>
                    <a:p>
                      <a:pPr>
                        <a:buNone/>
                      </a:pPr>
                      <a:r>
                        <a:rPr lang="en-IN" sz="1400">
                          <a:latin typeface="Times New Roman" panose="02020603050405020304" pitchFamily="18" charset="0"/>
                          <a:cs typeface="Times New Roman" panose="02020603050405020304" pitchFamily="18" charset="0"/>
                        </a:rPr>
                        <a:t>0.40</a:t>
                      </a:r>
                    </a:p>
                  </a:txBody>
                  <a:tcPr anchor="ctr"/>
                </a:tc>
                <a:extLst>
                  <a:ext uri="{0D108BD9-81ED-4DB2-BD59-A6C34878D82A}">
                    <a16:rowId xmlns:a16="http://schemas.microsoft.com/office/drawing/2014/main" val="1153928530"/>
                  </a:ext>
                </a:extLst>
              </a:tr>
              <a:tr h="324353">
                <a:tc>
                  <a:txBody>
                    <a:bodyPr/>
                    <a:lstStyle/>
                    <a:p>
                      <a:pPr>
                        <a:buNone/>
                      </a:pPr>
                      <a:r>
                        <a:rPr lang="en-IN" sz="1400">
                          <a:latin typeface="Times New Roman" panose="02020603050405020304" pitchFamily="18" charset="0"/>
                          <a:cs typeface="Times New Roman" panose="02020603050405020304" pitchFamily="18" charset="0"/>
                        </a:rPr>
                        <a:t>SDB Sub 1</a:t>
                      </a:r>
                    </a:p>
                  </a:txBody>
                  <a:tcPr anchor="ctr"/>
                </a:tc>
                <a:tc>
                  <a:txBody>
                    <a:bodyPr/>
                    <a:lstStyle/>
                    <a:p>
                      <a:pPr>
                        <a:buNone/>
                      </a:pPr>
                      <a:r>
                        <a:rPr lang="en-IN" sz="1400">
                          <a:latin typeface="Times New Roman" panose="02020603050405020304" pitchFamily="18" charset="0"/>
                          <a:cs typeface="Times New Roman" panose="02020603050405020304" pitchFamily="18" charset="0"/>
                        </a:rPr>
                        <a:t>SDB</a:t>
                      </a:r>
                    </a:p>
                  </a:txBody>
                  <a:tcPr anchor="ctr"/>
                </a:tc>
                <a:tc>
                  <a:txBody>
                    <a:bodyPr/>
                    <a:lstStyle/>
                    <a:p>
                      <a:pPr>
                        <a:buNone/>
                      </a:pPr>
                      <a:r>
                        <a:rPr lang="en-IN" sz="1400">
                          <a:latin typeface="Times New Roman" panose="02020603050405020304" pitchFamily="18" charset="0"/>
                          <a:cs typeface="Times New Roman" panose="02020603050405020304" pitchFamily="18" charset="0"/>
                        </a:rPr>
                        <a:t>SDB</a:t>
                      </a:r>
                    </a:p>
                  </a:txBody>
                  <a:tcPr anchor="ctr"/>
                </a:tc>
                <a:tc>
                  <a:txBody>
                    <a:bodyPr/>
                    <a:lstStyle/>
                    <a:p>
                      <a:pPr>
                        <a:buNone/>
                      </a:pPr>
                      <a:r>
                        <a:rPr lang="en-IN" sz="1400">
                          <a:latin typeface="Times New Roman" panose="02020603050405020304" pitchFamily="18" charset="0"/>
                          <a:cs typeface="Times New Roman" panose="02020603050405020304" pitchFamily="18" charset="0"/>
                        </a:rPr>
                        <a:t>6.14</a:t>
                      </a:r>
                    </a:p>
                  </a:txBody>
                  <a:tcPr anchor="ctr"/>
                </a:tc>
                <a:tc>
                  <a:txBody>
                    <a:bodyPr/>
                    <a:lstStyle/>
                    <a:p>
                      <a:pPr>
                        <a:buNone/>
                      </a:pPr>
                      <a:r>
                        <a:rPr lang="en-IN" sz="1400">
                          <a:latin typeface="Times New Roman" panose="02020603050405020304" pitchFamily="18" charset="0"/>
                          <a:cs typeface="Times New Roman" panose="02020603050405020304" pitchFamily="18" charset="0"/>
                        </a:rPr>
                        <a:t>0.23</a:t>
                      </a:r>
                    </a:p>
                  </a:txBody>
                  <a:tcPr anchor="ctr"/>
                </a:tc>
                <a:tc>
                  <a:txBody>
                    <a:bodyPr/>
                    <a:lstStyle/>
                    <a:p>
                      <a:pPr>
                        <a:buNone/>
                      </a:pPr>
                      <a:r>
                        <a:rPr lang="en-IN" sz="1400">
                          <a:latin typeface="Times New Roman" panose="02020603050405020304" pitchFamily="18" charset="0"/>
                          <a:cs typeface="Times New Roman" panose="02020603050405020304" pitchFamily="18" charset="0"/>
                        </a:rPr>
                        <a:t>1.12</a:t>
                      </a:r>
                    </a:p>
                  </a:txBody>
                  <a:tcPr anchor="ctr"/>
                </a:tc>
                <a:tc>
                  <a:txBody>
                    <a:bodyPr/>
                    <a:lstStyle/>
                    <a:p>
                      <a:pPr>
                        <a:buNone/>
                      </a:pPr>
                      <a:r>
                        <a:rPr lang="en-IN" sz="1400">
                          <a:latin typeface="Times New Roman" panose="02020603050405020304" pitchFamily="18" charset="0"/>
                          <a:cs typeface="Times New Roman" panose="02020603050405020304" pitchFamily="18" charset="0"/>
                        </a:rPr>
                        <a:t>92.50</a:t>
                      </a:r>
                    </a:p>
                  </a:txBody>
                  <a:tcPr anchor="ctr"/>
                </a:tc>
                <a:extLst>
                  <a:ext uri="{0D108BD9-81ED-4DB2-BD59-A6C34878D82A}">
                    <a16:rowId xmlns:a16="http://schemas.microsoft.com/office/drawing/2014/main" val="1460923852"/>
                  </a:ext>
                </a:extLst>
              </a:tr>
              <a:tr h="324353">
                <a:tc>
                  <a:txBody>
                    <a:bodyPr/>
                    <a:lstStyle/>
                    <a:p>
                      <a:pPr>
                        <a:buNone/>
                      </a:pPr>
                      <a:r>
                        <a:rPr lang="en-IN" sz="1400">
                          <a:latin typeface="Times New Roman" panose="02020603050405020304" pitchFamily="18" charset="0"/>
                          <a:cs typeface="Times New Roman" panose="02020603050405020304" pitchFamily="18" charset="0"/>
                        </a:rPr>
                        <a:t>SDB Sub 2</a:t>
                      </a:r>
                    </a:p>
                  </a:txBody>
                  <a:tcPr anchor="ctr"/>
                </a:tc>
                <a:tc>
                  <a:txBody>
                    <a:bodyPr/>
                    <a:lstStyle/>
                    <a:p>
                      <a:pPr>
                        <a:buNone/>
                      </a:pPr>
                      <a:r>
                        <a:rPr lang="en-IN" sz="1400">
                          <a:latin typeface="Times New Roman" panose="02020603050405020304" pitchFamily="18" charset="0"/>
                          <a:cs typeface="Times New Roman" panose="02020603050405020304" pitchFamily="18" charset="0"/>
                        </a:rPr>
                        <a:t>SDB</a:t>
                      </a:r>
                    </a:p>
                  </a:txBody>
                  <a:tcPr anchor="ctr"/>
                </a:tc>
                <a:tc>
                  <a:txBody>
                    <a:bodyPr/>
                    <a:lstStyle/>
                    <a:p>
                      <a:pPr>
                        <a:buNone/>
                      </a:pPr>
                      <a:r>
                        <a:rPr lang="en-IN" sz="1400">
                          <a:latin typeface="Times New Roman" panose="02020603050405020304" pitchFamily="18" charset="0"/>
                          <a:cs typeface="Times New Roman" panose="02020603050405020304" pitchFamily="18" charset="0"/>
                        </a:rPr>
                        <a:t>SDB</a:t>
                      </a:r>
                    </a:p>
                  </a:txBody>
                  <a:tcPr anchor="ctr"/>
                </a:tc>
                <a:tc>
                  <a:txBody>
                    <a:bodyPr/>
                    <a:lstStyle/>
                    <a:p>
                      <a:pPr>
                        <a:buNone/>
                      </a:pPr>
                      <a:r>
                        <a:rPr lang="en-IN" sz="1400">
                          <a:latin typeface="Times New Roman" panose="02020603050405020304" pitchFamily="18" charset="0"/>
                          <a:cs typeface="Times New Roman" panose="02020603050405020304" pitchFamily="18" charset="0"/>
                        </a:rPr>
                        <a:t>3.82</a:t>
                      </a:r>
                    </a:p>
                  </a:txBody>
                  <a:tcPr anchor="ctr"/>
                </a:tc>
                <a:tc>
                  <a:txBody>
                    <a:bodyPr/>
                    <a:lstStyle/>
                    <a:p>
                      <a:pPr>
                        <a:buNone/>
                      </a:pPr>
                      <a:r>
                        <a:rPr lang="en-IN" sz="1400">
                          <a:latin typeface="Times New Roman" panose="02020603050405020304" pitchFamily="18" charset="0"/>
                          <a:cs typeface="Times New Roman" panose="02020603050405020304" pitchFamily="18" charset="0"/>
                        </a:rPr>
                        <a:t>0.01</a:t>
                      </a:r>
                    </a:p>
                  </a:txBody>
                  <a:tcPr anchor="ctr"/>
                </a:tc>
                <a:tc>
                  <a:txBody>
                    <a:bodyPr/>
                    <a:lstStyle/>
                    <a:p>
                      <a:pPr>
                        <a:buNone/>
                      </a:pPr>
                      <a:r>
                        <a:rPr lang="en-IN" sz="1400">
                          <a:latin typeface="Times New Roman" panose="02020603050405020304" pitchFamily="18" charset="0"/>
                          <a:cs typeface="Times New Roman" panose="02020603050405020304" pitchFamily="18" charset="0"/>
                        </a:rPr>
                        <a:t>0.04</a:t>
                      </a:r>
                    </a:p>
                  </a:txBody>
                  <a:tcPr anchor="ctr"/>
                </a:tc>
                <a:tc>
                  <a:txBody>
                    <a:bodyPr/>
                    <a:lstStyle/>
                    <a:p>
                      <a:pPr>
                        <a:buNone/>
                      </a:pPr>
                      <a:r>
                        <a:rPr lang="en-IN" sz="1400">
                          <a:latin typeface="Times New Roman" panose="02020603050405020304" pitchFamily="18" charset="0"/>
                          <a:cs typeface="Times New Roman" panose="02020603050405020304" pitchFamily="18" charset="0"/>
                        </a:rPr>
                        <a:t>96.13</a:t>
                      </a:r>
                    </a:p>
                  </a:txBody>
                  <a:tcPr anchor="ctr"/>
                </a:tc>
                <a:extLst>
                  <a:ext uri="{0D108BD9-81ED-4DB2-BD59-A6C34878D82A}">
                    <a16:rowId xmlns:a16="http://schemas.microsoft.com/office/drawing/2014/main" val="1203344228"/>
                  </a:ext>
                </a:extLst>
              </a:tr>
              <a:tr h="324353">
                <a:tc>
                  <a:txBody>
                    <a:bodyPr/>
                    <a:lstStyle/>
                    <a:p>
                      <a:pPr>
                        <a:buNone/>
                      </a:pPr>
                      <a:r>
                        <a:rPr lang="en-IN" sz="1400">
                          <a:latin typeface="Times New Roman" panose="02020603050405020304" pitchFamily="18" charset="0"/>
                          <a:cs typeface="Times New Roman" panose="02020603050405020304" pitchFamily="18" charset="0"/>
                        </a:rPr>
                        <a:t>SDB Sub 4</a:t>
                      </a:r>
                    </a:p>
                  </a:txBody>
                  <a:tcPr anchor="ctr"/>
                </a:tc>
                <a:tc>
                  <a:txBody>
                    <a:bodyPr/>
                    <a:lstStyle/>
                    <a:p>
                      <a:pPr>
                        <a:buNone/>
                      </a:pPr>
                      <a:r>
                        <a:rPr lang="en-IN" sz="1400">
                          <a:latin typeface="Times New Roman" panose="02020603050405020304" pitchFamily="18" charset="0"/>
                          <a:cs typeface="Times New Roman" panose="02020603050405020304" pitchFamily="18" charset="0"/>
                        </a:rPr>
                        <a:t>SDB</a:t>
                      </a:r>
                    </a:p>
                  </a:txBody>
                  <a:tcPr anchor="ctr"/>
                </a:tc>
                <a:tc>
                  <a:txBody>
                    <a:bodyPr/>
                    <a:lstStyle/>
                    <a:p>
                      <a:pPr>
                        <a:buNone/>
                      </a:pPr>
                      <a:r>
                        <a:rPr lang="en-IN" sz="1400">
                          <a:latin typeface="Times New Roman" panose="02020603050405020304" pitchFamily="18" charset="0"/>
                          <a:cs typeface="Times New Roman" panose="02020603050405020304" pitchFamily="18" charset="0"/>
                        </a:rPr>
                        <a:t>SDB</a:t>
                      </a:r>
                    </a:p>
                  </a:txBody>
                  <a:tcPr anchor="ctr"/>
                </a:tc>
                <a:tc>
                  <a:txBody>
                    <a:bodyPr/>
                    <a:lstStyle/>
                    <a:p>
                      <a:pPr>
                        <a:buNone/>
                      </a:pPr>
                      <a:r>
                        <a:rPr lang="en-IN" sz="1400">
                          <a:latin typeface="Times New Roman" panose="02020603050405020304" pitchFamily="18" charset="0"/>
                          <a:cs typeface="Times New Roman" panose="02020603050405020304" pitchFamily="18" charset="0"/>
                        </a:rPr>
                        <a:t>2.56</a:t>
                      </a:r>
                    </a:p>
                  </a:txBody>
                  <a:tcPr anchor="ctr"/>
                </a:tc>
                <a:tc>
                  <a:txBody>
                    <a:bodyPr/>
                    <a:lstStyle/>
                    <a:p>
                      <a:pPr>
                        <a:buNone/>
                      </a:pPr>
                      <a:r>
                        <a:rPr lang="en-IN" sz="1400">
                          <a:latin typeface="Times New Roman" panose="02020603050405020304" pitchFamily="18" charset="0"/>
                          <a:cs typeface="Times New Roman" panose="02020603050405020304" pitchFamily="18" charset="0"/>
                        </a:rPr>
                        <a:t>0.00</a:t>
                      </a:r>
                    </a:p>
                  </a:txBody>
                  <a:tcPr anchor="ctr"/>
                </a:tc>
                <a:tc>
                  <a:txBody>
                    <a:bodyPr/>
                    <a:lstStyle/>
                    <a:p>
                      <a:pPr>
                        <a:buNone/>
                      </a:pPr>
                      <a:r>
                        <a:rPr lang="en-IN" sz="1400">
                          <a:latin typeface="Times New Roman" panose="02020603050405020304" pitchFamily="18" charset="0"/>
                          <a:cs typeface="Times New Roman" panose="02020603050405020304" pitchFamily="18" charset="0"/>
                        </a:rPr>
                        <a:t>0.21</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97.24</a:t>
                      </a:r>
                    </a:p>
                  </a:txBody>
                  <a:tcPr anchor="ctr"/>
                </a:tc>
                <a:extLst>
                  <a:ext uri="{0D108BD9-81ED-4DB2-BD59-A6C34878D82A}">
                    <a16:rowId xmlns:a16="http://schemas.microsoft.com/office/drawing/2014/main" val="2382631195"/>
                  </a:ext>
                </a:extLst>
              </a:tr>
            </a:tbl>
          </a:graphicData>
        </a:graphic>
      </p:graphicFrame>
    </p:spTree>
    <p:extLst>
      <p:ext uri="{BB962C8B-B14F-4D97-AF65-F5344CB8AC3E}">
        <p14:creationId xmlns:p14="http://schemas.microsoft.com/office/powerpoint/2010/main" val="29382817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79FE8-A9D5-A458-7A3C-062985FB0C82}"/>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DCDE1A14-D791-33F9-404D-57DE95D5B6BC}"/>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CA5D42A-379B-623F-3D0D-11AE8171561D}"/>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2" descr="Anurag University Admission 2024 - 2025, Fees, Courses, Placements, Cutoff,  Ranking">
            <a:extLst>
              <a:ext uri="{FF2B5EF4-FFF2-40B4-BE49-F238E27FC236}">
                <a16:creationId xmlns:a16="http://schemas.microsoft.com/office/drawing/2014/main" id="{97161611-9C0E-9E21-083A-97C28342125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2BA50A74-826C-9276-5080-0AF119B3BA1C}"/>
              </a:ext>
            </a:extLst>
          </p:cNvPr>
          <p:cNvSpPr txBox="1"/>
          <p:nvPr/>
        </p:nvSpPr>
        <p:spPr>
          <a:xfrm>
            <a:off x="5061101" y="509158"/>
            <a:ext cx="2069797" cy="461665"/>
          </a:xfrm>
          <a:prstGeom prst="rect">
            <a:avLst/>
          </a:prstGeom>
          <a:noFill/>
        </p:spPr>
        <p:txBody>
          <a:bodyPr wrap="none" rtlCol="0">
            <a:spAutoFit/>
          </a:bodyPr>
          <a:lstStyle/>
          <a:p>
            <a:r>
              <a:rPr lang="en-US" sz="2400" b="1" dirty="0">
                <a:solidFill>
                  <a:srgbClr val="FF0000"/>
                </a:solidFill>
                <a:latin typeface="Times New Roman" panose="02020603050405020304" pitchFamily="18" charset="0"/>
                <a:cs typeface="Times New Roman" panose="02020603050405020304" pitchFamily="18" charset="0"/>
              </a:rPr>
              <a:t>DISCUSSION</a:t>
            </a:r>
          </a:p>
        </p:txBody>
      </p:sp>
      <p:sp>
        <p:nvSpPr>
          <p:cNvPr id="22" name="Date Placeholder 6">
            <a:extLst>
              <a:ext uri="{FF2B5EF4-FFF2-40B4-BE49-F238E27FC236}">
                <a16:creationId xmlns:a16="http://schemas.microsoft.com/office/drawing/2014/main" id="{0313AE8F-95B6-D21E-457A-F442652CDDB4}"/>
              </a:ext>
            </a:extLst>
          </p:cNvPr>
          <p:cNvSpPr>
            <a:spLocks noGrp="1"/>
          </p:cNvSpPr>
          <p:nvPr>
            <p:ph type="dt" sz="half" idx="10"/>
          </p:nvPr>
        </p:nvSpPr>
        <p:spPr>
          <a:xfrm>
            <a:off x="838200" y="6356350"/>
            <a:ext cx="2743200" cy="365125"/>
          </a:xfrm>
        </p:spPr>
        <p:txBody>
          <a:bodyPr/>
          <a:lstStyle/>
          <a:p>
            <a:fld id="{6A0D0D0C-6ED7-4DCE-A036-1D21D0B6637E}" type="datetime9">
              <a:rPr lang="en-US" smtClean="0"/>
              <a:t>5/2/2026 12:46:15 AM</a:t>
            </a:fld>
            <a:endParaRPr lang="en-US"/>
          </a:p>
        </p:txBody>
      </p:sp>
      <p:sp>
        <p:nvSpPr>
          <p:cNvPr id="23" name="Footer Placeholder 7">
            <a:extLst>
              <a:ext uri="{FF2B5EF4-FFF2-40B4-BE49-F238E27FC236}">
                <a16:creationId xmlns:a16="http://schemas.microsoft.com/office/drawing/2014/main" id="{B19DC4AD-5F50-B8CE-3F9C-9391CD0407B5}"/>
              </a:ext>
            </a:extLst>
          </p:cNvPr>
          <p:cNvSpPr>
            <a:spLocks noGrp="1"/>
          </p:cNvSpPr>
          <p:nvPr>
            <p:ph type="ftr" sz="quarter" idx="11"/>
          </p:nvPr>
        </p:nvSpPr>
        <p:spPr>
          <a:xfrm>
            <a:off x="4038600" y="6356350"/>
            <a:ext cx="4114800" cy="365125"/>
          </a:xfrm>
        </p:spPr>
        <p:txBody>
          <a:bodyPr/>
          <a:lstStyle/>
          <a:p>
            <a:r>
              <a:rPr lang="en-US"/>
              <a:t>When Labels Are Scarce, Can Graph Structure Outperform Text in Rumor Detection?</a:t>
            </a:r>
          </a:p>
        </p:txBody>
      </p:sp>
      <p:sp>
        <p:nvSpPr>
          <p:cNvPr id="24" name="Slide Number Placeholder 8">
            <a:extLst>
              <a:ext uri="{FF2B5EF4-FFF2-40B4-BE49-F238E27FC236}">
                <a16:creationId xmlns:a16="http://schemas.microsoft.com/office/drawing/2014/main" id="{336F4724-AEC5-48F9-D7D4-FB455F67E6DD}"/>
              </a:ext>
            </a:extLst>
          </p:cNvPr>
          <p:cNvSpPr>
            <a:spLocks noGrp="1"/>
          </p:cNvSpPr>
          <p:nvPr>
            <p:ph type="sldNum" sz="quarter" idx="12"/>
          </p:nvPr>
        </p:nvSpPr>
        <p:spPr>
          <a:xfrm>
            <a:off x="8610600" y="6356350"/>
            <a:ext cx="2743200" cy="365125"/>
          </a:xfrm>
        </p:spPr>
        <p:txBody>
          <a:bodyPr/>
          <a:lstStyle/>
          <a:p>
            <a:fld id="{5DA9DDE7-DF24-421B-8B5A-9F7A222497E2}" type="slidenum">
              <a:rPr lang="en-US" smtClean="0"/>
              <a:t>14</a:t>
            </a:fld>
            <a:endParaRPr lang="en-US"/>
          </a:p>
        </p:txBody>
      </p:sp>
      <p:sp>
        <p:nvSpPr>
          <p:cNvPr id="25" name="TextBox 24">
            <a:extLst>
              <a:ext uri="{FF2B5EF4-FFF2-40B4-BE49-F238E27FC236}">
                <a16:creationId xmlns:a16="http://schemas.microsoft.com/office/drawing/2014/main" id="{15C914C4-D848-1634-0E50-023616325B26}"/>
              </a:ext>
            </a:extLst>
          </p:cNvPr>
          <p:cNvSpPr txBox="1"/>
          <p:nvPr/>
        </p:nvSpPr>
        <p:spPr>
          <a:xfrm>
            <a:off x="759184" y="1423504"/>
            <a:ext cx="10696074" cy="396942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Traditional baseline models</a:t>
            </a:r>
            <a:r>
              <a:rPr lang="en-US" sz="1700" dirty="0">
                <a:latin typeface="Times New Roman" panose="02020603050405020304" pitchFamily="18" charset="0"/>
                <a:cs typeface="Times New Roman" panose="02020603050405020304" pitchFamily="18" charset="0"/>
              </a:rPr>
              <a:t> struggle to capture the complex, long-range temporal dependencies inherent in full-night clinical EEG recordings.</a:t>
            </a:r>
          </a:p>
          <a:p>
            <a:pPr marL="342900" indent="-342900">
              <a:lnSpc>
                <a:spcPct val="150000"/>
              </a:lnSpc>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Artificial data synthesis</a:t>
            </a:r>
            <a:r>
              <a:rPr lang="en-US" sz="1700" dirty="0">
                <a:latin typeface="Times New Roman" panose="02020603050405020304" pitchFamily="18" charset="0"/>
                <a:cs typeface="Times New Roman" panose="02020603050405020304" pitchFamily="18" charset="0"/>
              </a:rPr>
              <a:t> was strictly avoided to prevent time-series data leakage, entirely preserving the authentic integrity of the raw patient data.</a:t>
            </a:r>
          </a:p>
          <a:p>
            <a:pPr marL="342900" indent="-342900">
              <a:lnSpc>
                <a:spcPct val="150000"/>
              </a:lnSpc>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The proposed hybrid architecture</a:t>
            </a:r>
            <a:r>
              <a:rPr lang="en-US" sz="1700" dirty="0">
                <a:latin typeface="Times New Roman" panose="02020603050405020304" pitchFamily="18" charset="0"/>
                <a:cs typeface="Times New Roman" panose="02020603050405020304" pitchFamily="18" charset="0"/>
              </a:rPr>
              <a:t> maximizes performance by seamlessly integrating 102 engineered time-frequency features with automated spatial pattern recognition.</a:t>
            </a:r>
          </a:p>
          <a:p>
            <a:pPr marL="342900" indent="-342900">
              <a:lnSpc>
                <a:spcPct val="150000"/>
              </a:lnSpc>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Dynamic class-weighted loss</a:t>
            </a:r>
            <a:r>
              <a:rPr lang="en-US" sz="1700" dirty="0">
                <a:latin typeface="Times New Roman" panose="02020603050405020304" pitchFamily="18" charset="0"/>
                <a:cs typeface="Times New Roman" panose="02020603050405020304" pitchFamily="18" charset="0"/>
              </a:rPr>
              <a:t> effectively mitigates majority-class bias, ensuring high diagnostic sensitivity for minority disorders without corrupting the evaluation data.</a:t>
            </a:r>
          </a:p>
          <a:p>
            <a:pPr marL="342900" indent="-342900">
              <a:lnSpc>
                <a:spcPct val="150000"/>
              </a:lnSpc>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The combined BiLSTM and Multi-Head Self-Attention mechanisms</a:t>
            </a:r>
            <a:r>
              <a:rPr lang="en-US" sz="1700" dirty="0">
                <a:latin typeface="Times New Roman" panose="02020603050405020304" pitchFamily="18" charset="0"/>
                <a:cs typeface="Times New Roman" panose="02020603050405020304" pitchFamily="18" charset="0"/>
              </a:rPr>
              <a:t> capture long-range physiological transitions significantly better than standalone CNNs.</a:t>
            </a:r>
          </a:p>
        </p:txBody>
      </p:sp>
    </p:spTree>
    <p:extLst>
      <p:ext uri="{BB962C8B-B14F-4D97-AF65-F5344CB8AC3E}">
        <p14:creationId xmlns:p14="http://schemas.microsoft.com/office/powerpoint/2010/main" val="8364865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46E9D-4BA8-CC95-8542-7A69FE02ACD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9DD60DC-D15D-969E-C2EA-637B79B5FD21}"/>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92393D3-EB4B-5585-DE90-D70AB128F6DB}"/>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descr="Anurag University Admission 2024 - 2025, Fees, Courses, Placements, Cutoff,  Ranking">
            <a:extLst>
              <a:ext uri="{FF2B5EF4-FFF2-40B4-BE49-F238E27FC236}">
                <a16:creationId xmlns:a16="http://schemas.microsoft.com/office/drawing/2014/main" id="{F8BBE7B2-7554-15B0-5C27-4E1497165BE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5F2D304-614B-A2D0-1787-DCCE7CC63E0D}"/>
              </a:ext>
            </a:extLst>
          </p:cNvPr>
          <p:cNvSpPr txBox="1"/>
          <p:nvPr/>
        </p:nvSpPr>
        <p:spPr>
          <a:xfrm>
            <a:off x="5133235" y="491074"/>
            <a:ext cx="1925527" cy="400110"/>
          </a:xfrm>
          <a:prstGeom prst="rect">
            <a:avLst/>
          </a:prstGeom>
          <a:noFill/>
        </p:spPr>
        <p:txBody>
          <a:bodyPr wrap="none" rtlCol="0">
            <a:spAutoFit/>
          </a:bodyPr>
          <a:lstStyle/>
          <a:p>
            <a:r>
              <a:rPr lang="en-US" sz="2000" b="1" dirty="0">
                <a:solidFill>
                  <a:srgbClr val="FF0000"/>
                </a:solidFill>
                <a:latin typeface="Times New Roman" panose="02020603050405020304" pitchFamily="18" charset="0"/>
                <a:cs typeface="Times New Roman" panose="02020603050405020304" pitchFamily="18" charset="0"/>
              </a:rPr>
              <a:t>CONCLUSION</a:t>
            </a:r>
          </a:p>
        </p:txBody>
      </p:sp>
      <p:sp>
        <p:nvSpPr>
          <p:cNvPr id="6" name="Date Placeholder 6">
            <a:extLst>
              <a:ext uri="{FF2B5EF4-FFF2-40B4-BE49-F238E27FC236}">
                <a16:creationId xmlns:a16="http://schemas.microsoft.com/office/drawing/2014/main" id="{DB48A111-53EF-3178-3AB3-69CD54A37278}"/>
              </a:ext>
            </a:extLst>
          </p:cNvPr>
          <p:cNvSpPr>
            <a:spLocks noGrp="1"/>
          </p:cNvSpPr>
          <p:nvPr>
            <p:ph type="dt" sz="half" idx="10"/>
          </p:nvPr>
        </p:nvSpPr>
        <p:spPr>
          <a:xfrm>
            <a:off x="838200" y="6356350"/>
            <a:ext cx="2743200" cy="365125"/>
          </a:xfrm>
        </p:spPr>
        <p:txBody>
          <a:bodyPr/>
          <a:lstStyle/>
          <a:p>
            <a:fld id="{6A0D0D0C-6ED7-4DCE-A036-1D21D0B6637E}" type="datetime9">
              <a:rPr lang="en-US" smtClean="0"/>
              <a:t>5/2/2026 12:52:08 AM</a:t>
            </a:fld>
            <a:endParaRPr lang="en-US"/>
          </a:p>
        </p:txBody>
      </p:sp>
      <p:sp>
        <p:nvSpPr>
          <p:cNvPr id="7" name="Footer Placeholder 7">
            <a:extLst>
              <a:ext uri="{FF2B5EF4-FFF2-40B4-BE49-F238E27FC236}">
                <a16:creationId xmlns:a16="http://schemas.microsoft.com/office/drawing/2014/main" id="{4F86C0BD-D97E-3236-89C2-DD604BFE7369}"/>
              </a:ext>
            </a:extLst>
          </p:cNvPr>
          <p:cNvSpPr>
            <a:spLocks noGrp="1"/>
          </p:cNvSpPr>
          <p:nvPr>
            <p:ph type="ftr" sz="quarter" idx="11"/>
          </p:nvPr>
        </p:nvSpPr>
        <p:spPr>
          <a:xfrm>
            <a:off x="4038600" y="6356350"/>
            <a:ext cx="4114800" cy="365125"/>
          </a:xfrm>
        </p:spPr>
        <p:txBody>
          <a:bodyPr/>
          <a:lstStyle/>
          <a:p>
            <a:r>
              <a:rPr lang="en-US"/>
              <a:t>When Labels Are Scarce, Can Graph Structure Outperform Text in Rumor Detection?</a:t>
            </a:r>
          </a:p>
        </p:txBody>
      </p:sp>
      <p:sp>
        <p:nvSpPr>
          <p:cNvPr id="8" name="Slide Number Placeholder 8">
            <a:extLst>
              <a:ext uri="{FF2B5EF4-FFF2-40B4-BE49-F238E27FC236}">
                <a16:creationId xmlns:a16="http://schemas.microsoft.com/office/drawing/2014/main" id="{6435ABDF-2BAB-6E04-FA32-0F90D4963217}"/>
              </a:ext>
            </a:extLst>
          </p:cNvPr>
          <p:cNvSpPr>
            <a:spLocks noGrp="1"/>
          </p:cNvSpPr>
          <p:nvPr>
            <p:ph type="sldNum" sz="quarter" idx="12"/>
          </p:nvPr>
        </p:nvSpPr>
        <p:spPr>
          <a:xfrm>
            <a:off x="8610600" y="6356350"/>
            <a:ext cx="2743200" cy="365125"/>
          </a:xfrm>
        </p:spPr>
        <p:txBody>
          <a:bodyPr/>
          <a:lstStyle/>
          <a:p>
            <a:fld id="{5DA9DDE7-DF24-421B-8B5A-9F7A222497E2}" type="slidenum">
              <a:rPr lang="en-US" smtClean="0"/>
              <a:t>15</a:t>
            </a:fld>
            <a:endParaRPr lang="en-US" dirty="0"/>
          </a:p>
        </p:txBody>
      </p:sp>
      <p:sp>
        <p:nvSpPr>
          <p:cNvPr id="9" name="TextBox 8">
            <a:extLst>
              <a:ext uri="{FF2B5EF4-FFF2-40B4-BE49-F238E27FC236}">
                <a16:creationId xmlns:a16="http://schemas.microsoft.com/office/drawing/2014/main" id="{6AB94F52-E262-0F5E-862F-03FFED3B34C4}"/>
              </a:ext>
            </a:extLst>
          </p:cNvPr>
          <p:cNvSpPr txBox="1"/>
          <p:nvPr/>
        </p:nvSpPr>
        <p:spPr>
          <a:xfrm>
            <a:off x="613610" y="917839"/>
            <a:ext cx="11000873" cy="2862322"/>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Automated sleep disorder detection is challenging due to subtle EEG variations and heavy class imbalance.</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Basic feature-extraction models are insufficient for capturing complex, non-linear brainwave transitions.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proposed CNN + BiLSTM + MHA architecture effectively utilizes both local waveform structures and global sleep patterns.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Integrating a Multi-Head Attention mechanism with dynamic loss weighting significantly improves diagnostic (~91% accuracy, ~91.4% F1-score).</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Eliminating artificial data synthesis ensures highly robust and trustworthy performance on unseen clinical patient files.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framework demonstrates strong confidence in distinguishing sleep disorders, particularly Narcolepsy and Insomnia (F1 ≈ 0.92–0.93) from normal sleep. </a:t>
            </a:r>
          </a:p>
        </p:txBody>
      </p:sp>
      <p:sp>
        <p:nvSpPr>
          <p:cNvPr id="10" name="TextBox 9">
            <a:extLst>
              <a:ext uri="{FF2B5EF4-FFF2-40B4-BE49-F238E27FC236}">
                <a16:creationId xmlns:a16="http://schemas.microsoft.com/office/drawing/2014/main" id="{6FF83E4B-F230-272A-0574-908DC2871BE0}"/>
              </a:ext>
            </a:extLst>
          </p:cNvPr>
          <p:cNvSpPr txBox="1"/>
          <p:nvPr/>
        </p:nvSpPr>
        <p:spPr>
          <a:xfrm>
            <a:off x="613610" y="4174512"/>
            <a:ext cx="10740190" cy="1754326"/>
          </a:xfrm>
          <a:prstGeom prst="rect">
            <a:avLst/>
          </a:prstGeom>
          <a:noFill/>
        </p:spPr>
        <p:txBody>
          <a:bodyPr wrap="square" rtlCol="0">
            <a:spAutoFit/>
          </a:bodyPr>
          <a:lstStyle/>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Incorporate real-time continuous EEG streaming data for live monitoring.</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Integrate advanced multimodal clinical data (adding ECG, EOG, and EMG signals).</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Improve model interpretability by visualizing which specific brainwave epochs triggered the final diagnosis.</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Extend the framework to perform granular sleep stage scoring (N1, N2, N3, REM) alongside disorder detection.</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Optimize and deploy the model as an embedded system for wearable sleep-tracking devices.</a:t>
            </a:r>
          </a:p>
        </p:txBody>
      </p:sp>
      <p:sp>
        <p:nvSpPr>
          <p:cNvPr id="11" name="TextBox 10">
            <a:extLst>
              <a:ext uri="{FF2B5EF4-FFF2-40B4-BE49-F238E27FC236}">
                <a16:creationId xmlns:a16="http://schemas.microsoft.com/office/drawing/2014/main" id="{C43B7398-39AC-5AA0-DA77-2A10955E3E38}"/>
              </a:ext>
            </a:extLst>
          </p:cNvPr>
          <p:cNvSpPr txBox="1"/>
          <p:nvPr/>
        </p:nvSpPr>
        <p:spPr>
          <a:xfrm>
            <a:off x="4468126" y="3759944"/>
            <a:ext cx="3291840" cy="369332"/>
          </a:xfrm>
          <a:prstGeom prst="rect">
            <a:avLst/>
          </a:prstGeom>
          <a:noFill/>
        </p:spPr>
        <p:txBody>
          <a:bodyPr wrap="square" rtlCol="0">
            <a:spAutoFit/>
          </a:bodyPr>
          <a:lstStyle/>
          <a:p>
            <a:pPr algn="ctr"/>
            <a:r>
              <a:rPr lang="en-US" b="1" dirty="0">
                <a:solidFill>
                  <a:srgbClr val="FF0000"/>
                </a:solidFill>
                <a:latin typeface="Times New Roman" panose="02020603050405020304" pitchFamily="18" charset="0"/>
                <a:cs typeface="Times New Roman" panose="02020603050405020304" pitchFamily="18" charset="0"/>
              </a:rPr>
              <a:t>FUTURE WORKS</a:t>
            </a:r>
            <a:endParaRPr lang="en-IN" dirty="0"/>
          </a:p>
        </p:txBody>
      </p:sp>
    </p:spTree>
    <p:extLst>
      <p:ext uri="{BB962C8B-B14F-4D97-AF65-F5344CB8AC3E}">
        <p14:creationId xmlns:p14="http://schemas.microsoft.com/office/powerpoint/2010/main" val="19513288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0CCD1-8B62-C643-D2A8-5878CF0BD1D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04788D3-C1CE-2A1B-4469-7BA81C59C5F3}"/>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85C7F72-17F2-FE35-6291-F75C5B005D6F}"/>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954A4294-4842-D7B6-CD4A-8AEB041ABF9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1B903ECB-7F2D-6BAD-3BE3-4F95C45218AB}"/>
              </a:ext>
            </a:extLst>
          </p:cNvPr>
          <p:cNvSpPr>
            <a:spLocks noGrp="1"/>
          </p:cNvSpPr>
          <p:nvPr>
            <p:ph type="dt" sz="half" idx="10"/>
          </p:nvPr>
        </p:nvSpPr>
        <p:spPr/>
        <p:txBody>
          <a:bodyPr/>
          <a:lstStyle/>
          <a:p>
            <a:fld id="{610FFE77-8CD4-452C-BA32-DD3ED1338C5F}" type="datetime9">
              <a:rPr lang="en-US" smtClean="0"/>
              <a:t>5/2/2026 12:09:59 AM</a:t>
            </a:fld>
            <a:endParaRPr lang="en-US"/>
          </a:p>
        </p:txBody>
      </p:sp>
      <p:sp>
        <p:nvSpPr>
          <p:cNvPr id="3" name="Footer Placeholder 2">
            <a:extLst>
              <a:ext uri="{FF2B5EF4-FFF2-40B4-BE49-F238E27FC236}">
                <a16:creationId xmlns:a16="http://schemas.microsoft.com/office/drawing/2014/main" id="{8F974FD3-830B-14B5-A5B0-4260D8F5D04A}"/>
              </a:ext>
            </a:extLst>
          </p:cNvPr>
          <p:cNvSpPr>
            <a:spLocks noGrp="1"/>
          </p:cNvSpPr>
          <p:nvPr>
            <p:ph type="ftr" sz="quarter" idx="11"/>
          </p:nvPr>
        </p:nvSpPr>
        <p:spPr/>
        <p:txBody>
          <a:bodyPr/>
          <a:lstStyle/>
          <a:p>
            <a:r>
              <a:rPr lang="en-US"/>
              <a:t>Deep Learning-Based Sleep Disorder Detection Using EEG Signal Analysis</a:t>
            </a:r>
          </a:p>
        </p:txBody>
      </p:sp>
      <p:sp>
        <p:nvSpPr>
          <p:cNvPr id="6" name="Slide Number Placeholder 5">
            <a:extLst>
              <a:ext uri="{FF2B5EF4-FFF2-40B4-BE49-F238E27FC236}">
                <a16:creationId xmlns:a16="http://schemas.microsoft.com/office/drawing/2014/main" id="{666470D0-0F09-517A-9B44-8DCF9FD386D3}"/>
              </a:ext>
            </a:extLst>
          </p:cNvPr>
          <p:cNvSpPr>
            <a:spLocks noGrp="1"/>
          </p:cNvSpPr>
          <p:nvPr>
            <p:ph type="sldNum" sz="quarter" idx="12"/>
          </p:nvPr>
        </p:nvSpPr>
        <p:spPr/>
        <p:txBody>
          <a:bodyPr/>
          <a:lstStyle/>
          <a:p>
            <a:fld id="{5DA9DDE7-DF24-421B-8B5A-9F7A222497E2}" type="slidenum">
              <a:rPr lang="en-US" smtClean="0"/>
              <a:t>16</a:t>
            </a:fld>
            <a:endParaRPr lang="en-US"/>
          </a:p>
        </p:txBody>
      </p:sp>
      <p:sp>
        <p:nvSpPr>
          <p:cNvPr id="11" name="TextBox 10">
            <a:extLst>
              <a:ext uri="{FF2B5EF4-FFF2-40B4-BE49-F238E27FC236}">
                <a16:creationId xmlns:a16="http://schemas.microsoft.com/office/drawing/2014/main" id="{03F14EFA-52DD-4642-D09C-9AD6D8F49C17}"/>
              </a:ext>
            </a:extLst>
          </p:cNvPr>
          <p:cNvSpPr txBox="1"/>
          <p:nvPr/>
        </p:nvSpPr>
        <p:spPr>
          <a:xfrm>
            <a:off x="1081547" y="1364744"/>
            <a:ext cx="10469981" cy="4197559"/>
          </a:xfrm>
          <a:prstGeom prst="rect">
            <a:avLst/>
          </a:prstGeom>
          <a:noFill/>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[1] M. Albathan, “Sleep disorder diagnosis through complex-Morlet wavelet representation using Bi-GRU and self-attention,” International Journal of Advanced Computer Science and Applications (IJACSA), vol. 15, no. 8, pp. 129–142, Aug. 2024.</a:t>
            </a:r>
          </a:p>
          <a:p>
            <a:pPr algn="just">
              <a:lnSpc>
                <a:spcPct val="150000"/>
              </a:lnSpc>
            </a:pP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[2] A. Phan, S. M. Andreotti, N. Cooray, O. Y. Chen, and M. De Vos, “Automatic sleep disorder detection using EEG signals and deep learning,” IEEE Journal of Biomedical and Health Informatics, vol. 26, no. 4, pp. 1684–1694, Apr. 2022, doi: 10.1109/JBHI.2021.3117493.</a:t>
            </a:r>
          </a:p>
          <a:p>
            <a:pPr algn="just">
              <a:lnSpc>
                <a:spcPct val="150000"/>
              </a:lnSpc>
            </a:pP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[3] M. H. Hassan and A. Subasi, “Recognition of sleep disorders from EEG signals using deep learning techniques,” Expert Systems with Applications,vol.162, p. 113738, Jan. 2021, doi: 10.1016/j.eswa.2020.113738.</a:t>
            </a:r>
          </a:p>
        </p:txBody>
      </p:sp>
      <p:sp>
        <p:nvSpPr>
          <p:cNvPr id="8" name="TextBox 7">
            <a:extLst>
              <a:ext uri="{FF2B5EF4-FFF2-40B4-BE49-F238E27FC236}">
                <a16:creationId xmlns:a16="http://schemas.microsoft.com/office/drawing/2014/main" id="{AA7D3338-6EE1-0FB9-5561-F7C5A7ED2B05}"/>
              </a:ext>
            </a:extLst>
          </p:cNvPr>
          <p:cNvSpPr txBox="1"/>
          <p:nvPr/>
        </p:nvSpPr>
        <p:spPr>
          <a:xfrm>
            <a:off x="-375982" y="424469"/>
            <a:ext cx="11927510" cy="461665"/>
          </a:xfrm>
          <a:prstGeom prst="rect">
            <a:avLst/>
          </a:prstGeom>
          <a:noFill/>
        </p:spPr>
        <p:txBody>
          <a:bodyPr wrap="square" rtlCol="0">
            <a:spAutoFit/>
          </a:bodyPr>
          <a:lstStyle/>
          <a:p>
            <a:pPr algn="ctr"/>
            <a:r>
              <a:rPr lang="en-IN" sz="2400" dirty="0">
                <a:solidFill>
                  <a:srgbClr val="FF0000"/>
                </a:solidFill>
                <a:latin typeface="Times New Roman" panose="02020603050405020304" pitchFamily="18" charset="0"/>
                <a:cs typeface="Times New Roman" panose="02020603050405020304" pitchFamily="18" charset="0"/>
              </a:rPr>
              <a:t>                 </a:t>
            </a:r>
            <a:r>
              <a:rPr lang="en-IN" sz="2400" b="1" dirty="0">
                <a:solidFill>
                  <a:srgbClr val="FF0000"/>
                </a:solidFill>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34670153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1208</TotalTime>
  <Words>2216</Words>
  <Application>Microsoft Office PowerPoint</Application>
  <PresentationFormat>Widescreen</PresentationFormat>
  <Paragraphs>303</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Arjun Sanapala</dc:creator>
  <cp:lastModifiedBy>Arjun Kalinga</cp:lastModifiedBy>
  <cp:revision>20</cp:revision>
  <cp:lastPrinted>2026-05-01T19:33:41Z</cp:lastPrinted>
  <dcterms:created xsi:type="dcterms:W3CDTF">2025-08-28T08:39:55Z</dcterms:created>
  <dcterms:modified xsi:type="dcterms:W3CDTF">2026-05-01T19:36:26Z</dcterms:modified>
</cp:coreProperties>
</file>